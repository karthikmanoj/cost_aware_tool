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34"/>
    <p:restoredTop sz="84758"/>
  </p:normalViewPr>
  <p:slideViewPr>
    <p:cSldViewPr snapToGrid="0" snapToObjects="1">
      <p:cViewPr varScale="1">
        <p:scale>
          <a:sx n="187" d="100"/>
          <a:sy n="187" d="100"/>
        </p:scale>
        <p:origin x="24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lgn="l">
              <a:defRPr sz="1200" b="0" i="0" u="none" strike="noStrike">
                <a:solidFill>
                  <a:srgbClr val="16261E"/>
                </a:solidFill>
                <a:latin typeface="Calibri"/>
              </a:defRPr>
            </a:pPr>
            <a:r>
              <a:rPr lang="en-GB" sz="1200" b="0" i="0" u="none" strike="noStrike">
                <a:solidFill>
                  <a:srgbClr val="16261E"/>
                </a:solidFill>
                <a:latin typeface="Calibri"/>
              </a:rPr>
              <a:t>Leave-one-scenario-out, medium SLA (21 scenarios)</a:t>
            </a:r>
          </a:p>
        </c:rich>
      </c:tx>
      <c:overlay val="0"/>
    </c:title>
    <c:autoTitleDeleted val="0"/>
    <c:plotArea>
      <c:layout/>
      <c:barChart>
        <c:barDir val="col"/>
        <c:grouping val="clustered"/>
        <c:varyColors val="0"/>
        <c:ser>
          <c:idx val="0"/>
          <c:order val="0"/>
          <c:tx>
            <c:strRef>
              <c:f>Sheet1!$B$1</c:f>
              <c:strCache>
                <c:ptCount val="1"/>
                <c:pt idx="0">
                  <c:v>Top-1 accuracy</c:v>
                </c:pt>
              </c:strCache>
            </c:strRef>
          </c:tx>
          <c:spPr>
            <a:solidFill>
              <a:srgbClr val="3E6B55"/>
            </a:solidFill>
            <a:effectLst/>
          </c:spPr>
          <c:invertIfNegative val="0"/>
          <c:dLbls>
            <c:numFmt formatCode="0.000" sourceLinked="0"/>
            <c:spPr>
              <a:noFill/>
              <a:ln>
                <a:noFill/>
              </a:ln>
              <a:effectLst/>
            </c:spPr>
            <c:txPr>
              <a:bodyPr/>
              <a:lstStyle/>
              <a:p>
                <a:pPr>
                  <a:defRPr sz="950" b="0" i="0" u="none" strike="noStrike">
                    <a:solidFill>
                      <a:srgbClr val="5F6B64"/>
                    </a:solidFill>
                    <a:latin typeface="Arial"/>
                  </a:defRPr>
                </a:pPr>
                <a:endParaRPr lang="en-LK"/>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Random Forest</c:v>
                </c:pt>
                <c:pt idx="1">
                  <c:v>Nearest size</c:v>
                </c:pt>
                <c:pt idx="2">
                  <c:v>Historical mean</c:v>
                </c:pt>
                <c:pt idx="3">
                  <c:v>Largest cluster</c:v>
                </c:pt>
                <c:pt idx="4">
                  <c:v>Random</c:v>
                </c:pt>
              </c:strCache>
            </c:strRef>
          </c:cat>
          <c:val>
            <c:numRef>
              <c:f>Sheet1!$B$2:$B$6</c:f>
              <c:numCache>
                <c:formatCode>General</c:formatCode>
                <c:ptCount val="5"/>
                <c:pt idx="0">
                  <c:v>0.90500000000000003</c:v>
                </c:pt>
                <c:pt idx="1">
                  <c:v>0.81</c:v>
                </c:pt>
                <c:pt idx="2">
                  <c:v>0.42899999999999999</c:v>
                </c:pt>
                <c:pt idx="3">
                  <c:v>0.28599999999999998</c:v>
                </c:pt>
                <c:pt idx="4">
                  <c:v>0</c:v>
                </c:pt>
              </c:numCache>
            </c:numRef>
          </c:val>
          <c:extLst>
            <c:ext xmlns:c16="http://schemas.microsoft.com/office/drawing/2014/chart" uri="{C3380CC4-5D6E-409C-BE32-E72D297353CC}">
              <c16:uniqueId val="{00000000-74A1-9742-84A0-FABA29F75AA8}"/>
            </c:ext>
          </c:extLst>
        </c:ser>
        <c:ser>
          <c:idx val="1"/>
          <c:order val="1"/>
          <c:tx>
            <c:strRef>
              <c:f>Sheet1!$C$1</c:f>
              <c:strCache>
                <c:ptCount val="1"/>
                <c:pt idx="0">
                  <c:v>SLA violation rate</c:v>
                </c:pt>
              </c:strCache>
            </c:strRef>
          </c:tx>
          <c:spPr>
            <a:solidFill>
              <a:srgbClr val="9DC48A"/>
            </a:solidFill>
            <a:effectLst/>
          </c:spPr>
          <c:invertIfNegative val="0"/>
          <c:dLbls>
            <c:numFmt formatCode="0.000" sourceLinked="0"/>
            <c:spPr>
              <a:noFill/>
              <a:ln>
                <a:noFill/>
              </a:ln>
              <a:effectLst/>
            </c:spPr>
            <c:txPr>
              <a:bodyPr/>
              <a:lstStyle/>
              <a:p>
                <a:pPr>
                  <a:defRPr sz="950" b="0" i="0" u="none" strike="noStrike">
                    <a:solidFill>
                      <a:srgbClr val="5F6B64"/>
                    </a:solidFill>
                    <a:latin typeface="Arial"/>
                  </a:defRPr>
                </a:pPr>
                <a:endParaRPr lang="en-LK"/>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Random Forest</c:v>
                </c:pt>
                <c:pt idx="1">
                  <c:v>Nearest size</c:v>
                </c:pt>
                <c:pt idx="2">
                  <c:v>Historical mean</c:v>
                </c:pt>
                <c:pt idx="3">
                  <c:v>Largest cluster</c:v>
                </c:pt>
                <c:pt idx="4">
                  <c:v>Random</c:v>
                </c:pt>
              </c:strCache>
            </c:strRef>
          </c:cat>
          <c:val>
            <c:numRef>
              <c:f>Sheet1!$C$2:$C$6</c:f>
              <c:numCache>
                <c:formatCode>General</c:formatCode>
                <c:ptCount val="5"/>
                <c:pt idx="0">
                  <c:v>9.5000000000000001E-2</c:v>
                </c:pt>
                <c:pt idx="1">
                  <c:v>0.14299999999999999</c:v>
                </c:pt>
                <c:pt idx="2">
                  <c:v>0.23799999999999999</c:v>
                </c:pt>
                <c:pt idx="3">
                  <c:v>9.5000000000000001E-2</c:v>
                </c:pt>
                <c:pt idx="4">
                  <c:v>9.5000000000000001E-2</c:v>
                </c:pt>
              </c:numCache>
            </c:numRef>
          </c:val>
          <c:extLst>
            <c:ext xmlns:c16="http://schemas.microsoft.com/office/drawing/2014/chart" uri="{C3380CC4-5D6E-409C-BE32-E72D297353CC}">
              <c16:uniqueId val="{00000001-74A1-9742-84A0-FABA29F75AA8}"/>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B64"/>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E4EAE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96A29B"/>
                </a:solidFill>
                <a:latin typeface="Arial"/>
              </a:defRPr>
            </a:pPr>
            <a:endParaRPr lang="en-US"/>
          </a:p>
        </c:txPr>
        <c:crossAx val="2094734554"/>
        <c:crosses val="autoZero"/>
        <c:crossBetween val="between"/>
        <c:majorUnit val="0.2"/>
      </c:valAx>
      <c:spPr>
        <a:noFill/>
        <a:ln>
          <a:noFill/>
        </a:ln>
        <a:effectLst/>
      </c:spPr>
    </c:plotArea>
    <c:legend>
      <c:legendPos val="t"/>
      <c:overlay val="0"/>
      <c:txPr>
        <a:bodyPr/>
        <a:lstStyle/>
        <a:p>
          <a:pPr>
            <a:defRPr sz="1000">
              <a:solidFill>
                <a:srgbClr val="5F6B64"/>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1742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sz="1400" dirty="0"/>
              <a:t>So my project is titled </a:t>
            </a:r>
            <a:r>
              <a:rPr lang="en-LK" sz="1400" b="0" dirty="0"/>
              <a:t>Cost-Aware and Carbon-Aware Infrastructure Optimization for Multi-Cloud Big Data Processing Pipelines.</a:t>
            </a:r>
          </a:p>
          <a:p>
            <a:endParaRPr lang="en-LK" sz="1400" b="0" dirty="0"/>
          </a:p>
          <a:p>
            <a:r>
              <a:rPr lang="en-LK" sz="1400" dirty="0"/>
              <a:t>Basically, the problem I looked at is this: when someone wants to run an Apache Spark workload in the cloud, they have to choose the infrastructure before they know how that infrastructure will perform.</a:t>
            </a:r>
          </a:p>
          <a:p>
            <a:r>
              <a:rPr lang="en-LK" sz="1400" dirty="0"/>
              <a:t>So they need to choose things like the cloud provider, the region, the machine type, and the number of nodes. But the runtime, the cost, and even the carbon impact are only known after the job actually runs.</a:t>
            </a:r>
          </a:p>
          <a:p>
            <a:r>
              <a:rPr lang="en-LK" sz="1400" dirty="0"/>
              <a:t>So what I built is a machine-learning-based framework that predicts the runtime and cost of Spark workloads across AWS and Azure. Then, based on those predictions, it recommends suitable cloud configurations by considering cost, runtime, SLA, and carbon emissions.</a:t>
            </a:r>
          </a:p>
          <a:p>
            <a:r>
              <a:rPr lang="en-LK" sz="1400" dirty="0"/>
              <a:t>One important point is that this project is based on </a:t>
            </a:r>
            <a:r>
              <a:rPr lang="en-LK" sz="1400" b="1" dirty="0"/>
              <a:t>1,811 real measured cloud executions</a:t>
            </a:r>
            <a:r>
              <a:rPr lang="en-LK" sz="1400" dirty="0"/>
              <a:t>, not only simulation. These runs cover two cloud providers, four regions, twelve machine types, and twenty-one workload and dataset-size scenarios.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dirty="0"/>
              <a:t>So the main problem is infrastructure selection before execution.</a:t>
            </a:r>
          </a:p>
          <a:p>
            <a:r>
              <a:rPr lang="en-LK" dirty="0"/>
              <a:t>Before a Spark job runs, an engineer has to decide the provider, region, instance type, and number of nodes. But actually, the values they care about most, like cost, runtime, and emissions, are not known at that point.</a:t>
            </a:r>
          </a:p>
          <a:p>
            <a:r>
              <a:rPr lang="en-LK" dirty="0"/>
              <a:t>So there is a problem whic</a:t>
            </a:r>
            <a:r>
              <a:rPr lang="en-GB" dirty="0"/>
              <a:t>h</a:t>
            </a:r>
            <a:r>
              <a:rPr lang="en-LK" dirty="0"/>
              <a:t> needs ton be indetified. To choose the best infrastructure, we need to know the runtime and cost. But to know the runtime and cost, we usually need to run the job first.</a:t>
            </a:r>
          </a:p>
          <a:p>
            <a:r>
              <a:rPr lang="en-LK" dirty="0"/>
              <a:t>Cloud pricing calculators help to some extent, but they normally require the user to already know the machine type and expected duration. Similarly, many optimisation tools need many runs before they can recommend a configuration.</a:t>
            </a:r>
          </a:p>
          <a:p>
            <a:r>
              <a:rPr lang="en-LK" dirty="0"/>
              <a:t>So in practice, the decision can become based on guesswork, previous experience, or over-provisioning. And carbon is often not considered properly in that decision.</a:t>
            </a:r>
          </a:p>
          <a:p>
            <a:r>
              <a:rPr lang="en-LK" dirty="0"/>
              <a:t>To support the this, I also used a  questionnaire. In that questionnaire, cost was selected by 76.1% of respondents, runtime and performance by 71.7%, and carbon or sustainability by 67.4%. Also, 84.8% said they deploy or work across more than one cloud.</a:t>
            </a:r>
          </a:p>
          <a:p>
            <a:r>
              <a:rPr lang="en-LK" dirty="0"/>
              <a:t>So I used this survey mainly to motivate the decision factors. The main evidence of the project still comes from the 1,811 measured Spark runs. But the survey helped show that the factors I included are actually relevant to practitioners.</a:t>
            </a:r>
          </a:p>
          <a:p>
            <a:r>
              <a:rPr lang="en-LK" dirty="0"/>
              <a:t>The slide also includes industry examples, like recent concern around data-centre emissions and Microsoft Research discussing trade-offs between performance and carbon. So this shows that the problem is not only theoretical; it is also a real cloud sustainability and decision-making problem.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dirty="0"/>
              <a:t>So this slide shows where my project fits compared to existing work.</a:t>
            </a:r>
          </a:p>
          <a:p>
            <a:r>
              <a:rPr lang="en-LK" dirty="0"/>
              <a:t>Previous work already solves parts of this problem. For example, CherryPick uses Bayesian optimisation to reduce the number of cloud profiling runs. Ernest uses small sample runs to build a performance model. PARIS uses resource fingerprints to predict performance on virtual machines. Carbon-aware schedulers try to move workloads towards cleaner grids.</a:t>
            </a:r>
          </a:p>
          <a:p>
            <a:r>
              <a:rPr lang="en-LK" dirty="0"/>
              <a:t>But the issue is that most of these approaches focus on only one part of the decision. Some focus mainly on cost, some on runtime, and some on carbon. Very few combine runtime, cost, SLA, and carbon together in a multi-cloud Spark recommendation framework.</a:t>
            </a:r>
          </a:p>
          <a:p>
            <a:r>
              <a:rPr lang="en-LK" dirty="0"/>
              <a:t>So the gap I identified is that there is limited work that uses measured multi-cloud Spark data to recommend infrastructure before execution while considering all these factors together.</a:t>
            </a:r>
          </a:p>
          <a:p>
            <a:r>
              <a:rPr lang="en-LK" dirty="0"/>
              <a:t>So my project tries to fill that gap by combining prediction and recommendation. The model predicts runtime and cost, and the recommendation engine uses those predictions with SLA and carbon accounting to rank configurations.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dirty="0"/>
              <a:t>So the aim of my project was to design, develop, and evaluate a machine-learning-based framework for recommending Spark deployment configurations across AWS and Azure.</a:t>
            </a:r>
          </a:p>
          <a:p>
            <a:r>
              <a:rPr lang="en-LK" dirty="0"/>
              <a:t>The project mainly asks three research questions.</a:t>
            </a:r>
          </a:p>
          <a:p>
            <a:r>
              <a:rPr lang="en-LK" dirty="0"/>
              <a:t>First, can runtime and cost be predicted accurately enough from workload and infrastructure characteristics?</a:t>
            </a:r>
          </a:p>
          <a:p>
            <a:r>
              <a:rPr lang="en-LK" dirty="0"/>
              <a:t>Second, can the model-driven recommender perform better than simple heuristic methods when an SLA deadline is applied?</a:t>
            </a:r>
          </a:p>
          <a:p>
            <a:r>
              <a:rPr lang="en-LK" dirty="0"/>
              <a:t>Third, does calculating emissions per run change the decision compared with just ranking regions by grid carbon intensity?</a:t>
            </a:r>
          </a:p>
          <a:p>
            <a:r>
              <a:rPr lang="en-LK" dirty="0"/>
              <a:t>In terms of contribution, there are three main ones.</a:t>
            </a:r>
          </a:p>
          <a:p>
            <a:r>
              <a:rPr lang="en-LK" dirty="0"/>
              <a:t>First, I created a measured datadets of 1,811 Spark executions across two cloud providers, four regions, twelve machine types, and multiple workload sizes.</a:t>
            </a:r>
          </a:p>
          <a:p>
            <a:r>
              <a:rPr lang="en-LK" dirty="0"/>
              <a:t>Second, I used a leakage-controlled validation method. This is important because many configurations were repeated, so I used grouped splitting to make sure repeated runs of the same configuration did not appear in both training and testing.</a:t>
            </a:r>
          </a:p>
          <a:p>
            <a:r>
              <a:rPr lang="en-LK" dirty="0"/>
              <a:t>Third, I found that carbon intensity alone can be misleading. When emissions are calculated per run using runtime, power, node count, carbon intensity, and Power Usage Effectiveness, the decision can be different from simply choosing the lowest-carbon grid region.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dirty="0"/>
              <a:t>So this is the overall framework I built.</a:t>
            </a:r>
          </a:p>
          <a:p>
            <a:r>
              <a:rPr lang="en-LK" dirty="0"/>
              <a:t>It has five main layers.</a:t>
            </a:r>
          </a:p>
          <a:p>
            <a:r>
              <a:rPr lang="en-LK" dirty="0"/>
              <a:t>The first layer is cloud benchmarking. Here I ran three Spark workloads across different machine types, regions, and node counts.</a:t>
            </a:r>
          </a:p>
          <a:p>
            <a:r>
              <a:rPr lang="en-LK" dirty="0"/>
              <a:t>The second layer is dataset integration. In this part, I standardised the AWS and Azure results and merged them with pricing data, carbon intensity data, and renewable-energy data.</a:t>
            </a:r>
          </a:p>
          <a:p>
            <a:r>
              <a:rPr lang="en-LK" dirty="0"/>
              <a:t>The third layer is machine learning. I trained four regression models to predict runtime and cost, then selected the best model based on grouped cross-validation.</a:t>
            </a:r>
          </a:p>
          <a:p>
            <a:r>
              <a:rPr lang="en-LK" dirty="0"/>
              <a:t>The fourth layer is the recommendation engine. This is where the system generates candidate configurations, predicts their runtime and cost, calculates emissions, applies the SLA constraint, and ranks them based on the user’s optimisation goal.</a:t>
            </a:r>
          </a:p>
          <a:p>
            <a:r>
              <a:rPr lang="en-LK" dirty="0"/>
              <a:t>The fifth layer is the user interaction layer. I implemented this through a Streamlit dashboard where the user can enter dataset size, workload type, SLA, optimisation goal, and number of recommendations.</a:t>
            </a:r>
          </a:p>
          <a:p>
            <a:r>
              <a:rPr lang="en-LK" dirty="0"/>
              <a:t>The important point is that once the model is trained, the user does not need to run a new benchmark for every decision. The system can score candidate configurations using the trained model.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dirty="0"/>
              <a:t>So this slide explains how I built the actual benchmark dataset.</a:t>
            </a:r>
          </a:p>
          <a:p>
            <a:r>
              <a:rPr lang="en-LK" dirty="0"/>
              <a:t>I created three different Spark workloads.</a:t>
            </a:r>
          </a:p>
          <a:p>
            <a:r>
              <a:rPr lang="en-LK" dirty="0"/>
              <a:t>The first one is CPU-heavy. This workload performs repeated mathematical transformations, such as square root and logarithmic calculations, and then performs aggregation. So this is mainly designed to stress CPU computation.</a:t>
            </a:r>
          </a:p>
          <a:p>
            <a:r>
              <a:rPr lang="en-LK" dirty="0"/>
              <a:t>The second one is memory-heavy. This workload uses cached intermediate DataFrames and joins. So Spark has to keep data in memory and reuse it, which makes memory behaviour important.</a:t>
            </a:r>
          </a:p>
          <a:p>
            <a:r>
              <a:rPr lang="en-LK" dirty="0"/>
              <a:t>The third one is I/O-heavy. This workload repartitions the data, writes it as Parquet, reads it back again, and writes a summary. So this workload stresses read and write operations.</a:t>
            </a:r>
          </a:p>
          <a:p>
            <a:r>
              <a:rPr lang="en-LK" dirty="0"/>
              <a:t>I ran these workloads across AWS EMR and Azure self-managed Spark clusters. The regions were AWS Mumbai, AWS Singapore, Azure Central India, and Azure Southeast Asia.</a:t>
            </a:r>
          </a:p>
          <a:p>
            <a:r>
              <a:rPr lang="en-LK" dirty="0"/>
              <a:t>The matrix also included twelve machine types and two node counts: two nodes and four nodes.</a:t>
            </a:r>
          </a:p>
          <a:p>
            <a:r>
              <a:rPr lang="en-LK" dirty="0"/>
              <a:t>Another important point is repeatability. 439 configurations were run more than once. The median coefficient of variation was 4.15%, which shows that many repeated runs were reasonably stable, but there was still cloud runtime variability.</a:t>
            </a:r>
          </a:p>
          <a:p>
            <a:r>
              <a:rPr lang="en-LK" dirty="0"/>
              <a:t>This is why grouped validation was important. If I used a normal random split, repeated runs of the same configuration could appear in both training and testing, which would make the model look more accurate than it really is.</a:t>
            </a:r>
          </a:p>
          <a:p>
            <a:r>
              <a:rPr lang="en-LK" dirty="0"/>
              <a:t>AWS used EMR, while Azure used self-managed Spark VMs.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dirty="0"/>
              <a:t>So after collecting runtime results, I needed to convert them into cost and carbon values.</a:t>
            </a:r>
          </a:p>
          <a:p>
            <a:r>
              <a:rPr lang="en-LK" dirty="0"/>
              <a:t>For cost, I used the hourly price of the machine, the number of nodes, and the measured runtime.</a:t>
            </a:r>
          </a:p>
          <a:p>
            <a:r>
              <a:rPr lang="en-LK" dirty="0"/>
              <a:t>So the basic formula is:</a:t>
            </a:r>
          </a:p>
          <a:p>
            <a:r>
              <a:rPr lang="en-LK" dirty="0"/>
              <a:t>cost equals hourly price multiplied by number of nodes multiplied by runtime in hours.</a:t>
            </a:r>
          </a:p>
          <a:p>
            <a:r>
              <a:rPr lang="en-LK" dirty="0"/>
              <a:t>This gives a per-execution compute cost. It is useful for comparing configurations consistently, but it is not the same as a full cloud bill. For example, it does not fully include every possible storage, network, or account-level charge.</a:t>
            </a:r>
          </a:p>
          <a:p>
            <a:r>
              <a:rPr lang="en-LK" dirty="0"/>
              <a:t>For carbon, I calculated emissions using power draw, node count, runtime, carbon intensity, and PUE.</a:t>
            </a:r>
          </a:p>
          <a:p>
            <a:r>
              <a:rPr lang="en-LK" dirty="0"/>
              <a:t>So basically, I first estimate the energy used by the cluster during the run. Then I multiply that by the regional carbon intensity and the provider PUE.</a:t>
            </a:r>
          </a:p>
          <a:p>
            <a:r>
              <a:rPr lang="en-LK" dirty="0"/>
              <a:t>Carbon intensity and renewable percentage came from Electricity Maps. India regions were mapped to IN-WE, and Southeast Asia regions were mapped to SG.</a:t>
            </a:r>
          </a:p>
          <a:p>
            <a:r>
              <a:rPr lang="en-LK" dirty="0"/>
              <a:t>The important thing is that carbon is not treated only as a regional label. I calculate emissions per run. So the same region can still produce different emissions depending on runtime, node count, and machine power draw.</a:t>
            </a:r>
          </a:p>
          <a:p>
            <a:r>
              <a:rPr lang="en-LK" dirty="0"/>
              <a:t>A limitation is that these emissions are modelled estimates. I did not directly measure physical power consumption from the cloud machines.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dirty="0"/>
              <a:t>So this slide shows the machine learning pipeline.</a:t>
            </a:r>
          </a:p>
          <a:p>
            <a:r>
              <a:rPr lang="en-LK" dirty="0"/>
              <a:t>The model uses nine input features. These include cloud provider, region, electricity zone, workload type, machine type, dataset size, number of nodes, carbon intensity, and renewable percentage.</a:t>
            </a:r>
          </a:p>
          <a:p>
            <a:r>
              <a:rPr lang="en-LK" dirty="0"/>
              <a:t>The targets are runtime in minutes and cost in USD. Since I predict two outputs at the same time, I used multi-output regression.</a:t>
            </a:r>
          </a:p>
          <a:p>
            <a:r>
              <a:rPr lang="en-LK" dirty="0"/>
              <a:t>For preprocessing, categorical features were one-hot encoded, and numerical features were standard-scaled. I used the same preprocessing pipeline for all models so that the comparison was consistent.</a:t>
            </a:r>
          </a:p>
          <a:p>
            <a:r>
              <a:rPr lang="en-LK" dirty="0"/>
              <a:t>The most important part here is grouped splitting.</a:t>
            </a:r>
          </a:p>
          <a:p>
            <a:r>
              <a:rPr lang="en-LK" dirty="0"/>
              <a:t>Because 439 configurations were repeated, I had to make sure that repeated runs of the same configuration did not appear in both training and testing. So I grouped by cloud, region, dataset size, workload type, machine type, and nodes.</a:t>
            </a:r>
          </a:p>
          <a:p>
            <a:r>
              <a:rPr lang="en-LK" dirty="0"/>
              <a:t>This prevents data leakage. Without grouping, the model could train on one run of a configuration and test on another run of the same configuration. That would not be a real test of generalisation.</a:t>
            </a:r>
          </a:p>
          <a:p>
            <a:r>
              <a:rPr lang="en-LK" dirty="0"/>
              <a:t>So the R2 result is more reliable because the model is being tested on configurations it has not already seen as repeated runs.</a:t>
            </a:r>
          </a:p>
          <a:p>
            <a:r>
              <a:rPr lang="en-LK" dirty="0"/>
              <a:t>One limitation is that carbon intensity and renewable percentage are almost constant per region, so they do not add much independent predictive value to the ML model. They are more important in the recommendation and carbon calculation stage.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dirty="0"/>
              <a:t>So after training the model, I used it inside the recommendation engine.</a:t>
            </a:r>
          </a:p>
          <a:p>
            <a:r>
              <a:rPr lang="en-LK" dirty="0"/>
              <a:t>The user gives the dataset size, workload type, SLA deadline, optimisation goal, and number of results.</a:t>
            </a:r>
          </a:p>
          <a:p>
            <a:r>
              <a:rPr lang="en-LK" dirty="0"/>
              <a:t>The engine first builds candidate configurations from the configurations available in the dataset for that workload type.</a:t>
            </a:r>
          </a:p>
          <a:p>
            <a:r>
              <a:rPr lang="en-LK" dirty="0"/>
              <a:t>Then it predicts runtime and cost for every candidate.</a:t>
            </a:r>
          </a:p>
          <a:p>
            <a:r>
              <a:rPr lang="en-LK" dirty="0"/>
              <a:t>After that, it calculates predicted emissions using the predicted runtime, machine power draw, node count, carbon intensity, and PUE.</a:t>
            </a:r>
          </a:p>
          <a:p>
            <a:r>
              <a:rPr lang="en-LK" dirty="0"/>
              <a:t>Then the SLA filter is applied. If the predicted runtime is higher than the SLA deadline, that candidate is removed. If no configuration meets the SLA, the engine still returns the closest alternatives and clearly states that no option satisfied the SLA.</a:t>
            </a:r>
          </a:p>
          <a:p>
            <a:r>
              <a:rPr lang="en-LK" dirty="0"/>
              <a:t>Finally, the remaining configurations are scored and ranked.</a:t>
            </a:r>
          </a:p>
          <a:p>
            <a:r>
              <a:rPr lang="en-LK" dirty="0"/>
              <a:t>The system supports four goals: cost, runtime, carbon, and balanced.</a:t>
            </a:r>
          </a:p>
          <a:p>
            <a:r>
              <a:rPr lang="en-LK" dirty="0"/>
              <a:t>For balanced optimisation, I combine runtime, cost, emissions, and renewable penalty using weighted scoring. Runtime and cost each get 0.35, emissions get 0.20, and renewable penalty gets 0.10.</a:t>
            </a:r>
          </a:p>
          <a:p>
            <a:r>
              <a:rPr lang="en-LK" dirty="0"/>
              <a:t>These weights are based on judgement and the motivation survey ordering, but I did not run a full sensitivity analysis. So if I had more time, I would test how much the recommendations change when the weights change.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dirty="0"/>
              <a:t>So this slide shows whether the ML model could actually predict runtime and cost.</a:t>
            </a:r>
          </a:p>
          <a:p>
            <a:r>
              <a:rPr lang="en-LK" dirty="0"/>
              <a:t>I compared four models: Linear Regression, Decision Tree, Random Forest, and Gradient Boosting.</a:t>
            </a:r>
          </a:p>
          <a:p>
            <a:r>
              <a:rPr lang="en-LK" dirty="0"/>
              <a:t>Linear Regression was used as a simple baseline. Decision Tree was used because it can capture non-linear patterns. Random Forest and Gradient Boosting were used because ensemble models usually perform well on structured tabular data.</a:t>
            </a:r>
          </a:p>
          <a:p>
            <a:r>
              <a:rPr lang="en-LK" dirty="0"/>
              <a:t>On the single held-out group split, Gradient Boosting was slightly better. But under grouped five-fold cross-validation, Random Forest performed best across the main metrics.</a:t>
            </a:r>
          </a:p>
          <a:p>
            <a:r>
              <a:rPr lang="en-LK" dirty="0"/>
              <a:t>Random Forest achieved around 0.889 R2 for runtime and 0.890 R2 for cost under grouped cross-validation. Its runtime MAE was about 0.270 minutes, which is around 16 seconds.</a:t>
            </a:r>
          </a:p>
          <a:p>
            <a:r>
              <a:rPr lang="en-LK" dirty="0"/>
              <a:t>So on average, the runtime prediction error was around 16 seconds.</a:t>
            </a:r>
          </a:p>
          <a:p>
            <a:r>
              <a:rPr lang="en-LK" dirty="0"/>
              <a:t>I selected Random Forest because it was more consistent under grouped cross-validation. But I do not claim it is statistically much better than Gradient Boosting. Their results were very close, and the difference was not statistically significant.</a:t>
            </a:r>
          </a:p>
          <a:p>
            <a:r>
              <a:rPr lang="en-LK" dirty="0"/>
              <a:t>So the honest conclusion is that both ensemble models worked well, but Random Forest was the most stable choice in my evaluation.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dirty="0"/>
              <a:t>So model accuracy alone is not enough for this project, because the final goal is not only prediction. The final goal is decision support.</a:t>
            </a:r>
          </a:p>
          <a:p>
            <a:r>
              <a:rPr lang="en-LK" dirty="0"/>
              <a:t>So I evaluated the recommendation quality using leave-one-scenario-out validation.</a:t>
            </a:r>
          </a:p>
          <a:p>
            <a:r>
              <a:rPr lang="en-LK" dirty="0"/>
              <a:t>A scenario means a workload type and a dataset size. For example, CPU-heavy with 500 MB is one scenario.</a:t>
            </a:r>
          </a:p>
          <a:p>
            <a:r>
              <a:rPr lang="en-LK" dirty="0"/>
              <a:t>For each held-out scenario, the model was trained on the other scenarios. Then it had to rank candidate configurations for the held-out scenario. I compared the chosen configuration against the true best configuration from the measured benchmark data.</a:t>
            </a:r>
          </a:p>
          <a:p>
            <a:r>
              <a:rPr lang="en-LK" dirty="0"/>
              <a:t>I evaluated three SLA levels: tight, medium, and loose. These were based on the 25th, 50th, and 75th percentile of measured runtime for each scenario.</a:t>
            </a:r>
          </a:p>
          <a:p>
            <a:r>
              <a:rPr lang="en-LK" dirty="0"/>
              <a:t>The Random Forest recommender achieved 0.810 top-1 accuracy under tight SLA, 0.905 under medium SLA, and 0.952 under loose SLA. Under loose SLA, there were no SLA violations.</a:t>
            </a:r>
          </a:p>
          <a:p>
            <a:r>
              <a:rPr lang="en-LK" dirty="0"/>
              <a:t>Compared with baselines like historical mean, nearest-size, largest-cluster, and random selection, the model performed best overall.</a:t>
            </a:r>
          </a:p>
          <a:p>
            <a:r>
              <a:rPr lang="en-LK" dirty="0"/>
              <a:t>The important point is that the main advantage is not just lower cost. The stronger advantage is better SLA reliability.</a:t>
            </a:r>
          </a:p>
          <a:p>
            <a:r>
              <a:rPr lang="en-LK" dirty="0"/>
              <a:t>A limitation is that the SLA thresholds were created from measured runtime percentiles. This is useful for controlled evaluation, but in real deployment the SLA should come from the user.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dirty="0"/>
              <a:t>So this is the main carbon-related finding of the project.</a:t>
            </a:r>
          </a:p>
          <a:p>
            <a:r>
              <a:rPr lang="en-LK" dirty="0"/>
              <a:t>If we only look at grid carbon intensity, Singapore appears cleaner than India, because Singapore has lower grid intensity.</a:t>
            </a:r>
          </a:p>
          <a:p>
            <a:r>
              <a:rPr lang="en-LK" dirty="0"/>
              <a:t>But when I calculated per-run emissions, Azure Central India had lower mean emissions in the dataset.</a:t>
            </a:r>
          </a:p>
          <a:p>
            <a:r>
              <a:rPr lang="en-LK" dirty="0"/>
              <a:t>This is because emissions do not depend only on grid intensity. They also depend on runtime, node count, machine power draw, and PUE.</a:t>
            </a:r>
          </a:p>
          <a:p>
            <a:r>
              <a:rPr lang="en-LK" dirty="0"/>
              <a:t>So the key finding is that grid intensity alone is not a safe proxy for deployment emissions. To make carbon-aware recommendations, we need to combine carbon data with performance prediction.</a:t>
            </a:r>
          </a:p>
          <a:p>
            <a:r>
              <a:rPr lang="en-LK" dirty="0"/>
              <a:t>Another interesting result is that in my corpus, the cheapest configuration was also the greenest in all 21 scenarios. I do not claim this will always happen. In my dataset, this happened because both cost and emissions were strongly driven by node-hours.</a:t>
            </a:r>
          </a:p>
          <a:p>
            <a:r>
              <a:rPr lang="en-LK" dirty="0"/>
              <a:t>So the conclusion is that performance, cost, and carbon should not be treated separately. They need to be evaluated together in one framework.</a:t>
            </a:r>
          </a:p>
          <a:p>
            <a:r>
              <a:rPr lang="en-LK" dirty="0"/>
              <a:t>If I continue this work, I would add workload fingerprinting using Spark event logs and uncertainty-aware SLA filtering, so the system can handle risk more explicitly.</a:t>
            </a:r>
          </a:p>
          <a:p>
            <a:r>
              <a:rPr lang="en-LK" b="1" dirty="0"/>
              <a:t>Final Closing</a:t>
            </a:r>
            <a:br>
              <a:rPr lang="en-LK" dirty="0"/>
            </a:br>
            <a:r>
              <a:rPr lang="en-LK" dirty="0"/>
              <a:t>So to conclude, this project shows that Spark runtime and cost can be predicted from measured multi-cloud benchmark data, and those predictions can support practical infrastructure recommendations.</a:t>
            </a:r>
          </a:p>
          <a:p>
            <a:r>
              <a:rPr lang="en-LK" dirty="0"/>
              <a:t>The framework considers cost, runtime, SLA, and carbon together, rather than treating them separately.</a:t>
            </a:r>
          </a:p>
          <a:p>
            <a:r>
              <a:rPr lang="en-LK" dirty="0"/>
              <a:t>At the same time, the work has clear limitations. The dataset size is limited, carbon emissions are modelled rather than directly measured, and the model generalises only within the tested workload and infrastructure scope.</a:t>
            </a:r>
          </a:p>
          <a:p>
            <a:r>
              <a:rPr lang="en-LK" dirty="0"/>
              <a:t>But overall, the project provides a measured and reproducible foundation for cost-aware and carbon-aware infrastructure selection for Spark-based big-data workloads.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theguardian.com/us-news/2026/jul/11/microsoft-amazon-google-datacentre-carbon-emissions-france"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www.microsoft.com/en-us/research/project/reducing-ais-carbon-footprint/"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1E"/>
        </a:solidFill>
        <a:effectLst/>
      </p:bgPr>
    </p:bg>
    <p:spTree>
      <p:nvGrpSpPr>
        <p:cNvPr id="1" name=""/>
        <p:cNvGrpSpPr/>
        <p:nvPr/>
      </p:nvGrpSpPr>
      <p:grpSpPr>
        <a:xfrm>
          <a:off x="0" y="0"/>
          <a:ext cx="0" cy="0"/>
          <a:chOff x="0" y="0"/>
          <a:chExt cx="0" cy="0"/>
        </a:xfrm>
      </p:grpSpPr>
      <p:sp>
        <p:nvSpPr>
          <p:cNvPr id="5" name="Text 3"/>
          <p:cNvSpPr/>
          <p:nvPr/>
        </p:nvSpPr>
        <p:spPr>
          <a:xfrm>
            <a:off x="566928" y="1572768"/>
            <a:ext cx="8686800" cy="1691640"/>
          </a:xfrm>
          <a:prstGeom prst="rect">
            <a:avLst/>
          </a:prstGeom>
          <a:noFill/>
          <a:ln/>
        </p:spPr>
        <p:txBody>
          <a:bodyPr wrap="square" lIns="0" tIns="0" rIns="0" bIns="0" rtlCol="0" anchor="ctr"/>
          <a:lstStyle/>
          <a:p>
            <a:pPr marL="0" indent="0">
              <a:lnSpc>
                <a:spcPts val="5000"/>
              </a:lnSpc>
              <a:buNone/>
            </a:pPr>
            <a:r>
              <a:rPr lang="en-US" sz="4300" b="1" dirty="0">
                <a:solidFill>
                  <a:srgbClr val="FFFFFF"/>
                </a:solidFill>
                <a:latin typeface="Cambria" pitchFamily="34" charset="0"/>
                <a:ea typeface="Cambria" pitchFamily="34" charset="-122"/>
                <a:cs typeface="Cambria" pitchFamily="34" charset="-120"/>
              </a:rPr>
              <a:t>Cost-Aware and Carbon-Aware</a:t>
            </a:r>
            <a:endParaRPr lang="en-US" sz="4300" dirty="0"/>
          </a:p>
          <a:p>
            <a:pPr marL="0" indent="0">
              <a:lnSpc>
                <a:spcPts val="5000"/>
              </a:lnSpc>
              <a:buNone/>
            </a:pPr>
            <a:r>
              <a:rPr lang="en-US" sz="4300" b="1" dirty="0">
                <a:solidFill>
                  <a:srgbClr val="FFFFFF"/>
                </a:solidFill>
                <a:latin typeface="Cambria" pitchFamily="34" charset="0"/>
                <a:ea typeface="Cambria" pitchFamily="34" charset="-122"/>
                <a:cs typeface="Cambria" pitchFamily="34" charset="-120"/>
              </a:rPr>
              <a:t>Infrastructure Optimization</a:t>
            </a:r>
            <a:endParaRPr lang="en-US" sz="4300" dirty="0"/>
          </a:p>
        </p:txBody>
      </p:sp>
      <p:sp>
        <p:nvSpPr>
          <p:cNvPr id="6" name="Text 4"/>
          <p:cNvSpPr/>
          <p:nvPr/>
        </p:nvSpPr>
        <p:spPr>
          <a:xfrm>
            <a:off x="566928" y="3401568"/>
            <a:ext cx="7772400" cy="731520"/>
          </a:xfrm>
          <a:prstGeom prst="rect">
            <a:avLst/>
          </a:prstGeom>
          <a:noFill/>
          <a:ln/>
        </p:spPr>
        <p:txBody>
          <a:bodyPr wrap="square" lIns="0" tIns="0" rIns="0" bIns="0" rtlCol="0" anchor="ctr"/>
          <a:lstStyle/>
          <a:p>
            <a:pPr marL="0" indent="0">
              <a:lnSpc>
                <a:spcPts val="2300"/>
              </a:lnSpc>
              <a:buNone/>
            </a:pPr>
            <a:r>
              <a:rPr lang="en-US" sz="1550" dirty="0">
                <a:solidFill>
                  <a:srgbClr val="C5D3C8"/>
                </a:solidFill>
                <a:latin typeface="Calibri" pitchFamily="34" charset="0"/>
                <a:ea typeface="Calibri" pitchFamily="34" charset="-122"/>
                <a:cs typeface="Calibri" pitchFamily="34" charset="-120"/>
              </a:rPr>
              <a:t>A machine-learning framework that recommends Apache Spark deployment configurations across AWS and Azure — on runtime, cost, SLA and carbon emissions</a:t>
            </a:r>
            <a:endParaRPr lang="en-US" sz="1550" dirty="0"/>
          </a:p>
        </p:txBody>
      </p:sp>
      <p:sp>
        <p:nvSpPr>
          <p:cNvPr id="7" name="Shape 5"/>
          <p:cNvSpPr/>
          <p:nvPr/>
        </p:nvSpPr>
        <p:spPr>
          <a:xfrm>
            <a:off x="566928" y="4370832"/>
            <a:ext cx="2834640" cy="0"/>
          </a:xfrm>
          <a:prstGeom prst="line">
            <a:avLst/>
          </a:prstGeom>
          <a:noFill/>
          <a:ln w="31750">
            <a:solidFill>
              <a:srgbClr val="9DC48A"/>
            </a:solidFill>
            <a:prstDash val="solid"/>
          </a:ln>
        </p:spPr>
        <p:txBody>
          <a:bodyPr/>
          <a:lstStyle/>
          <a:p>
            <a:endParaRPr lang="en-LK"/>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0515600" cy="237744"/>
          </a:xfrm>
          <a:prstGeom prst="rect">
            <a:avLst/>
          </a:prstGeom>
          <a:noFill/>
          <a:ln/>
        </p:spPr>
        <p:txBody>
          <a:bodyPr wrap="square" lIns="0" tIns="0" rIns="0" bIns="0" rtlCol="0" anchor="ctr"/>
          <a:lstStyle/>
          <a:p>
            <a:pPr marL="0" indent="0">
              <a:buNone/>
            </a:pPr>
            <a:r>
              <a:rPr lang="en-US" sz="1150" b="1" kern="0" spc="160" dirty="0">
                <a:solidFill>
                  <a:srgbClr val="3E6B55"/>
                </a:solidFill>
                <a:latin typeface="Calibri" pitchFamily="34" charset="0"/>
                <a:ea typeface="Calibri" pitchFamily="34" charset="-122"/>
                <a:cs typeface="Calibri" pitchFamily="34" charset="-120"/>
              </a:rPr>
              <a:t>THE PROBLEM</a:t>
            </a:r>
            <a:endParaRPr lang="en-US" sz="1150" dirty="0"/>
          </a:p>
        </p:txBody>
      </p:sp>
      <p:sp>
        <p:nvSpPr>
          <p:cNvPr id="3" name="Text 1"/>
          <p:cNvSpPr/>
          <p:nvPr/>
        </p:nvSpPr>
        <p:spPr>
          <a:xfrm>
            <a:off x="566928" y="576072"/>
            <a:ext cx="11064240" cy="603504"/>
          </a:xfrm>
          <a:prstGeom prst="rect">
            <a:avLst/>
          </a:prstGeom>
          <a:noFill/>
          <a:ln/>
        </p:spPr>
        <p:txBody>
          <a:bodyPr wrap="square" lIns="0" tIns="0" rIns="0" bIns="0" rtlCol="0" anchor="ctr"/>
          <a:lstStyle/>
          <a:p>
            <a:pPr marL="0" indent="0">
              <a:buNone/>
            </a:pPr>
            <a:r>
              <a:rPr lang="en-US" sz="3100" b="1" dirty="0">
                <a:solidFill>
                  <a:srgbClr val="16261E"/>
                </a:solidFill>
                <a:latin typeface="Cambria" pitchFamily="34" charset="0"/>
                <a:ea typeface="Cambria" pitchFamily="34" charset="-122"/>
                <a:cs typeface="Cambria" pitchFamily="34" charset="-120"/>
              </a:rPr>
              <a:t>Choosing the infrastructure before you can know its cost</a:t>
            </a:r>
            <a:endParaRPr lang="en-US" sz="3100" dirty="0"/>
          </a:p>
        </p:txBody>
      </p:sp>
      <p:sp>
        <p:nvSpPr>
          <p:cNvPr id="4" name="Text 2"/>
          <p:cNvSpPr/>
          <p:nvPr/>
        </p:nvSpPr>
        <p:spPr>
          <a:xfrm>
            <a:off x="566928" y="1536192"/>
            <a:ext cx="6263640" cy="3017520"/>
          </a:xfrm>
          <a:prstGeom prst="rect">
            <a:avLst/>
          </a:prstGeom>
          <a:noFill/>
          <a:ln/>
        </p:spPr>
        <p:txBody>
          <a:bodyPr wrap="square" lIns="0" tIns="0" rIns="0" bIns="0" rtlCol="0" anchor="ctr"/>
          <a:lstStyle/>
          <a:p>
            <a:pPr marL="177800" indent="-177800">
              <a:lnSpc>
                <a:spcPts val="1900"/>
              </a:lnSpc>
              <a:spcAft>
                <a:spcPts val="700"/>
              </a:spcAft>
              <a:buSzPct val="100000"/>
              <a:buChar char="•"/>
            </a:pPr>
            <a:r>
              <a:rPr lang="en-US" sz="1400" dirty="0">
                <a:solidFill>
                  <a:srgbClr val="16261E"/>
                </a:solidFill>
                <a:latin typeface="Calibri" pitchFamily="34" charset="0"/>
                <a:ea typeface="Calibri" pitchFamily="34" charset="-122"/>
                <a:cs typeface="Calibri" pitchFamily="34" charset="-120"/>
              </a:rPr>
              <a:t>Before a Spark job runs, an engineer must fix provider, region, instance type and node count.</a:t>
            </a:r>
            <a:endParaRPr lang="en-US" sz="1400" dirty="0"/>
          </a:p>
          <a:p>
            <a:pPr marL="177800" indent="-177800">
              <a:lnSpc>
                <a:spcPts val="1900"/>
              </a:lnSpc>
              <a:spcAft>
                <a:spcPts val="700"/>
              </a:spcAft>
              <a:buSzPct val="100000"/>
              <a:buChar char="•"/>
            </a:pPr>
            <a:r>
              <a:rPr lang="en-US" sz="1400" dirty="0">
                <a:solidFill>
                  <a:srgbClr val="16261E"/>
                </a:solidFill>
                <a:latin typeface="Calibri" pitchFamily="34" charset="0"/>
                <a:ea typeface="Calibri" pitchFamily="34" charset="-122"/>
                <a:cs typeface="Calibri" pitchFamily="34" charset="-120"/>
              </a:rPr>
              <a:t>That single choice determines cost, completion time and emissions — none of which are knowable without running the job first.</a:t>
            </a:r>
            <a:endParaRPr lang="en-US" sz="1400" dirty="0"/>
          </a:p>
          <a:p>
            <a:pPr marL="177800" indent="-177800">
              <a:lnSpc>
                <a:spcPts val="1900"/>
              </a:lnSpc>
              <a:spcAft>
                <a:spcPts val="700"/>
              </a:spcAft>
              <a:buSzPct val="100000"/>
              <a:buChar char="•"/>
            </a:pPr>
            <a:r>
              <a:rPr lang="en-US" sz="1400" dirty="0">
                <a:solidFill>
                  <a:srgbClr val="16261E"/>
                </a:solidFill>
                <a:latin typeface="Calibri" pitchFamily="34" charset="0"/>
                <a:ea typeface="Calibri" pitchFamily="34" charset="-122"/>
                <a:cs typeface="Calibri" pitchFamily="34" charset="-120"/>
              </a:rPr>
              <a:t>Provider calculators require you to already know the configuration and its duration. Optimisation tools require the workload to already be running on that provider.</a:t>
            </a:r>
            <a:endParaRPr lang="en-US" sz="1400" dirty="0"/>
          </a:p>
          <a:p>
            <a:pPr marL="177800" indent="-177800">
              <a:lnSpc>
                <a:spcPts val="1900"/>
              </a:lnSpc>
              <a:spcAft>
                <a:spcPts val="700"/>
              </a:spcAft>
              <a:buSzPct val="100000"/>
              <a:buChar char="•"/>
            </a:pPr>
            <a:r>
              <a:rPr lang="en-US" sz="1400" dirty="0">
                <a:solidFill>
                  <a:srgbClr val="16261E"/>
                </a:solidFill>
                <a:latin typeface="Calibri" pitchFamily="34" charset="0"/>
                <a:ea typeface="Calibri" pitchFamily="34" charset="-122"/>
                <a:cs typeface="Calibri" pitchFamily="34" charset="-120"/>
              </a:rPr>
              <a:t>So the decision is made by guesswork, by habit, or by over-provisioning — and carbon rarely enters it at all.</a:t>
            </a:r>
            <a:endParaRPr lang="en-US" sz="1400" dirty="0"/>
          </a:p>
        </p:txBody>
      </p:sp>
      <p:sp>
        <p:nvSpPr>
          <p:cNvPr id="5" name="Shape 3"/>
          <p:cNvSpPr/>
          <p:nvPr/>
        </p:nvSpPr>
        <p:spPr>
          <a:xfrm>
            <a:off x="7178040" y="1481328"/>
            <a:ext cx="4443984" cy="2761488"/>
          </a:xfrm>
          <a:prstGeom prst="roundRect">
            <a:avLst>
              <a:gd name="adj" fmla="val 2980"/>
            </a:avLst>
          </a:prstGeom>
          <a:solidFill>
            <a:srgbClr val="F1F4F1"/>
          </a:solidFill>
          <a:ln w="12700">
            <a:solidFill>
              <a:srgbClr val="F1F4F1"/>
            </a:solidFill>
            <a:prstDash val="solid"/>
          </a:ln>
          <a:effectLst>
            <a:outerShdw blurRad="127000" dist="25400" dir="5400000" algn="bl" rotWithShape="0">
              <a:srgbClr val="12201A">
                <a:alpha val="13000"/>
              </a:srgbClr>
            </a:outerShdw>
          </a:effectLst>
        </p:spPr>
        <p:txBody>
          <a:bodyPr/>
          <a:lstStyle/>
          <a:p>
            <a:endParaRPr lang="en-LK"/>
          </a:p>
        </p:txBody>
      </p:sp>
      <p:sp>
        <p:nvSpPr>
          <p:cNvPr id="6" name="Text 4"/>
          <p:cNvSpPr/>
          <p:nvPr/>
        </p:nvSpPr>
        <p:spPr>
          <a:xfrm>
            <a:off x="7452360" y="1664208"/>
            <a:ext cx="3931920" cy="256032"/>
          </a:xfrm>
          <a:prstGeom prst="rect">
            <a:avLst/>
          </a:prstGeom>
          <a:noFill/>
          <a:ln/>
        </p:spPr>
        <p:txBody>
          <a:bodyPr wrap="square" lIns="0" tIns="0" rIns="0" bIns="0" rtlCol="0" anchor="ctr"/>
          <a:lstStyle/>
          <a:p>
            <a:pPr marL="0" indent="0">
              <a:buNone/>
            </a:pPr>
            <a:r>
              <a:rPr lang="en-US" sz="1050" b="1" kern="0" spc="120" dirty="0">
                <a:solidFill>
                  <a:srgbClr val="3E6B55"/>
                </a:solidFill>
                <a:latin typeface="Calibri" pitchFamily="34" charset="0"/>
                <a:ea typeface="Calibri" pitchFamily="34" charset="-122"/>
                <a:cs typeface="Calibri" pitchFamily="34" charset="-120"/>
              </a:rPr>
              <a:t>WHAT PARTICIPANTS SAY THEY WEIGH</a:t>
            </a:r>
            <a:endParaRPr lang="en-US" sz="1050" dirty="0"/>
          </a:p>
        </p:txBody>
      </p:sp>
      <p:sp>
        <p:nvSpPr>
          <p:cNvPr id="7" name="Text 5"/>
          <p:cNvSpPr/>
          <p:nvPr/>
        </p:nvSpPr>
        <p:spPr>
          <a:xfrm>
            <a:off x="7452360" y="2048256"/>
            <a:ext cx="1005840" cy="384048"/>
          </a:xfrm>
          <a:prstGeom prst="rect">
            <a:avLst/>
          </a:prstGeom>
          <a:noFill/>
          <a:ln/>
        </p:spPr>
        <p:txBody>
          <a:bodyPr wrap="square" lIns="0" tIns="0" rIns="0" bIns="0" rtlCol="0" anchor="ctr"/>
          <a:lstStyle/>
          <a:p>
            <a:pPr marL="0" indent="0">
              <a:buNone/>
            </a:pPr>
            <a:r>
              <a:rPr lang="en-US" sz="1900" b="1" dirty="0">
                <a:solidFill>
                  <a:srgbClr val="16261E"/>
                </a:solidFill>
                <a:latin typeface="Cambria" pitchFamily="34" charset="0"/>
                <a:ea typeface="Cambria" pitchFamily="34" charset="-122"/>
                <a:cs typeface="Cambria" pitchFamily="34" charset="-120"/>
              </a:rPr>
              <a:t>76.1%</a:t>
            </a:r>
            <a:endParaRPr lang="en-US" sz="1900" dirty="0"/>
          </a:p>
        </p:txBody>
      </p:sp>
      <p:sp>
        <p:nvSpPr>
          <p:cNvPr id="8" name="Text 6"/>
          <p:cNvSpPr/>
          <p:nvPr/>
        </p:nvSpPr>
        <p:spPr>
          <a:xfrm>
            <a:off x="8522208" y="2048256"/>
            <a:ext cx="2880360" cy="384048"/>
          </a:xfrm>
          <a:prstGeom prst="rect">
            <a:avLst/>
          </a:prstGeom>
          <a:noFill/>
          <a:ln/>
        </p:spPr>
        <p:txBody>
          <a:bodyPr wrap="square" lIns="0" tIns="0" rIns="0" bIns="0" rtlCol="0" anchor="ctr"/>
          <a:lstStyle/>
          <a:p>
            <a:pPr marL="0" indent="0">
              <a:buNone/>
            </a:pPr>
            <a:r>
              <a:rPr lang="en-US" sz="1250" dirty="0">
                <a:solidFill>
                  <a:srgbClr val="5F6B64"/>
                </a:solidFill>
                <a:latin typeface="Calibri" pitchFamily="34" charset="0"/>
                <a:ea typeface="Calibri" pitchFamily="34" charset="-122"/>
                <a:cs typeface="Calibri" pitchFamily="34" charset="-120"/>
              </a:rPr>
              <a:t>Infrastructure cost</a:t>
            </a:r>
            <a:endParaRPr lang="en-US" sz="1250" dirty="0"/>
          </a:p>
        </p:txBody>
      </p:sp>
      <p:sp>
        <p:nvSpPr>
          <p:cNvPr id="9" name="Text 7"/>
          <p:cNvSpPr/>
          <p:nvPr/>
        </p:nvSpPr>
        <p:spPr>
          <a:xfrm>
            <a:off x="7452360" y="2560320"/>
            <a:ext cx="1005840" cy="384048"/>
          </a:xfrm>
          <a:prstGeom prst="rect">
            <a:avLst/>
          </a:prstGeom>
          <a:noFill/>
          <a:ln/>
        </p:spPr>
        <p:txBody>
          <a:bodyPr wrap="square" lIns="0" tIns="0" rIns="0" bIns="0" rtlCol="0" anchor="ctr"/>
          <a:lstStyle/>
          <a:p>
            <a:pPr marL="0" indent="0">
              <a:buNone/>
            </a:pPr>
            <a:r>
              <a:rPr lang="en-US" sz="1900" b="1" dirty="0">
                <a:solidFill>
                  <a:srgbClr val="16261E"/>
                </a:solidFill>
                <a:latin typeface="Cambria" pitchFamily="34" charset="0"/>
                <a:ea typeface="Cambria" pitchFamily="34" charset="-122"/>
                <a:cs typeface="Cambria" pitchFamily="34" charset="-120"/>
              </a:rPr>
              <a:t>71.7%</a:t>
            </a:r>
            <a:endParaRPr lang="en-US" sz="1900" dirty="0"/>
          </a:p>
        </p:txBody>
      </p:sp>
      <p:sp>
        <p:nvSpPr>
          <p:cNvPr id="10" name="Text 8"/>
          <p:cNvSpPr/>
          <p:nvPr/>
        </p:nvSpPr>
        <p:spPr>
          <a:xfrm>
            <a:off x="8522208" y="2560320"/>
            <a:ext cx="2880360" cy="384048"/>
          </a:xfrm>
          <a:prstGeom prst="rect">
            <a:avLst/>
          </a:prstGeom>
          <a:noFill/>
          <a:ln/>
        </p:spPr>
        <p:txBody>
          <a:bodyPr wrap="square" lIns="0" tIns="0" rIns="0" bIns="0" rtlCol="0" anchor="ctr"/>
          <a:lstStyle/>
          <a:p>
            <a:pPr marL="0" indent="0">
              <a:buNone/>
            </a:pPr>
            <a:r>
              <a:rPr lang="en-US" sz="1250" dirty="0">
                <a:solidFill>
                  <a:srgbClr val="5F6B64"/>
                </a:solidFill>
                <a:latin typeface="Calibri" pitchFamily="34" charset="0"/>
                <a:ea typeface="Calibri" pitchFamily="34" charset="-122"/>
                <a:cs typeface="Calibri" pitchFamily="34" charset="-120"/>
              </a:rPr>
              <a:t>Runtime and performance</a:t>
            </a:r>
            <a:endParaRPr lang="en-US" sz="1250" dirty="0"/>
          </a:p>
        </p:txBody>
      </p:sp>
      <p:sp>
        <p:nvSpPr>
          <p:cNvPr id="11" name="Text 9"/>
          <p:cNvSpPr/>
          <p:nvPr/>
        </p:nvSpPr>
        <p:spPr>
          <a:xfrm>
            <a:off x="7452360" y="3072384"/>
            <a:ext cx="1005840" cy="384048"/>
          </a:xfrm>
          <a:prstGeom prst="rect">
            <a:avLst/>
          </a:prstGeom>
          <a:noFill/>
          <a:ln/>
        </p:spPr>
        <p:txBody>
          <a:bodyPr wrap="square" lIns="0" tIns="0" rIns="0" bIns="0" rtlCol="0" anchor="ctr"/>
          <a:lstStyle/>
          <a:p>
            <a:pPr marL="0" indent="0">
              <a:buNone/>
            </a:pPr>
            <a:r>
              <a:rPr lang="en-US" sz="1900" b="1" dirty="0">
                <a:solidFill>
                  <a:srgbClr val="16261E"/>
                </a:solidFill>
                <a:latin typeface="Cambria" pitchFamily="34" charset="0"/>
                <a:ea typeface="Cambria" pitchFamily="34" charset="-122"/>
                <a:cs typeface="Cambria" pitchFamily="34" charset="-120"/>
              </a:rPr>
              <a:t>67.4%</a:t>
            </a:r>
            <a:endParaRPr lang="en-US" sz="1900" dirty="0"/>
          </a:p>
        </p:txBody>
      </p:sp>
      <p:sp>
        <p:nvSpPr>
          <p:cNvPr id="12" name="Text 10"/>
          <p:cNvSpPr/>
          <p:nvPr/>
        </p:nvSpPr>
        <p:spPr>
          <a:xfrm>
            <a:off x="8522208" y="3072384"/>
            <a:ext cx="2880360" cy="384048"/>
          </a:xfrm>
          <a:prstGeom prst="rect">
            <a:avLst/>
          </a:prstGeom>
          <a:noFill/>
          <a:ln/>
        </p:spPr>
        <p:txBody>
          <a:bodyPr wrap="square" lIns="0" tIns="0" rIns="0" bIns="0" rtlCol="0" anchor="ctr"/>
          <a:lstStyle/>
          <a:p>
            <a:pPr marL="0" indent="0">
              <a:buNone/>
            </a:pPr>
            <a:r>
              <a:rPr lang="en-US" sz="1250" dirty="0">
                <a:solidFill>
                  <a:srgbClr val="5F6B64"/>
                </a:solidFill>
                <a:latin typeface="Calibri" pitchFamily="34" charset="0"/>
                <a:ea typeface="Calibri" pitchFamily="34" charset="-122"/>
                <a:cs typeface="Calibri" pitchFamily="34" charset="-120"/>
              </a:rPr>
              <a:t>Carbon / sustainability</a:t>
            </a:r>
            <a:endParaRPr lang="en-US" sz="1250" dirty="0"/>
          </a:p>
        </p:txBody>
      </p:sp>
      <p:sp>
        <p:nvSpPr>
          <p:cNvPr id="13" name="Text 11"/>
          <p:cNvSpPr/>
          <p:nvPr/>
        </p:nvSpPr>
        <p:spPr>
          <a:xfrm>
            <a:off x="7452360" y="3584448"/>
            <a:ext cx="1005840" cy="384048"/>
          </a:xfrm>
          <a:prstGeom prst="rect">
            <a:avLst/>
          </a:prstGeom>
          <a:noFill/>
          <a:ln/>
        </p:spPr>
        <p:txBody>
          <a:bodyPr wrap="square" lIns="0" tIns="0" rIns="0" bIns="0" rtlCol="0" anchor="ctr"/>
          <a:lstStyle/>
          <a:p>
            <a:pPr marL="0" indent="0">
              <a:buNone/>
            </a:pPr>
            <a:r>
              <a:rPr lang="en-US" sz="1900" b="1" dirty="0">
                <a:solidFill>
                  <a:srgbClr val="3E6B55"/>
                </a:solidFill>
                <a:latin typeface="Cambria" pitchFamily="34" charset="0"/>
                <a:ea typeface="Cambria" pitchFamily="34" charset="-122"/>
                <a:cs typeface="Cambria" pitchFamily="34" charset="-120"/>
              </a:rPr>
              <a:t>84.8%</a:t>
            </a:r>
            <a:endParaRPr lang="en-US" sz="1900" dirty="0"/>
          </a:p>
        </p:txBody>
      </p:sp>
      <p:sp>
        <p:nvSpPr>
          <p:cNvPr id="14" name="Text 12"/>
          <p:cNvSpPr/>
          <p:nvPr/>
        </p:nvSpPr>
        <p:spPr>
          <a:xfrm>
            <a:off x="8522208" y="3584448"/>
            <a:ext cx="2880360" cy="384048"/>
          </a:xfrm>
          <a:prstGeom prst="rect">
            <a:avLst/>
          </a:prstGeom>
          <a:noFill/>
          <a:ln/>
        </p:spPr>
        <p:txBody>
          <a:bodyPr wrap="square" lIns="0" tIns="0" rIns="0" bIns="0" rtlCol="0" anchor="ctr"/>
          <a:lstStyle/>
          <a:p>
            <a:pPr marL="0" indent="0">
              <a:buNone/>
            </a:pPr>
            <a:r>
              <a:rPr lang="en-US" sz="1250" dirty="0">
                <a:solidFill>
                  <a:srgbClr val="5F6B64"/>
                </a:solidFill>
                <a:latin typeface="Calibri" pitchFamily="34" charset="0"/>
                <a:ea typeface="Calibri" pitchFamily="34" charset="-122"/>
                <a:cs typeface="Calibri" pitchFamily="34" charset="-120"/>
              </a:rPr>
              <a:t>Deploy across &gt;1 cloud</a:t>
            </a:r>
            <a:endParaRPr lang="en-US" sz="1250" dirty="0"/>
          </a:p>
        </p:txBody>
      </p:sp>
      <p:sp>
        <p:nvSpPr>
          <p:cNvPr id="16" name="Text 14"/>
          <p:cNvSpPr/>
          <p:nvPr/>
        </p:nvSpPr>
        <p:spPr>
          <a:xfrm>
            <a:off x="8130008" y="4458161"/>
            <a:ext cx="2495462" cy="914400"/>
          </a:xfrm>
          <a:prstGeom prst="rect">
            <a:avLst/>
          </a:prstGeom>
          <a:noFill/>
          <a:ln/>
        </p:spPr>
        <p:txBody>
          <a:bodyPr wrap="square" lIns="0" tIns="0" rIns="0" bIns="0" rtlCol="0" anchor="ctr"/>
          <a:lstStyle/>
          <a:p>
            <a:pPr marL="0" indent="0">
              <a:lnSpc>
                <a:spcPts val="1600"/>
              </a:lnSpc>
              <a:buNone/>
            </a:pPr>
            <a:r>
              <a:rPr lang="en-US" sz="1600" b="1" dirty="0">
                <a:solidFill>
                  <a:srgbClr val="16261E"/>
                </a:solidFill>
                <a:latin typeface="Calibri" pitchFamily="34" charset="0"/>
                <a:ea typeface="Calibri" pitchFamily="34" charset="-122"/>
                <a:cs typeface="Calibri" pitchFamily="34" charset="-120"/>
              </a:rPr>
              <a:t>Why these four factors</a:t>
            </a:r>
            <a:r>
              <a:rPr lang="en-US" sz="1600" b="1" dirty="0">
                <a:solidFill>
                  <a:srgbClr val="5F6B64"/>
                </a:solidFill>
                <a:latin typeface="Calibri" pitchFamily="34" charset="0"/>
                <a:ea typeface="Calibri" pitchFamily="34" charset="-122"/>
                <a:cs typeface="Calibri" pitchFamily="34" charset="-120"/>
              </a:rPr>
              <a:t> </a:t>
            </a:r>
            <a:r>
              <a:rPr lang="en-US" sz="1600" b="1" dirty="0">
                <a:latin typeface="Calibri" pitchFamily="34" charset="0"/>
                <a:ea typeface="Calibri" pitchFamily="34" charset="-122"/>
                <a:cs typeface="Calibri" pitchFamily="34" charset="-120"/>
              </a:rPr>
              <a:t>?</a:t>
            </a:r>
            <a:endParaRPr lang="en-US" sz="1600" dirty="0"/>
          </a:p>
        </p:txBody>
      </p:sp>
      <p:sp>
        <p:nvSpPr>
          <p:cNvPr id="17" name="Shape 15"/>
          <p:cNvSpPr/>
          <p:nvPr/>
        </p:nvSpPr>
        <p:spPr>
          <a:xfrm>
            <a:off x="566928" y="4407408"/>
            <a:ext cx="6263640" cy="1554480"/>
          </a:xfrm>
          <a:prstGeom prst="roundRect">
            <a:avLst>
              <a:gd name="adj" fmla="val 5294"/>
            </a:avLst>
          </a:prstGeom>
          <a:solidFill>
            <a:srgbClr val="F1F4F1"/>
          </a:solidFill>
          <a:ln w="12700">
            <a:solidFill>
              <a:srgbClr val="F1F4F1"/>
            </a:solidFill>
            <a:prstDash val="solid"/>
          </a:ln>
          <a:effectLst>
            <a:outerShdw blurRad="127000" dist="25400" dir="5400000" algn="bl" rotWithShape="0">
              <a:srgbClr val="12201A">
                <a:alpha val="13000"/>
              </a:srgbClr>
            </a:outerShdw>
          </a:effectLst>
        </p:spPr>
        <p:txBody>
          <a:bodyPr/>
          <a:lstStyle/>
          <a:p>
            <a:endParaRPr lang="en-LK"/>
          </a:p>
        </p:txBody>
      </p:sp>
      <p:sp>
        <p:nvSpPr>
          <p:cNvPr id="18" name="Text 16"/>
          <p:cNvSpPr/>
          <p:nvPr/>
        </p:nvSpPr>
        <p:spPr>
          <a:xfrm>
            <a:off x="841248" y="4572000"/>
            <a:ext cx="5669280" cy="237744"/>
          </a:xfrm>
          <a:prstGeom prst="rect">
            <a:avLst/>
          </a:prstGeom>
          <a:noFill/>
          <a:ln/>
        </p:spPr>
        <p:txBody>
          <a:bodyPr wrap="square" lIns="0" tIns="0" rIns="0" bIns="0" rtlCol="0" anchor="ctr"/>
          <a:lstStyle/>
          <a:p>
            <a:pPr marL="0" indent="0">
              <a:buNone/>
            </a:pPr>
            <a:r>
              <a:rPr lang="en-US" sz="1050" b="1" kern="0" spc="120" dirty="0">
                <a:solidFill>
                  <a:srgbClr val="3E6B55"/>
                </a:solidFill>
                <a:latin typeface="Calibri" pitchFamily="34" charset="0"/>
                <a:ea typeface="Calibri" pitchFamily="34" charset="-122"/>
                <a:cs typeface="Calibri" pitchFamily="34" charset="-120"/>
              </a:rPr>
              <a:t>THIS IS NOT A HYPOTHETICAL PROBLEM</a:t>
            </a:r>
            <a:endParaRPr lang="en-US" sz="1050" dirty="0"/>
          </a:p>
        </p:txBody>
      </p:sp>
      <p:sp>
        <p:nvSpPr>
          <p:cNvPr id="19" name="Text 17"/>
          <p:cNvSpPr/>
          <p:nvPr/>
        </p:nvSpPr>
        <p:spPr>
          <a:xfrm>
            <a:off x="841248" y="4864608"/>
            <a:ext cx="5715000" cy="969264"/>
          </a:xfrm>
          <a:prstGeom prst="rect">
            <a:avLst/>
          </a:prstGeom>
          <a:noFill/>
          <a:ln/>
        </p:spPr>
        <p:txBody>
          <a:bodyPr wrap="square" lIns="0" tIns="0" rIns="0" bIns="0" rtlCol="0" anchor="ctr"/>
          <a:lstStyle/>
          <a:p>
            <a:pPr marL="0" indent="0">
              <a:lnSpc>
                <a:spcPts val="1500"/>
              </a:lnSpc>
              <a:spcAft>
                <a:spcPts val="500"/>
              </a:spcAft>
              <a:buNone/>
            </a:pPr>
            <a:r>
              <a:rPr lang="en-US" sz="1150" b="1" u="sng" dirty="0">
                <a:solidFill>
                  <a:srgbClr val="3E6B55"/>
                </a:solidFill>
                <a:latin typeface="Calibri" pitchFamily="34" charset="0"/>
                <a:ea typeface="Calibri" pitchFamily="34" charset="-122"/>
                <a:cs typeface="Calibri" pitchFamily="34" charset="-120"/>
                <a:hlinkClick r:id="rId3" tooltip="Guardian — hyperscaler datacentre carbon emissions, France">
                  <a:extLst>
                    <a:ext uri="{A12FA001-AC4F-418D-AE19-62706E023703}">
                      <ahyp:hlinkClr xmlns:ahyp="http://schemas.microsoft.com/office/drawing/2018/hyperlinkcolor" val="tx"/>
                    </a:ext>
                  </a:extLst>
                </a:hlinkClick>
              </a:rPr>
              <a:t>The Guardian, 11 July 2026</a:t>
            </a:r>
            <a:r>
              <a:rPr lang="en-US" sz="1150" dirty="0">
                <a:solidFill>
                  <a:srgbClr val="5F6B64"/>
                </a:solidFill>
                <a:latin typeface="Calibri" pitchFamily="34" charset="0"/>
                <a:ea typeface="Calibri" pitchFamily="34" charset="-122"/>
                <a:cs typeface="Calibri" pitchFamily="34" charset="-120"/>
              </a:rPr>
              <a:t>  —  Microsoft, Amazon and Google datacentre carbon emissions in France are now a major problem.</a:t>
            </a:r>
            <a:endParaRPr lang="en-US" sz="1150" dirty="0"/>
          </a:p>
          <a:p>
            <a:pPr marL="0" indent="0">
              <a:lnSpc>
                <a:spcPts val="1500"/>
              </a:lnSpc>
              <a:spcAft>
                <a:spcPts val="500"/>
              </a:spcAft>
              <a:buNone/>
            </a:pPr>
            <a:r>
              <a:rPr lang="en-US" sz="1150" b="1" u="sng" dirty="0">
                <a:solidFill>
                  <a:srgbClr val="3E6B55"/>
                </a:solidFill>
                <a:latin typeface="Calibri" pitchFamily="34" charset="0"/>
                <a:ea typeface="Calibri" pitchFamily="34" charset="-122"/>
                <a:cs typeface="Calibri" pitchFamily="34" charset="-120"/>
                <a:hlinkClick r:id="rId4" tooltip="Microsoft Research — Reducing AI's Carbon Footprint">
                  <a:extLst>
                    <a:ext uri="{A12FA001-AC4F-418D-AE19-62706E023703}">
                      <ahyp:hlinkClr xmlns:ahyp="http://schemas.microsoft.com/office/drawing/2018/hyperlinkcolor" val="tx"/>
                    </a:ext>
                  </a:extLst>
                </a:hlinkClick>
              </a:rPr>
              <a:t>Microsoft Research — Reducing AI's Carbon Footprint</a:t>
            </a:r>
            <a:r>
              <a:rPr lang="en-US" sz="1150" dirty="0">
                <a:solidFill>
                  <a:srgbClr val="5F6B64"/>
                </a:solidFill>
                <a:latin typeface="Calibri" pitchFamily="34" charset="0"/>
                <a:ea typeface="Calibri" pitchFamily="34" charset="-122"/>
                <a:cs typeface="Calibri" pitchFamily="34" charset="-120"/>
              </a:rPr>
              <a:t>  —  names one of its three goals as giving developers “tools to find appropriate tradeoffs between performance and carbon emissions.”</a:t>
            </a:r>
            <a:endParaRPr lang="en-US" sz="1150" dirty="0"/>
          </a:p>
        </p:txBody>
      </p:sp>
      <p:sp>
        <p:nvSpPr>
          <p:cNvPr id="21" name="Text 19"/>
          <p:cNvSpPr/>
          <p:nvPr/>
        </p:nvSpPr>
        <p:spPr>
          <a:xfrm>
            <a:off x="10984687" y="6382512"/>
            <a:ext cx="640080" cy="256032"/>
          </a:xfrm>
          <a:prstGeom prst="rect">
            <a:avLst/>
          </a:prstGeom>
          <a:noFill/>
          <a:ln/>
        </p:spPr>
        <p:txBody>
          <a:bodyPr wrap="square" lIns="0" tIns="0" rIns="0" bIns="0" rtlCol="0" anchor="ctr"/>
          <a:lstStyle/>
          <a:p>
            <a:pPr marL="0" indent="0" algn="r">
              <a:buNone/>
            </a:pPr>
            <a:r>
              <a:rPr lang="en-US" sz="1050" dirty="0">
                <a:solidFill>
                  <a:srgbClr val="96A29B"/>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0515600" cy="237744"/>
          </a:xfrm>
          <a:prstGeom prst="rect">
            <a:avLst/>
          </a:prstGeom>
          <a:noFill/>
          <a:ln/>
        </p:spPr>
        <p:txBody>
          <a:bodyPr wrap="square" lIns="0" tIns="0" rIns="0" bIns="0" rtlCol="0" anchor="ctr"/>
          <a:lstStyle/>
          <a:p>
            <a:pPr marL="0" indent="0">
              <a:buNone/>
            </a:pPr>
            <a:r>
              <a:rPr lang="en-US" sz="1150" b="1" kern="0" spc="160" dirty="0">
                <a:solidFill>
                  <a:srgbClr val="3E6B55"/>
                </a:solidFill>
                <a:latin typeface="Calibri" pitchFamily="34" charset="0"/>
                <a:ea typeface="Calibri" pitchFamily="34" charset="-122"/>
                <a:cs typeface="Calibri" pitchFamily="34" charset="-120"/>
              </a:rPr>
              <a:t>LITERATURE REVIEW · CHAPTER 2</a:t>
            </a:r>
            <a:endParaRPr lang="en-US" sz="1150" dirty="0"/>
          </a:p>
        </p:txBody>
      </p:sp>
      <p:sp>
        <p:nvSpPr>
          <p:cNvPr id="3" name="Text 1"/>
          <p:cNvSpPr/>
          <p:nvPr/>
        </p:nvSpPr>
        <p:spPr>
          <a:xfrm>
            <a:off x="566928" y="576072"/>
            <a:ext cx="11064240" cy="603504"/>
          </a:xfrm>
          <a:prstGeom prst="rect">
            <a:avLst/>
          </a:prstGeom>
          <a:noFill/>
          <a:ln/>
        </p:spPr>
        <p:txBody>
          <a:bodyPr wrap="square" lIns="0" tIns="0" rIns="0" bIns="0" rtlCol="0" anchor="ctr"/>
          <a:lstStyle/>
          <a:p>
            <a:pPr marL="0" indent="0">
              <a:buNone/>
            </a:pPr>
            <a:r>
              <a:rPr lang="en-US" sz="3100" b="1" dirty="0">
                <a:solidFill>
                  <a:srgbClr val="16261E"/>
                </a:solidFill>
                <a:latin typeface="Cambria" pitchFamily="34" charset="0"/>
                <a:ea typeface="Cambria" pitchFamily="34" charset="-122"/>
                <a:cs typeface="Cambria" pitchFamily="34" charset="-120"/>
              </a:rPr>
              <a:t>Thirteen systems reviewed. None covers all six capabilities.</a:t>
            </a:r>
            <a:endParaRPr lang="en-US" sz="3100" dirty="0"/>
          </a:p>
        </p:txBody>
      </p:sp>
      <p:sp>
        <p:nvSpPr>
          <p:cNvPr id="4" name="Text 2"/>
          <p:cNvSpPr/>
          <p:nvPr/>
        </p:nvSpPr>
        <p:spPr>
          <a:xfrm>
            <a:off x="5440680" y="1572768"/>
            <a:ext cx="1033272" cy="256032"/>
          </a:xfrm>
          <a:prstGeom prst="rect">
            <a:avLst/>
          </a:prstGeom>
          <a:noFill/>
          <a:ln/>
        </p:spPr>
        <p:txBody>
          <a:bodyPr wrap="square" lIns="0" tIns="0" rIns="0" bIns="0" rtlCol="0" anchor="ctr"/>
          <a:lstStyle/>
          <a:p>
            <a:pPr marL="0" indent="0" algn="ctr">
              <a:buNone/>
            </a:pPr>
            <a:r>
              <a:rPr lang="en-US" sz="900" b="1" kern="0" spc="60" dirty="0">
                <a:solidFill>
                  <a:srgbClr val="3E6B55"/>
                </a:solidFill>
                <a:latin typeface="Calibri" pitchFamily="34" charset="0"/>
                <a:ea typeface="Calibri" pitchFamily="34" charset="-122"/>
                <a:cs typeface="Calibri" pitchFamily="34" charset="-120"/>
              </a:rPr>
              <a:t>Big data</a:t>
            </a:r>
            <a:endParaRPr lang="en-US" sz="900" dirty="0"/>
          </a:p>
        </p:txBody>
      </p:sp>
      <p:sp>
        <p:nvSpPr>
          <p:cNvPr id="5" name="Text 3"/>
          <p:cNvSpPr/>
          <p:nvPr/>
        </p:nvSpPr>
        <p:spPr>
          <a:xfrm>
            <a:off x="6473952" y="1572768"/>
            <a:ext cx="1033272" cy="256032"/>
          </a:xfrm>
          <a:prstGeom prst="rect">
            <a:avLst/>
          </a:prstGeom>
          <a:noFill/>
          <a:ln/>
        </p:spPr>
        <p:txBody>
          <a:bodyPr wrap="square" lIns="0" tIns="0" rIns="0" bIns="0" rtlCol="0" anchor="ctr"/>
          <a:lstStyle/>
          <a:p>
            <a:pPr marL="0" indent="0" algn="ctr">
              <a:buNone/>
            </a:pPr>
            <a:r>
              <a:rPr lang="en-US" sz="900" b="1" kern="0" spc="60" dirty="0">
                <a:solidFill>
                  <a:srgbClr val="3E6B55"/>
                </a:solidFill>
                <a:latin typeface="Calibri" pitchFamily="34" charset="0"/>
                <a:ea typeface="Calibri" pitchFamily="34" charset="-122"/>
                <a:cs typeface="Calibri" pitchFamily="34" charset="-120"/>
              </a:rPr>
              <a:t>Cost</a:t>
            </a:r>
            <a:endParaRPr lang="en-US" sz="900" dirty="0"/>
          </a:p>
        </p:txBody>
      </p:sp>
      <p:sp>
        <p:nvSpPr>
          <p:cNvPr id="6" name="Text 4"/>
          <p:cNvSpPr/>
          <p:nvPr/>
        </p:nvSpPr>
        <p:spPr>
          <a:xfrm>
            <a:off x="7507224" y="1572768"/>
            <a:ext cx="1033272" cy="256032"/>
          </a:xfrm>
          <a:prstGeom prst="rect">
            <a:avLst/>
          </a:prstGeom>
          <a:noFill/>
          <a:ln/>
        </p:spPr>
        <p:txBody>
          <a:bodyPr wrap="square" lIns="0" tIns="0" rIns="0" bIns="0" rtlCol="0" anchor="ctr"/>
          <a:lstStyle/>
          <a:p>
            <a:pPr marL="0" indent="0" algn="ctr">
              <a:buNone/>
            </a:pPr>
            <a:r>
              <a:rPr lang="en-US" sz="900" b="1" kern="0" spc="60" dirty="0">
                <a:solidFill>
                  <a:srgbClr val="3E6B55"/>
                </a:solidFill>
                <a:latin typeface="Calibri" pitchFamily="34" charset="0"/>
                <a:ea typeface="Calibri" pitchFamily="34" charset="-122"/>
                <a:cs typeface="Calibri" pitchFamily="34" charset="-120"/>
              </a:rPr>
              <a:t>Carbon</a:t>
            </a:r>
            <a:endParaRPr lang="en-US" sz="900" dirty="0"/>
          </a:p>
        </p:txBody>
      </p:sp>
      <p:sp>
        <p:nvSpPr>
          <p:cNvPr id="7" name="Text 5"/>
          <p:cNvSpPr/>
          <p:nvPr/>
        </p:nvSpPr>
        <p:spPr>
          <a:xfrm>
            <a:off x="8540496" y="1572768"/>
            <a:ext cx="1033272" cy="256032"/>
          </a:xfrm>
          <a:prstGeom prst="rect">
            <a:avLst/>
          </a:prstGeom>
          <a:noFill/>
          <a:ln/>
        </p:spPr>
        <p:txBody>
          <a:bodyPr wrap="square" lIns="0" tIns="0" rIns="0" bIns="0" rtlCol="0" anchor="ctr"/>
          <a:lstStyle/>
          <a:p>
            <a:pPr marL="0" indent="0" algn="ctr">
              <a:buNone/>
            </a:pPr>
            <a:r>
              <a:rPr lang="en-US" sz="900" b="1" kern="0" spc="60" dirty="0">
                <a:solidFill>
                  <a:srgbClr val="3E6B55"/>
                </a:solidFill>
                <a:latin typeface="Calibri" pitchFamily="34" charset="0"/>
                <a:ea typeface="Calibri" pitchFamily="34" charset="-122"/>
                <a:cs typeface="Calibri" pitchFamily="34" charset="-120"/>
              </a:rPr>
              <a:t>Multi-cloud</a:t>
            </a:r>
            <a:endParaRPr lang="en-US" sz="900" dirty="0"/>
          </a:p>
        </p:txBody>
      </p:sp>
      <p:sp>
        <p:nvSpPr>
          <p:cNvPr id="8" name="Text 6"/>
          <p:cNvSpPr/>
          <p:nvPr/>
        </p:nvSpPr>
        <p:spPr>
          <a:xfrm>
            <a:off x="9573768" y="1572768"/>
            <a:ext cx="1033272" cy="256032"/>
          </a:xfrm>
          <a:prstGeom prst="rect">
            <a:avLst/>
          </a:prstGeom>
          <a:noFill/>
          <a:ln/>
        </p:spPr>
        <p:txBody>
          <a:bodyPr wrap="square" lIns="0" tIns="0" rIns="0" bIns="0" rtlCol="0" anchor="ctr"/>
          <a:lstStyle/>
          <a:p>
            <a:pPr marL="0" indent="0" algn="ctr">
              <a:buNone/>
            </a:pPr>
            <a:r>
              <a:rPr lang="en-US" sz="900" b="1" kern="0" spc="60" dirty="0">
                <a:solidFill>
                  <a:srgbClr val="3E6B55"/>
                </a:solidFill>
                <a:latin typeface="Calibri" pitchFamily="34" charset="0"/>
                <a:ea typeface="Calibri" pitchFamily="34" charset="-122"/>
                <a:cs typeface="Calibri" pitchFamily="34" charset="-120"/>
              </a:rPr>
              <a:t>ML</a:t>
            </a:r>
            <a:endParaRPr lang="en-US" sz="900" dirty="0"/>
          </a:p>
        </p:txBody>
      </p:sp>
      <p:sp>
        <p:nvSpPr>
          <p:cNvPr id="9" name="Text 7"/>
          <p:cNvSpPr/>
          <p:nvPr/>
        </p:nvSpPr>
        <p:spPr>
          <a:xfrm>
            <a:off x="10607040" y="1572768"/>
            <a:ext cx="1033272" cy="256032"/>
          </a:xfrm>
          <a:prstGeom prst="rect">
            <a:avLst/>
          </a:prstGeom>
          <a:noFill/>
          <a:ln/>
        </p:spPr>
        <p:txBody>
          <a:bodyPr wrap="square" lIns="0" tIns="0" rIns="0" bIns="0" rtlCol="0" anchor="ctr"/>
          <a:lstStyle/>
          <a:p>
            <a:pPr marL="0" indent="0" algn="ctr">
              <a:buNone/>
            </a:pPr>
            <a:r>
              <a:rPr lang="en-US" sz="900" b="1" kern="0" spc="60" dirty="0">
                <a:solidFill>
                  <a:srgbClr val="3E6B55"/>
                </a:solidFill>
                <a:latin typeface="Calibri" pitchFamily="34" charset="0"/>
                <a:ea typeface="Calibri" pitchFamily="34" charset="-122"/>
                <a:cs typeface="Calibri" pitchFamily="34" charset="-120"/>
              </a:rPr>
              <a:t>Recommend</a:t>
            </a:r>
            <a:endParaRPr lang="en-US" sz="900" dirty="0"/>
          </a:p>
        </p:txBody>
      </p:sp>
      <p:sp>
        <p:nvSpPr>
          <p:cNvPr id="10" name="Text 8"/>
          <p:cNvSpPr/>
          <p:nvPr/>
        </p:nvSpPr>
        <p:spPr>
          <a:xfrm>
            <a:off x="566928" y="1572768"/>
            <a:ext cx="4709160" cy="256032"/>
          </a:xfrm>
          <a:prstGeom prst="rect">
            <a:avLst/>
          </a:prstGeom>
          <a:noFill/>
          <a:ln/>
        </p:spPr>
        <p:txBody>
          <a:bodyPr wrap="square" lIns="0" tIns="0" rIns="0" bIns="0" rtlCol="0" anchor="ctr"/>
          <a:lstStyle/>
          <a:p>
            <a:pPr marL="0" indent="0">
              <a:buNone/>
            </a:pPr>
            <a:r>
              <a:rPr lang="en-US" sz="900" b="1" kern="0" spc="110" dirty="0">
                <a:solidFill>
                  <a:srgbClr val="3E6B55"/>
                </a:solidFill>
                <a:latin typeface="Calibri" pitchFamily="34" charset="0"/>
                <a:ea typeface="Calibri" pitchFamily="34" charset="-122"/>
                <a:cs typeface="Calibri" pitchFamily="34" charset="-120"/>
              </a:rPr>
              <a:t>REVIEWED SYSTEM</a:t>
            </a:r>
            <a:endParaRPr lang="en-US" sz="900" dirty="0"/>
          </a:p>
        </p:txBody>
      </p:sp>
      <p:sp>
        <p:nvSpPr>
          <p:cNvPr id="11" name="Shape 9"/>
          <p:cNvSpPr/>
          <p:nvPr/>
        </p:nvSpPr>
        <p:spPr>
          <a:xfrm>
            <a:off x="420624" y="1883664"/>
            <a:ext cx="11228832" cy="278892"/>
          </a:xfrm>
          <a:prstGeom prst="rect">
            <a:avLst/>
          </a:prstGeom>
          <a:solidFill>
            <a:srgbClr val="F1F4F1"/>
          </a:solidFill>
          <a:ln w="12700">
            <a:solidFill>
              <a:srgbClr val="F1F4F1"/>
            </a:solidFill>
            <a:prstDash val="solid"/>
          </a:ln>
        </p:spPr>
        <p:txBody>
          <a:bodyPr/>
          <a:lstStyle/>
          <a:p>
            <a:endParaRPr lang="en-LK" dirty="0"/>
          </a:p>
        </p:txBody>
      </p:sp>
      <p:sp>
        <p:nvSpPr>
          <p:cNvPr id="12" name="Text 10"/>
          <p:cNvSpPr/>
          <p:nvPr/>
        </p:nvSpPr>
        <p:spPr>
          <a:xfrm>
            <a:off x="566928" y="1883664"/>
            <a:ext cx="4709160" cy="278892"/>
          </a:xfrm>
          <a:prstGeom prst="rect">
            <a:avLst/>
          </a:prstGeom>
          <a:noFill/>
          <a:ln/>
        </p:spPr>
        <p:txBody>
          <a:bodyPr wrap="square" lIns="0" tIns="0" rIns="0" bIns="0" rtlCol="0" anchor="ctr"/>
          <a:lstStyle/>
          <a:p>
            <a:pPr marL="0" indent="0">
              <a:buNone/>
            </a:pPr>
            <a:r>
              <a:rPr lang="en-US" sz="850" dirty="0">
                <a:solidFill>
                  <a:srgbClr val="96A29B"/>
                </a:solidFill>
                <a:latin typeface="Calibri" pitchFamily="34" charset="0"/>
                <a:ea typeface="Calibri" pitchFamily="34" charset="-122"/>
                <a:cs typeface="Calibri" pitchFamily="34" charset="-120"/>
              </a:rPr>
              <a:t>[1]  </a:t>
            </a:r>
            <a:r>
              <a:rPr lang="en-US" sz="950" dirty="0">
                <a:solidFill>
                  <a:srgbClr val="16261E"/>
                </a:solidFill>
                <a:latin typeface="Calibri" pitchFamily="34" charset="0"/>
                <a:ea typeface="Calibri" pitchFamily="34" charset="-122"/>
                <a:cs typeface="Calibri" pitchFamily="34" charset="-120"/>
              </a:rPr>
              <a:t>Cloud-Native Data Engineering for Big Data Analytics</a:t>
            </a:r>
            <a:r>
              <a:rPr lang="en-US" sz="800" dirty="0">
                <a:solidFill>
                  <a:srgbClr val="96A29B"/>
                </a:solidFill>
                <a:latin typeface="Calibri" pitchFamily="34" charset="0"/>
                <a:ea typeface="Calibri" pitchFamily="34" charset="-122"/>
                <a:cs typeface="Calibri" pitchFamily="34" charset="-120"/>
              </a:rPr>
              <a:t>   Gupta et al., InCACCT 2025</a:t>
            </a:r>
            <a:endParaRPr lang="en-US" sz="850" dirty="0"/>
          </a:p>
        </p:txBody>
      </p:sp>
      <p:sp>
        <p:nvSpPr>
          <p:cNvPr id="13" name="Text 11"/>
          <p:cNvSpPr/>
          <p:nvPr/>
        </p:nvSpPr>
        <p:spPr>
          <a:xfrm>
            <a:off x="5440680" y="1883664"/>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6473952" y="1883664"/>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7507224" y="1883664"/>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8540496" y="1883664"/>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73768" y="1883664"/>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10607040" y="1883664"/>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566928" y="2162556"/>
            <a:ext cx="4709160" cy="278892"/>
          </a:xfrm>
          <a:prstGeom prst="rect">
            <a:avLst/>
          </a:prstGeom>
          <a:noFill/>
          <a:ln/>
        </p:spPr>
        <p:txBody>
          <a:bodyPr wrap="square" lIns="0" tIns="0" rIns="0" bIns="0" rtlCol="0" anchor="ctr"/>
          <a:lstStyle/>
          <a:p>
            <a:pPr marL="0" indent="0">
              <a:buNone/>
            </a:pPr>
            <a:r>
              <a:rPr lang="en-US" sz="850" dirty="0">
                <a:solidFill>
                  <a:srgbClr val="96A29B"/>
                </a:solidFill>
                <a:latin typeface="Calibri" pitchFamily="34" charset="0"/>
                <a:ea typeface="Calibri" pitchFamily="34" charset="-122"/>
                <a:cs typeface="Calibri" pitchFamily="34" charset="-120"/>
              </a:rPr>
              <a:t>[2]  </a:t>
            </a:r>
            <a:r>
              <a:rPr lang="en-US" sz="950" dirty="0">
                <a:solidFill>
                  <a:srgbClr val="16261E"/>
                </a:solidFill>
                <a:latin typeface="Calibri" pitchFamily="34" charset="0"/>
                <a:ea typeface="Calibri" pitchFamily="34" charset="-122"/>
                <a:cs typeface="Calibri" pitchFamily="34" charset="-120"/>
              </a:rPr>
              <a:t>Autonomous Workload Right-Sizing for Multi-Cloud Cost Optimization</a:t>
            </a:r>
            <a:r>
              <a:rPr lang="en-US" sz="800" dirty="0">
                <a:solidFill>
                  <a:srgbClr val="96A29B"/>
                </a:solidFill>
                <a:latin typeface="Calibri" pitchFamily="34" charset="0"/>
                <a:ea typeface="Calibri" pitchFamily="34" charset="-122"/>
                <a:cs typeface="Calibri" pitchFamily="34" charset="-120"/>
              </a:rPr>
              <a:t>   Mehta, ICAISET 2026</a:t>
            </a:r>
            <a:endParaRPr lang="en-US" sz="850" dirty="0"/>
          </a:p>
        </p:txBody>
      </p:sp>
      <p:sp>
        <p:nvSpPr>
          <p:cNvPr id="20" name="Text 18"/>
          <p:cNvSpPr/>
          <p:nvPr/>
        </p:nvSpPr>
        <p:spPr>
          <a:xfrm>
            <a:off x="5440680" y="2162556"/>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6473952" y="2162556"/>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7507224" y="2162556"/>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23" name="Text 21"/>
          <p:cNvSpPr/>
          <p:nvPr/>
        </p:nvSpPr>
        <p:spPr>
          <a:xfrm>
            <a:off x="8540496" y="2162556"/>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9573768" y="2162556"/>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25" name="Text 23"/>
          <p:cNvSpPr/>
          <p:nvPr/>
        </p:nvSpPr>
        <p:spPr>
          <a:xfrm>
            <a:off x="10607040" y="2162556"/>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420624" y="2441448"/>
            <a:ext cx="11228832" cy="278892"/>
          </a:xfrm>
          <a:prstGeom prst="rect">
            <a:avLst/>
          </a:prstGeom>
          <a:solidFill>
            <a:srgbClr val="F1F4F1"/>
          </a:solidFill>
          <a:ln w="12700">
            <a:solidFill>
              <a:srgbClr val="F1F4F1"/>
            </a:solidFill>
            <a:prstDash val="solid"/>
          </a:ln>
        </p:spPr>
        <p:txBody>
          <a:bodyPr/>
          <a:lstStyle/>
          <a:p>
            <a:endParaRPr lang="en-LK"/>
          </a:p>
        </p:txBody>
      </p:sp>
      <p:sp>
        <p:nvSpPr>
          <p:cNvPr id="27" name="Text 25"/>
          <p:cNvSpPr/>
          <p:nvPr/>
        </p:nvSpPr>
        <p:spPr>
          <a:xfrm>
            <a:off x="566928" y="2441448"/>
            <a:ext cx="4709160" cy="278892"/>
          </a:xfrm>
          <a:prstGeom prst="rect">
            <a:avLst/>
          </a:prstGeom>
          <a:noFill/>
          <a:ln/>
        </p:spPr>
        <p:txBody>
          <a:bodyPr wrap="square" lIns="0" tIns="0" rIns="0" bIns="0" rtlCol="0" anchor="ctr"/>
          <a:lstStyle/>
          <a:p>
            <a:pPr marL="0" indent="0">
              <a:buNone/>
            </a:pPr>
            <a:r>
              <a:rPr lang="en-US" sz="850" dirty="0">
                <a:solidFill>
                  <a:srgbClr val="96A29B"/>
                </a:solidFill>
                <a:latin typeface="Calibri" pitchFamily="34" charset="0"/>
                <a:ea typeface="Calibri" pitchFamily="34" charset="-122"/>
                <a:cs typeface="Calibri" pitchFamily="34" charset="-120"/>
              </a:rPr>
              <a:t>[3]  </a:t>
            </a:r>
            <a:r>
              <a:rPr lang="en-US" sz="950" dirty="0">
                <a:solidFill>
                  <a:srgbClr val="16261E"/>
                </a:solidFill>
                <a:latin typeface="Calibri" pitchFamily="34" charset="0"/>
                <a:ea typeface="Calibri" pitchFamily="34" charset="-122"/>
                <a:cs typeface="Calibri" pitchFamily="34" charset="-120"/>
              </a:rPr>
              <a:t>Cloud-Based Cost Calculator for Multi-Provider Comparison</a:t>
            </a:r>
            <a:r>
              <a:rPr lang="en-US" sz="800" dirty="0">
                <a:solidFill>
                  <a:srgbClr val="96A29B"/>
                </a:solidFill>
                <a:latin typeface="Calibri" pitchFamily="34" charset="0"/>
                <a:ea typeface="Calibri" pitchFamily="34" charset="-122"/>
                <a:cs typeface="Calibri" pitchFamily="34" charset="-120"/>
              </a:rPr>
              <a:t>   Sharma et al., NELEX 2026</a:t>
            </a:r>
            <a:endParaRPr lang="en-US" sz="850" dirty="0"/>
          </a:p>
        </p:txBody>
      </p:sp>
      <p:sp>
        <p:nvSpPr>
          <p:cNvPr id="28" name="Text 26"/>
          <p:cNvSpPr/>
          <p:nvPr/>
        </p:nvSpPr>
        <p:spPr>
          <a:xfrm>
            <a:off x="5440680" y="2441448"/>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29" name="Text 27"/>
          <p:cNvSpPr/>
          <p:nvPr/>
        </p:nvSpPr>
        <p:spPr>
          <a:xfrm>
            <a:off x="6473952" y="2441448"/>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30" name="Text 28"/>
          <p:cNvSpPr/>
          <p:nvPr/>
        </p:nvSpPr>
        <p:spPr>
          <a:xfrm>
            <a:off x="7507224" y="2441448"/>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31" name="Text 29"/>
          <p:cNvSpPr/>
          <p:nvPr/>
        </p:nvSpPr>
        <p:spPr>
          <a:xfrm>
            <a:off x="8540496" y="2441448"/>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32" name="Text 30"/>
          <p:cNvSpPr/>
          <p:nvPr/>
        </p:nvSpPr>
        <p:spPr>
          <a:xfrm>
            <a:off x="9573768" y="2441448"/>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33" name="Text 31"/>
          <p:cNvSpPr/>
          <p:nvPr/>
        </p:nvSpPr>
        <p:spPr>
          <a:xfrm>
            <a:off x="10607040" y="2441448"/>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34" name="Text 32"/>
          <p:cNvSpPr/>
          <p:nvPr/>
        </p:nvSpPr>
        <p:spPr>
          <a:xfrm>
            <a:off x="566928" y="2720340"/>
            <a:ext cx="4709160" cy="278892"/>
          </a:xfrm>
          <a:prstGeom prst="rect">
            <a:avLst/>
          </a:prstGeom>
          <a:noFill/>
          <a:ln/>
        </p:spPr>
        <p:txBody>
          <a:bodyPr wrap="square" lIns="0" tIns="0" rIns="0" bIns="0" rtlCol="0" anchor="ctr"/>
          <a:lstStyle/>
          <a:p>
            <a:pPr marL="0" indent="0">
              <a:buNone/>
            </a:pPr>
            <a:r>
              <a:rPr lang="en-US" sz="850" dirty="0">
                <a:solidFill>
                  <a:srgbClr val="96A29B"/>
                </a:solidFill>
                <a:latin typeface="Calibri" pitchFamily="34" charset="0"/>
                <a:ea typeface="Calibri" pitchFamily="34" charset="-122"/>
                <a:cs typeface="Calibri" pitchFamily="34" charset="-120"/>
              </a:rPr>
              <a:t>[4]  </a:t>
            </a:r>
            <a:r>
              <a:rPr lang="en-US" sz="950" dirty="0">
                <a:solidFill>
                  <a:srgbClr val="16261E"/>
                </a:solidFill>
                <a:latin typeface="Calibri" pitchFamily="34" charset="0"/>
                <a:ea typeface="Calibri" pitchFamily="34" charset="-122"/>
                <a:cs typeface="Calibri" pitchFamily="34" charset="-120"/>
              </a:rPr>
              <a:t>Carbon-Aware AI Workload Scheduling with Renewable Energy</a:t>
            </a:r>
            <a:r>
              <a:rPr lang="en-US" sz="800" dirty="0">
                <a:solidFill>
                  <a:srgbClr val="96A29B"/>
                </a:solidFill>
                <a:latin typeface="Calibri" pitchFamily="34" charset="0"/>
                <a:ea typeface="Calibri" pitchFamily="34" charset="-122"/>
                <a:cs typeface="Calibri" pitchFamily="34" charset="-120"/>
              </a:rPr>
              <a:t>   Chopdar et al., ICECONF 2025</a:t>
            </a:r>
            <a:endParaRPr lang="en-US" sz="850" dirty="0"/>
          </a:p>
        </p:txBody>
      </p:sp>
      <p:sp>
        <p:nvSpPr>
          <p:cNvPr id="35" name="Text 33"/>
          <p:cNvSpPr/>
          <p:nvPr/>
        </p:nvSpPr>
        <p:spPr>
          <a:xfrm>
            <a:off x="5440680" y="2720340"/>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36" name="Text 34"/>
          <p:cNvSpPr/>
          <p:nvPr/>
        </p:nvSpPr>
        <p:spPr>
          <a:xfrm>
            <a:off x="6473952" y="2720340"/>
            <a:ext cx="1033272" cy="278892"/>
          </a:xfrm>
          <a:prstGeom prst="rect">
            <a:avLst/>
          </a:prstGeom>
          <a:noFill/>
          <a:ln/>
        </p:spPr>
        <p:txBody>
          <a:bodyPr wrap="square" lIns="0" tIns="0" rIns="0" bIns="0" rtlCol="0" anchor="ctr"/>
          <a:lstStyle/>
          <a:p>
            <a:pPr marL="0" indent="0" algn="ctr">
              <a:buNone/>
            </a:pPr>
            <a:r>
              <a:rPr lang="en-US" sz="1100" dirty="0">
                <a:solidFill>
                  <a:srgbClr val="5F6B64"/>
                </a:solidFill>
                <a:latin typeface="Calibri" pitchFamily="34" charset="0"/>
                <a:ea typeface="Calibri" pitchFamily="34" charset="-122"/>
                <a:cs typeface="Calibri" pitchFamily="34" charset="-120"/>
              </a:rPr>
              <a:t>~</a:t>
            </a:r>
            <a:endParaRPr lang="en-US" sz="1100" dirty="0"/>
          </a:p>
        </p:txBody>
      </p:sp>
      <p:sp>
        <p:nvSpPr>
          <p:cNvPr id="37" name="Text 35"/>
          <p:cNvSpPr/>
          <p:nvPr/>
        </p:nvSpPr>
        <p:spPr>
          <a:xfrm>
            <a:off x="7507224" y="2720340"/>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38" name="Text 36"/>
          <p:cNvSpPr/>
          <p:nvPr/>
        </p:nvSpPr>
        <p:spPr>
          <a:xfrm>
            <a:off x="8540496" y="2720340"/>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39" name="Text 37"/>
          <p:cNvSpPr/>
          <p:nvPr/>
        </p:nvSpPr>
        <p:spPr>
          <a:xfrm>
            <a:off x="9573768" y="2720340"/>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40" name="Text 38"/>
          <p:cNvSpPr/>
          <p:nvPr/>
        </p:nvSpPr>
        <p:spPr>
          <a:xfrm>
            <a:off x="10607040" y="2720340"/>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41" name="Shape 39"/>
          <p:cNvSpPr/>
          <p:nvPr/>
        </p:nvSpPr>
        <p:spPr>
          <a:xfrm>
            <a:off x="420624" y="2999232"/>
            <a:ext cx="11228832" cy="278892"/>
          </a:xfrm>
          <a:prstGeom prst="rect">
            <a:avLst/>
          </a:prstGeom>
          <a:solidFill>
            <a:srgbClr val="F1F4F1"/>
          </a:solidFill>
          <a:ln w="12700">
            <a:solidFill>
              <a:srgbClr val="F1F4F1"/>
            </a:solidFill>
            <a:prstDash val="solid"/>
          </a:ln>
        </p:spPr>
        <p:txBody>
          <a:bodyPr/>
          <a:lstStyle/>
          <a:p>
            <a:endParaRPr lang="en-LK"/>
          </a:p>
        </p:txBody>
      </p:sp>
      <p:sp>
        <p:nvSpPr>
          <p:cNvPr id="42" name="Text 40"/>
          <p:cNvSpPr/>
          <p:nvPr/>
        </p:nvSpPr>
        <p:spPr>
          <a:xfrm>
            <a:off x="566928" y="2999232"/>
            <a:ext cx="4709160" cy="278892"/>
          </a:xfrm>
          <a:prstGeom prst="rect">
            <a:avLst/>
          </a:prstGeom>
          <a:noFill/>
          <a:ln/>
        </p:spPr>
        <p:txBody>
          <a:bodyPr wrap="square" lIns="0" tIns="0" rIns="0" bIns="0" rtlCol="0" anchor="ctr"/>
          <a:lstStyle/>
          <a:p>
            <a:pPr marL="0" indent="0">
              <a:buNone/>
            </a:pPr>
            <a:r>
              <a:rPr lang="en-US" sz="850" dirty="0">
                <a:solidFill>
                  <a:srgbClr val="96A29B"/>
                </a:solidFill>
                <a:latin typeface="Calibri" pitchFamily="34" charset="0"/>
                <a:ea typeface="Calibri" pitchFamily="34" charset="-122"/>
                <a:cs typeface="Calibri" pitchFamily="34" charset="-120"/>
              </a:rPr>
              <a:t>[5]  </a:t>
            </a:r>
            <a:r>
              <a:rPr lang="en-US" sz="950" dirty="0">
                <a:solidFill>
                  <a:srgbClr val="16261E"/>
                </a:solidFill>
                <a:latin typeface="Calibri" pitchFamily="34" charset="0"/>
                <a:ea typeface="Calibri" pitchFamily="34" charset="-122"/>
                <a:cs typeface="Calibri" pitchFamily="34" charset="-120"/>
              </a:rPr>
              <a:t>Towards Carbon-Aware DevOps</a:t>
            </a:r>
            <a:r>
              <a:rPr lang="en-US" sz="800" dirty="0">
                <a:solidFill>
                  <a:srgbClr val="96A29B"/>
                </a:solidFill>
                <a:latin typeface="Calibri" pitchFamily="34" charset="0"/>
                <a:ea typeface="Calibri" pitchFamily="34" charset="-122"/>
                <a:cs typeface="Calibri" pitchFamily="34" charset="-120"/>
              </a:rPr>
              <a:t>   M. H. L et al., IITCEE 2026</a:t>
            </a:r>
            <a:endParaRPr lang="en-US" sz="850" dirty="0"/>
          </a:p>
        </p:txBody>
      </p:sp>
      <p:sp>
        <p:nvSpPr>
          <p:cNvPr id="43" name="Text 41"/>
          <p:cNvSpPr/>
          <p:nvPr/>
        </p:nvSpPr>
        <p:spPr>
          <a:xfrm>
            <a:off x="5440680" y="2999232"/>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44" name="Text 42"/>
          <p:cNvSpPr/>
          <p:nvPr/>
        </p:nvSpPr>
        <p:spPr>
          <a:xfrm>
            <a:off x="6473952" y="2999232"/>
            <a:ext cx="1033272" cy="278892"/>
          </a:xfrm>
          <a:prstGeom prst="rect">
            <a:avLst/>
          </a:prstGeom>
          <a:noFill/>
          <a:ln/>
        </p:spPr>
        <p:txBody>
          <a:bodyPr wrap="square" lIns="0" tIns="0" rIns="0" bIns="0" rtlCol="0" anchor="ctr"/>
          <a:lstStyle/>
          <a:p>
            <a:pPr marL="0" indent="0" algn="ctr">
              <a:buNone/>
            </a:pPr>
            <a:r>
              <a:rPr lang="en-US" sz="1100" dirty="0">
                <a:solidFill>
                  <a:srgbClr val="5F6B64"/>
                </a:solidFill>
                <a:latin typeface="Calibri" pitchFamily="34" charset="0"/>
                <a:ea typeface="Calibri" pitchFamily="34" charset="-122"/>
                <a:cs typeface="Calibri" pitchFamily="34" charset="-120"/>
              </a:rPr>
              <a:t>~</a:t>
            </a:r>
            <a:endParaRPr lang="en-US" sz="1100" dirty="0"/>
          </a:p>
        </p:txBody>
      </p:sp>
      <p:sp>
        <p:nvSpPr>
          <p:cNvPr id="45" name="Text 43"/>
          <p:cNvSpPr/>
          <p:nvPr/>
        </p:nvSpPr>
        <p:spPr>
          <a:xfrm>
            <a:off x="7507224" y="2999232"/>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46" name="Text 44"/>
          <p:cNvSpPr/>
          <p:nvPr/>
        </p:nvSpPr>
        <p:spPr>
          <a:xfrm>
            <a:off x="8540496" y="2999232"/>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47" name="Text 45"/>
          <p:cNvSpPr/>
          <p:nvPr/>
        </p:nvSpPr>
        <p:spPr>
          <a:xfrm>
            <a:off x="9573768" y="2999232"/>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48" name="Text 46"/>
          <p:cNvSpPr/>
          <p:nvPr/>
        </p:nvSpPr>
        <p:spPr>
          <a:xfrm>
            <a:off x="10607040" y="2999232"/>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49" name="Text 47"/>
          <p:cNvSpPr/>
          <p:nvPr/>
        </p:nvSpPr>
        <p:spPr>
          <a:xfrm>
            <a:off x="566928" y="3278124"/>
            <a:ext cx="4709160" cy="278892"/>
          </a:xfrm>
          <a:prstGeom prst="rect">
            <a:avLst/>
          </a:prstGeom>
          <a:noFill/>
          <a:ln/>
        </p:spPr>
        <p:txBody>
          <a:bodyPr wrap="square" lIns="0" tIns="0" rIns="0" bIns="0" rtlCol="0" anchor="ctr"/>
          <a:lstStyle/>
          <a:p>
            <a:pPr marL="0" indent="0">
              <a:buNone/>
            </a:pPr>
            <a:r>
              <a:rPr lang="en-US" sz="850" dirty="0">
                <a:solidFill>
                  <a:srgbClr val="96A29B"/>
                </a:solidFill>
                <a:latin typeface="Calibri" pitchFamily="34" charset="0"/>
                <a:ea typeface="Calibri" pitchFamily="34" charset="-122"/>
                <a:cs typeface="Calibri" pitchFamily="34" charset="-120"/>
              </a:rPr>
              <a:t>[6]  </a:t>
            </a:r>
            <a:r>
              <a:rPr lang="en-US" sz="950" dirty="0">
                <a:solidFill>
                  <a:srgbClr val="16261E"/>
                </a:solidFill>
                <a:latin typeface="Calibri" pitchFamily="34" charset="0"/>
                <a:ea typeface="Calibri" pitchFamily="34" charset="-122"/>
                <a:cs typeface="Calibri" pitchFamily="34" charset="-120"/>
              </a:rPr>
              <a:t>Workload Shifting Based on Low Carbon Intensity Periods</a:t>
            </a:r>
            <a:r>
              <a:rPr lang="en-US" sz="800" dirty="0">
                <a:solidFill>
                  <a:srgbClr val="96A29B"/>
                </a:solidFill>
                <a:latin typeface="Calibri" pitchFamily="34" charset="0"/>
                <a:ea typeface="Calibri" pitchFamily="34" charset="-122"/>
                <a:cs typeface="Calibri" pitchFamily="34" charset="-120"/>
              </a:rPr>
              <a:t>   Tripathi et al., IEEE BigData 2023</a:t>
            </a:r>
            <a:endParaRPr lang="en-US" sz="850" dirty="0"/>
          </a:p>
        </p:txBody>
      </p:sp>
      <p:sp>
        <p:nvSpPr>
          <p:cNvPr id="50" name="Text 48"/>
          <p:cNvSpPr/>
          <p:nvPr/>
        </p:nvSpPr>
        <p:spPr>
          <a:xfrm>
            <a:off x="5440680" y="3278124"/>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51" name="Text 49"/>
          <p:cNvSpPr/>
          <p:nvPr/>
        </p:nvSpPr>
        <p:spPr>
          <a:xfrm>
            <a:off x="6473952" y="3278124"/>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52" name="Text 50"/>
          <p:cNvSpPr/>
          <p:nvPr/>
        </p:nvSpPr>
        <p:spPr>
          <a:xfrm>
            <a:off x="7507224" y="3278124"/>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53" name="Text 51"/>
          <p:cNvSpPr/>
          <p:nvPr/>
        </p:nvSpPr>
        <p:spPr>
          <a:xfrm>
            <a:off x="8540496" y="3278124"/>
            <a:ext cx="1033272" cy="278892"/>
          </a:xfrm>
          <a:prstGeom prst="rect">
            <a:avLst/>
          </a:prstGeom>
          <a:noFill/>
          <a:ln/>
        </p:spPr>
        <p:txBody>
          <a:bodyPr wrap="square" lIns="0" tIns="0" rIns="0" bIns="0" rtlCol="0" anchor="ctr"/>
          <a:lstStyle/>
          <a:p>
            <a:pPr marL="0" indent="0" algn="ctr">
              <a:buNone/>
            </a:pPr>
            <a:r>
              <a:rPr lang="en-US" sz="1100" dirty="0">
                <a:solidFill>
                  <a:srgbClr val="5F6B64"/>
                </a:solidFill>
                <a:latin typeface="Calibri" pitchFamily="34" charset="0"/>
                <a:ea typeface="Calibri" pitchFamily="34" charset="-122"/>
                <a:cs typeface="Calibri" pitchFamily="34" charset="-120"/>
              </a:rPr>
              <a:t>~</a:t>
            </a:r>
            <a:endParaRPr lang="en-US" sz="1100" dirty="0"/>
          </a:p>
        </p:txBody>
      </p:sp>
      <p:sp>
        <p:nvSpPr>
          <p:cNvPr id="54" name="Text 52"/>
          <p:cNvSpPr/>
          <p:nvPr/>
        </p:nvSpPr>
        <p:spPr>
          <a:xfrm>
            <a:off x="9573768" y="3278124"/>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55" name="Text 53"/>
          <p:cNvSpPr/>
          <p:nvPr/>
        </p:nvSpPr>
        <p:spPr>
          <a:xfrm>
            <a:off x="10607040" y="3278124"/>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56" name="Shape 54"/>
          <p:cNvSpPr/>
          <p:nvPr/>
        </p:nvSpPr>
        <p:spPr>
          <a:xfrm>
            <a:off x="420624" y="3557016"/>
            <a:ext cx="11228832" cy="278892"/>
          </a:xfrm>
          <a:prstGeom prst="rect">
            <a:avLst/>
          </a:prstGeom>
          <a:solidFill>
            <a:srgbClr val="F1F4F1"/>
          </a:solidFill>
          <a:ln w="12700">
            <a:solidFill>
              <a:srgbClr val="F1F4F1"/>
            </a:solidFill>
            <a:prstDash val="solid"/>
          </a:ln>
        </p:spPr>
        <p:txBody>
          <a:bodyPr/>
          <a:lstStyle/>
          <a:p>
            <a:endParaRPr lang="en-LK"/>
          </a:p>
        </p:txBody>
      </p:sp>
      <p:sp>
        <p:nvSpPr>
          <p:cNvPr id="57" name="Text 55"/>
          <p:cNvSpPr/>
          <p:nvPr/>
        </p:nvSpPr>
        <p:spPr>
          <a:xfrm>
            <a:off x="566928" y="3557016"/>
            <a:ext cx="4709160" cy="278892"/>
          </a:xfrm>
          <a:prstGeom prst="rect">
            <a:avLst/>
          </a:prstGeom>
          <a:noFill/>
          <a:ln/>
        </p:spPr>
        <p:txBody>
          <a:bodyPr wrap="square" lIns="0" tIns="0" rIns="0" bIns="0" rtlCol="0" anchor="ctr"/>
          <a:lstStyle/>
          <a:p>
            <a:pPr marL="0" indent="0">
              <a:buNone/>
            </a:pPr>
            <a:r>
              <a:rPr lang="en-US" sz="850" dirty="0">
                <a:solidFill>
                  <a:srgbClr val="96A29B"/>
                </a:solidFill>
                <a:latin typeface="Calibri" pitchFamily="34" charset="0"/>
                <a:ea typeface="Calibri" pitchFamily="34" charset="-122"/>
                <a:cs typeface="Calibri" pitchFamily="34" charset="-120"/>
              </a:rPr>
              <a:t>[7]  </a:t>
            </a:r>
            <a:r>
              <a:rPr lang="en-US" sz="950" dirty="0">
                <a:solidFill>
                  <a:srgbClr val="16261E"/>
                </a:solidFill>
                <a:latin typeface="Calibri" pitchFamily="34" charset="0"/>
                <a:ea typeface="Calibri" pitchFamily="34" charset="-122"/>
                <a:cs typeface="Calibri" pitchFamily="34" charset="-120"/>
              </a:rPr>
              <a:t>Creating an Energy-Aware Cloud Platform</a:t>
            </a:r>
            <a:r>
              <a:rPr lang="en-US" sz="800" dirty="0">
                <a:solidFill>
                  <a:srgbClr val="96A29B"/>
                </a:solidFill>
                <a:latin typeface="Calibri" pitchFamily="34" charset="0"/>
                <a:ea typeface="Calibri" pitchFamily="34" charset="-122"/>
                <a:cs typeface="Calibri" pitchFamily="34" charset="-120"/>
              </a:rPr>
              <a:t>   Kosuri et al., ICONAT 2025</a:t>
            </a:r>
            <a:endParaRPr lang="en-US" sz="850" dirty="0"/>
          </a:p>
        </p:txBody>
      </p:sp>
      <p:sp>
        <p:nvSpPr>
          <p:cNvPr id="58" name="Text 56"/>
          <p:cNvSpPr/>
          <p:nvPr/>
        </p:nvSpPr>
        <p:spPr>
          <a:xfrm>
            <a:off x="5440680" y="3557016"/>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59" name="Text 57"/>
          <p:cNvSpPr/>
          <p:nvPr/>
        </p:nvSpPr>
        <p:spPr>
          <a:xfrm>
            <a:off x="6473952" y="3557016"/>
            <a:ext cx="1033272" cy="278892"/>
          </a:xfrm>
          <a:prstGeom prst="rect">
            <a:avLst/>
          </a:prstGeom>
          <a:noFill/>
          <a:ln/>
        </p:spPr>
        <p:txBody>
          <a:bodyPr wrap="square" lIns="0" tIns="0" rIns="0" bIns="0" rtlCol="0" anchor="ctr"/>
          <a:lstStyle/>
          <a:p>
            <a:pPr marL="0" indent="0" algn="ctr">
              <a:buNone/>
            </a:pPr>
            <a:r>
              <a:rPr lang="en-US" sz="1100" dirty="0">
                <a:solidFill>
                  <a:srgbClr val="5F6B64"/>
                </a:solidFill>
                <a:latin typeface="Calibri" pitchFamily="34" charset="0"/>
                <a:ea typeface="Calibri" pitchFamily="34" charset="-122"/>
                <a:cs typeface="Calibri" pitchFamily="34" charset="-120"/>
              </a:rPr>
              <a:t>~</a:t>
            </a:r>
            <a:endParaRPr lang="en-US" sz="1100" dirty="0"/>
          </a:p>
        </p:txBody>
      </p:sp>
      <p:sp>
        <p:nvSpPr>
          <p:cNvPr id="60" name="Text 58"/>
          <p:cNvSpPr/>
          <p:nvPr/>
        </p:nvSpPr>
        <p:spPr>
          <a:xfrm>
            <a:off x="7507224" y="3557016"/>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61" name="Text 59"/>
          <p:cNvSpPr/>
          <p:nvPr/>
        </p:nvSpPr>
        <p:spPr>
          <a:xfrm>
            <a:off x="8540496" y="3557016"/>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62" name="Text 60"/>
          <p:cNvSpPr/>
          <p:nvPr/>
        </p:nvSpPr>
        <p:spPr>
          <a:xfrm>
            <a:off x="9573768" y="3557016"/>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63" name="Text 61"/>
          <p:cNvSpPr/>
          <p:nvPr/>
        </p:nvSpPr>
        <p:spPr>
          <a:xfrm>
            <a:off x="10607040" y="3557016"/>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64" name="Text 62"/>
          <p:cNvSpPr/>
          <p:nvPr/>
        </p:nvSpPr>
        <p:spPr>
          <a:xfrm>
            <a:off x="566928" y="3835908"/>
            <a:ext cx="4709160" cy="278892"/>
          </a:xfrm>
          <a:prstGeom prst="rect">
            <a:avLst/>
          </a:prstGeom>
          <a:noFill/>
          <a:ln/>
        </p:spPr>
        <p:txBody>
          <a:bodyPr wrap="square" lIns="0" tIns="0" rIns="0" bIns="0" rtlCol="0" anchor="ctr"/>
          <a:lstStyle/>
          <a:p>
            <a:pPr marL="0" indent="0">
              <a:buNone/>
            </a:pPr>
            <a:r>
              <a:rPr lang="en-US" sz="850" dirty="0">
                <a:solidFill>
                  <a:srgbClr val="96A29B"/>
                </a:solidFill>
                <a:latin typeface="Calibri" pitchFamily="34" charset="0"/>
                <a:ea typeface="Calibri" pitchFamily="34" charset="-122"/>
                <a:cs typeface="Calibri" pitchFamily="34" charset="-120"/>
              </a:rPr>
              <a:t>[8]  </a:t>
            </a:r>
            <a:r>
              <a:rPr lang="en-US" sz="950" dirty="0">
                <a:solidFill>
                  <a:srgbClr val="16261E"/>
                </a:solidFill>
                <a:latin typeface="Calibri" pitchFamily="34" charset="0"/>
                <a:ea typeface="Calibri" pitchFamily="34" charset="-122"/>
                <a:cs typeface="Calibri" pitchFamily="34" charset="-120"/>
              </a:rPr>
              <a:t>Intelligent Assessment Model of Technological Progress on Carbon</a:t>
            </a:r>
            <a:r>
              <a:rPr lang="en-US" sz="800" dirty="0">
                <a:solidFill>
                  <a:srgbClr val="96A29B"/>
                </a:solidFill>
                <a:latin typeface="Calibri" pitchFamily="34" charset="0"/>
                <a:ea typeface="Calibri" pitchFamily="34" charset="-122"/>
                <a:cs typeface="Calibri" pitchFamily="34" charset="-120"/>
              </a:rPr>
              <a:t>   Zheng, ICDSCA 2021</a:t>
            </a:r>
            <a:endParaRPr lang="en-US" sz="850" dirty="0"/>
          </a:p>
        </p:txBody>
      </p:sp>
      <p:sp>
        <p:nvSpPr>
          <p:cNvPr id="65" name="Text 63"/>
          <p:cNvSpPr/>
          <p:nvPr/>
        </p:nvSpPr>
        <p:spPr>
          <a:xfrm>
            <a:off x="5440680" y="3835908"/>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66" name="Text 64"/>
          <p:cNvSpPr/>
          <p:nvPr/>
        </p:nvSpPr>
        <p:spPr>
          <a:xfrm>
            <a:off x="6473952" y="3835908"/>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67" name="Text 65"/>
          <p:cNvSpPr/>
          <p:nvPr/>
        </p:nvSpPr>
        <p:spPr>
          <a:xfrm>
            <a:off x="7507224" y="3835908"/>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68" name="Text 66"/>
          <p:cNvSpPr/>
          <p:nvPr/>
        </p:nvSpPr>
        <p:spPr>
          <a:xfrm>
            <a:off x="8540496" y="3835908"/>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69" name="Text 67"/>
          <p:cNvSpPr/>
          <p:nvPr/>
        </p:nvSpPr>
        <p:spPr>
          <a:xfrm>
            <a:off x="9573768" y="3835908"/>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70" name="Text 68"/>
          <p:cNvSpPr/>
          <p:nvPr/>
        </p:nvSpPr>
        <p:spPr>
          <a:xfrm>
            <a:off x="10607040" y="3835908"/>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71" name="Shape 69"/>
          <p:cNvSpPr/>
          <p:nvPr/>
        </p:nvSpPr>
        <p:spPr>
          <a:xfrm>
            <a:off x="420624" y="4114800"/>
            <a:ext cx="11228832" cy="278892"/>
          </a:xfrm>
          <a:prstGeom prst="rect">
            <a:avLst/>
          </a:prstGeom>
          <a:solidFill>
            <a:srgbClr val="F1F4F1"/>
          </a:solidFill>
          <a:ln w="12700">
            <a:solidFill>
              <a:srgbClr val="F1F4F1"/>
            </a:solidFill>
            <a:prstDash val="solid"/>
          </a:ln>
        </p:spPr>
        <p:txBody>
          <a:bodyPr/>
          <a:lstStyle/>
          <a:p>
            <a:endParaRPr lang="en-LK"/>
          </a:p>
        </p:txBody>
      </p:sp>
      <p:sp>
        <p:nvSpPr>
          <p:cNvPr id="72" name="Text 70"/>
          <p:cNvSpPr/>
          <p:nvPr/>
        </p:nvSpPr>
        <p:spPr>
          <a:xfrm>
            <a:off x="566928" y="4114800"/>
            <a:ext cx="4709160" cy="278892"/>
          </a:xfrm>
          <a:prstGeom prst="rect">
            <a:avLst/>
          </a:prstGeom>
          <a:noFill/>
          <a:ln/>
        </p:spPr>
        <p:txBody>
          <a:bodyPr wrap="square" lIns="0" tIns="0" rIns="0" bIns="0" rtlCol="0" anchor="ctr"/>
          <a:lstStyle/>
          <a:p>
            <a:pPr marL="0" indent="0">
              <a:buNone/>
            </a:pPr>
            <a:r>
              <a:rPr lang="en-US" sz="850" dirty="0">
                <a:solidFill>
                  <a:srgbClr val="96A29B"/>
                </a:solidFill>
                <a:latin typeface="Calibri" pitchFamily="34" charset="0"/>
                <a:ea typeface="Calibri" pitchFamily="34" charset="-122"/>
                <a:cs typeface="Calibri" pitchFamily="34" charset="-120"/>
              </a:rPr>
              <a:t>[9]  </a:t>
            </a:r>
            <a:r>
              <a:rPr lang="en-US" sz="950" dirty="0">
                <a:solidFill>
                  <a:srgbClr val="16261E"/>
                </a:solidFill>
                <a:latin typeface="Calibri" pitchFamily="34" charset="0"/>
                <a:ea typeface="Calibri" pitchFamily="34" charset="-122"/>
                <a:cs typeface="Calibri" pitchFamily="34" charset="-120"/>
              </a:rPr>
              <a:t>Energy Savings using Green Cloud Computing</a:t>
            </a:r>
            <a:r>
              <a:rPr lang="en-US" sz="800" dirty="0">
                <a:solidFill>
                  <a:srgbClr val="96A29B"/>
                </a:solidFill>
                <a:latin typeface="Calibri" pitchFamily="34" charset="0"/>
                <a:ea typeface="Calibri" pitchFamily="34" charset="-122"/>
                <a:cs typeface="Calibri" pitchFamily="34" charset="-120"/>
              </a:rPr>
              <a:t>   Geetanjali &amp; Quraishi, ICICICT 2022</a:t>
            </a:r>
            <a:endParaRPr lang="en-US" sz="850" dirty="0"/>
          </a:p>
        </p:txBody>
      </p:sp>
      <p:sp>
        <p:nvSpPr>
          <p:cNvPr id="73" name="Text 71"/>
          <p:cNvSpPr/>
          <p:nvPr/>
        </p:nvSpPr>
        <p:spPr>
          <a:xfrm>
            <a:off x="5440680" y="4114800"/>
            <a:ext cx="1033272" cy="278892"/>
          </a:xfrm>
          <a:prstGeom prst="rect">
            <a:avLst/>
          </a:prstGeom>
          <a:noFill/>
          <a:ln/>
        </p:spPr>
        <p:txBody>
          <a:bodyPr wrap="square" lIns="0" tIns="0" rIns="0" bIns="0" rtlCol="0" anchor="ctr"/>
          <a:lstStyle/>
          <a:p>
            <a:pPr marL="0" indent="0" algn="ctr">
              <a:buNone/>
            </a:pPr>
            <a:r>
              <a:rPr lang="en-US" sz="1100" dirty="0">
                <a:solidFill>
                  <a:srgbClr val="5F6B64"/>
                </a:solidFill>
                <a:latin typeface="Calibri" pitchFamily="34" charset="0"/>
                <a:ea typeface="Calibri" pitchFamily="34" charset="-122"/>
                <a:cs typeface="Calibri" pitchFamily="34" charset="-120"/>
              </a:rPr>
              <a:t>~</a:t>
            </a:r>
            <a:endParaRPr lang="en-US" sz="1100" dirty="0"/>
          </a:p>
        </p:txBody>
      </p:sp>
      <p:sp>
        <p:nvSpPr>
          <p:cNvPr id="74" name="Text 72"/>
          <p:cNvSpPr/>
          <p:nvPr/>
        </p:nvSpPr>
        <p:spPr>
          <a:xfrm>
            <a:off x="6473952" y="4114800"/>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75" name="Text 73"/>
          <p:cNvSpPr/>
          <p:nvPr/>
        </p:nvSpPr>
        <p:spPr>
          <a:xfrm>
            <a:off x="7507224" y="4114800"/>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76" name="Text 74"/>
          <p:cNvSpPr/>
          <p:nvPr/>
        </p:nvSpPr>
        <p:spPr>
          <a:xfrm>
            <a:off x="8540496" y="4114800"/>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77" name="Text 75"/>
          <p:cNvSpPr/>
          <p:nvPr/>
        </p:nvSpPr>
        <p:spPr>
          <a:xfrm>
            <a:off x="9573768" y="4114800"/>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78" name="Text 76"/>
          <p:cNvSpPr/>
          <p:nvPr/>
        </p:nvSpPr>
        <p:spPr>
          <a:xfrm>
            <a:off x="10607040" y="4114800"/>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79" name="Text 77"/>
          <p:cNvSpPr/>
          <p:nvPr/>
        </p:nvSpPr>
        <p:spPr>
          <a:xfrm>
            <a:off x="566928" y="4393692"/>
            <a:ext cx="4709160" cy="278892"/>
          </a:xfrm>
          <a:prstGeom prst="rect">
            <a:avLst/>
          </a:prstGeom>
          <a:noFill/>
          <a:ln/>
        </p:spPr>
        <p:txBody>
          <a:bodyPr wrap="square" lIns="0" tIns="0" rIns="0" bIns="0" rtlCol="0" anchor="ctr"/>
          <a:lstStyle/>
          <a:p>
            <a:pPr marL="0" indent="0">
              <a:buNone/>
            </a:pPr>
            <a:r>
              <a:rPr lang="en-US" sz="850" dirty="0">
                <a:solidFill>
                  <a:srgbClr val="96A29B"/>
                </a:solidFill>
                <a:latin typeface="Calibri" pitchFamily="34" charset="0"/>
                <a:ea typeface="Calibri" pitchFamily="34" charset="-122"/>
                <a:cs typeface="Calibri" pitchFamily="34" charset="-120"/>
              </a:rPr>
              <a:t>[10]  </a:t>
            </a:r>
            <a:r>
              <a:rPr lang="en-US" sz="950" dirty="0">
                <a:solidFill>
                  <a:srgbClr val="16261E"/>
                </a:solidFill>
                <a:latin typeface="Calibri" pitchFamily="34" charset="0"/>
                <a:ea typeface="Calibri" pitchFamily="34" charset="-122"/>
                <a:cs typeface="Calibri" pitchFamily="34" charset="-120"/>
              </a:rPr>
              <a:t>Autonomous Cost Optimization using AI-Driven Observability</a:t>
            </a:r>
            <a:r>
              <a:rPr lang="en-US" sz="800" dirty="0">
                <a:solidFill>
                  <a:srgbClr val="96A29B"/>
                </a:solidFill>
                <a:latin typeface="Calibri" pitchFamily="34" charset="0"/>
                <a:ea typeface="Calibri" pitchFamily="34" charset="-122"/>
                <a:cs typeface="Calibri" pitchFamily="34" charset="-120"/>
              </a:rPr>
              <a:t>   Gandikota &amp; Gaddipati, 2022</a:t>
            </a:r>
            <a:endParaRPr lang="en-US" sz="850" dirty="0"/>
          </a:p>
        </p:txBody>
      </p:sp>
      <p:sp>
        <p:nvSpPr>
          <p:cNvPr id="80" name="Text 78"/>
          <p:cNvSpPr/>
          <p:nvPr/>
        </p:nvSpPr>
        <p:spPr>
          <a:xfrm>
            <a:off x="5440680" y="4393692"/>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81" name="Text 79"/>
          <p:cNvSpPr/>
          <p:nvPr/>
        </p:nvSpPr>
        <p:spPr>
          <a:xfrm>
            <a:off x="6473952" y="4393692"/>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82" name="Text 80"/>
          <p:cNvSpPr/>
          <p:nvPr/>
        </p:nvSpPr>
        <p:spPr>
          <a:xfrm>
            <a:off x="7507224" y="4393692"/>
            <a:ext cx="1033272" cy="278892"/>
          </a:xfrm>
          <a:prstGeom prst="rect">
            <a:avLst/>
          </a:prstGeom>
          <a:noFill/>
          <a:ln/>
        </p:spPr>
        <p:txBody>
          <a:bodyPr wrap="square" lIns="0" tIns="0" rIns="0" bIns="0" rtlCol="0" anchor="ctr"/>
          <a:lstStyle/>
          <a:p>
            <a:pPr marL="0" indent="0" algn="ctr">
              <a:buNone/>
            </a:pPr>
            <a:r>
              <a:rPr lang="en-US" sz="1100" dirty="0">
                <a:solidFill>
                  <a:srgbClr val="5F6B64"/>
                </a:solidFill>
                <a:latin typeface="Calibri" pitchFamily="34" charset="0"/>
                <a:ea typeface="Calibri" pitchFamily="34" charset="-122"/>
                <a:cs typeface="Calibri" pitchFamily="34" charset="-120"/>
              </a:rPr>
              <a:t>~</a:t>
            </a:r>
            <a:endParaRPr lang="en-US" sz="1100" dirty="0"/>
          </a:p>
        </p:txBody>
      </p:sp>
      <p:sp>
        <p:nvSpPr>
          <p:cNvPr id="83" name="Text 81"/>
          <p:cNvSpPr/>
          <p:nvPr/>
        </p:nvSpPr>
        <p:spPr>
          <a:xfrm>
            <a:off x="8540496" y="4393692"/>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84" name="Text 82"/>
          <p:cNvSpPr/>
          <p:nvPr/>
        </p:nvSpPr>
        <p:spPr>
          <a:xfrm>
            <a:off x="9573768" y="4393692"/>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85" name="Text 83"/>
          <p:cNvSpPr/>
          <p:nvPr/>
        </p:nvSpPr>
        <p:spPr>
          <a:xfrm>
            <a:off x="10607040" y="4393692"/>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86" name="Shape 84"/>
          <p:cNvSpPr/>
          <p:nvPr/>
        </p:nvSpPr>
        <p:spPr>
          <a:xfrm>
            <a:off x="420624" y="4672584"/>
            <a:ext cx="11228832" cy="278892"/>
          </a:xfrm>
          <a:prstGeom prst="rect">
            <a:avLst/>
          </a:prstGeom>
          <a:solidFill>
            <a:srgbClr val="F1F4F1"/>
          </a:solidFill>
          <a:ln w="12700">
            <a:solidFill>
              <a:srgbClr val="F1F4F1"/>
            </a:solidFill>
            <a:prstDash val="solid"/>
          </a:ln>
        </p:spPr>
        <p:txBody>
          <a:bodyPr/>
          <a:lstStyle/>
          <a:p>
            <a:endParaRPr lang="en-LK"/>
          </a:p>
        </p:txBody>
      </p:sp>
      <p:sp>
        <p:nvSpPr>
          <p:cNvPr id="87" name="Text 85"/>
          <p:cNvSpPr/>
          <p:nvPr/>
        </p:nvSpPr>
        <p:spPr>
          <a:xfrm>
            <a:off x="566928" y="4672584"/>
            <a:ext cx="4709160" cy="278892"/>
          </a:xfrm>
          <a:prstGeom prst="rect">
            <a:avLst/>
          </a:prstGeom>
          <a:noFill/>
          <a:ln/>
        </p:spPr>
        <p:txBody>
          <a:bodyPr wrap="square" lIns="0" tIns="0" rIns="0" bIns="0" rtlCol="0" anchor="ctr"/>
          <a:lstStyle/>
          <a:p>
            <a:pPr marL="0" indent="0">
              <a:buNone/>
            </a:pPr>
            <a:r>
              <a:rPr lang="en-US" sz="850" dirty="0">
                <a:solidFill>
                  <a:srgbClr val="96A29B"/>
                </a:solidFill>
                <a:latin typeface="Calibri" pitchFamily="34" charset="0"/>
                <a:ea typeface="Calibri" pitchFamily="34" charset="-122"/>
                <a:cs typeface="Calibri" pitchFamily="34" charset="-120"/>
              </a:rPr>
              <a:t>[11]  </a:t>
            </a:r>
            <a:r>
              <a:rPr lang="en-US" sz="950" dirty="0">
                <a:solidFill>
                  <a:srgbClr val="16261E"/>
                </a:solidFill>
                <a:latin typeface="Calibri" pitchFamily="34" charset="0"/>
                <a:ea typeface="Calibri" pitchFamily="34" charset="-122"/>
                <a:cs typeface="Calibri" pitchFamily="34" charset="-120"/>
              </a:rPr>
              <a:t>AI/ML-Driven Automation for Predictive Cloud Operations</a:t>
            </a:r>
            <a:r>
              <a:rPr lang="en-US" sz="800" dirty="0">
                <a:solidFill>
                  <a:srgbClr val="96A29B"/>
                </a:solidFill>
                <a:latin typeface="Calibri" pitchFamily="34" charset="0"/>
                <a:ea typeface="Calibri" pitchFamily="34" charset="-122"/>
                <a:cs typeface="Calibri" pitchFamily="34" charset="-120"/>
              </a:rPr>
              <a:t>   Lakhnakiya, ICAIC 2026</a:t>
            </a:r>
            <a:endParaRPr lang="en-US" sz="850" dirty="0"/>
          </a:p>
        </p:txBody>
      </p:sp>
      <p:sp>
        <p:nvSpPr>
          <p:cNvPr id="88" name="Text 86"/>
          <p:cNvSpPr/>
          <p:nvPr/>
        </p:nvSpPr>
        <p:spPr>
          <a:xfrm>
            <a:off x="5440680" y="4672584"/>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89" name="Text 87"/>
          <p:cNvSpPr/>
          <p:nvPr/>
        </p:nvSpPr>
        <p:spPr>
          <a:xfrm>
            <a:off x="6473952" y="4672584"/>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90" name="Text 88"/>
          <p:cNvSpPr/>
          <p:nvPr/>
        </p:nvSpPr>
        <p:spPr>
          <a:xfrm>
            <a:off x="7507224" y="4672584"/>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91" name="Text 89"/>
          <p:cNvSpPr/>
          <p:nvPr/>
        </p:nvSpPr>
        <p:spPr>
          <a:xfrm>
            <a:off x="8540496" y="4672584"/>
            <a:ext cx="1033272" cy="278892"/>
          </a:xfrm>
          <a:prstGeom prst="rect">
            <a:avLst/>
          </a:prstGeom>
          <a:noFill/>
          <a:ln/>
        </p:spPr>
        <p:txBody>
          <a:bodyPr wrap="square" lIns="0" tIns="0" rIns="0" bIns="0" rtlCol="0" anchor="ctr"/>
          <a:lstStyle/>
          <a:p>
            <a:pPr marL="0" indent="0" algn="ctr">
              <a:buNone/>
            </a:pPr>
            <a:r>
              <a:rPr lang="en-US" sz="1100" dirty="0">
                <a:solidFill>
                  <a:srgbClr val="5F6B64"/>
                </a:solidFill>
                <a:latin typeface="Calibri" pitchFamily="34" charset="0"/>
                <a:ea typeface="Calibri" pitchFamily="34" charset="-122"/>
                <a:cs typeface="Calibri" pitchFamily="34" charset="-120"/>
              </a:rPr>
              <a:t>~</a:t>
            </a:r>
            <a:endParaRPr lang="en-US" sz="1100" dirty="0"/>
          </a:p>
        </p:txBody>
      </p:sp>
      <p:sp>
        <p:nvSpPr>
          <p:cNvPr id="92" name="Text 90"/>
          <p:cNvSpPr/>
          <p:nvPr/>
        </p:nvSpPr>
        <p:spPr>
          <a:xfrm>
            <a:off x="9573768" y="4672584"/>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93" name="Text 91"/>
          <p:cNvSpPr/>
          <p:nvPr/>
        </p:nvSpPr>
        <p:spPr>
          <a:xfrm>
            <a:off x="10607040" y="4672584"/>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94" name="Text 92"/>
          <p:cNvSpPr/>
          <p:nvPr/>
        </p:nvSpPr>
        <p:spPr>
          <a:xfrm>
            <a:off x="566928" y="4951476"/>
            <a:ext cx="4709160" cy="278892"/>
          </a:xfrm>
          <a:prstGeom prst="rect">
            <a:avLst/>
          </a:prstGeom>
          <a:noFill/>
          <a:ln/>
        </p:spPr>
        <p:txBody>
          <a:bodyPr wrap="square" lIns="0" tIns="0" rIns="0" bIns="0" rtlCol="0" anchor="ctr"/>
          <a:lstStyle/>
          <a:p>
            <a:pPr marL="0" indent="0">
              <a:buNone/>
            </a:pPr>
            <a:r>
              <a:rPr lang="en-US" sz="850" dirty="0">
                <a:solidFill>
                  <a:srgbClr val="96A29B"/>
                </a:solidFill>
                <a:latin typeface="Calibri" pitchFamily="34" charset="0"/>
                <a:ea typeface="Calibri" pitchFamily="34" charset="-122"/>
                <a:cs typeface="Calibri" pitchFamily="34" charset="-120"/>
              </a:rPr>
              <a:t>[12]  </a:t>
            </a:r>
            <a:r>
              <a:rPr lang="en-US" sz="950" dirty="0">
                <a:solidFill>
                  <a:srgbClr val="16261E"/>
                </a:solidFill>
                <a:latin typeface="Calibri" pitchFamily="34" charset="0"/>
                <a:ea typeface="Calibri" pitchFamily="34" charset="-122"/>
                <a:cs typeface="Calibri" pitchFamily="34" charset="-120"/>
              </a:rPr>
              <a:t>Optimizing Cloud Computing Environments for Big Data Processing</a:t>
            </a:r>
            <a:r>
              <a:rPr lang="en-US" sz="800" dirty="0">
                <a:solidFill>
                  <a:srgbClr val="96A29B"/>
                </a:solidFill>
                <a:latin typeface="Calibri" pitchFamily="34" charset="0"/>
                <a:ea typeface="Calibri" pitchFamily="34" charset="-122"/>
                <a:cs typeface="Calibri" pitchFamily="34" charset="-120"/>
              </a:rPr>
              <a:t>   Valivarthi, 2024</a:t>
            </a:r>
            <a:endParaRPr lang="en-US" sz="850" dirty="0"/>
          </a:p>
        </p:txBody>
      </p:sp>
      <p:sp>
        <p:nvSpPr>
          <p:cNvPr id="95" name="Text 93"/>
          <p:cNvSpPr/>
          <p:nvPr/>
        </p:nvSpPr>
        <p:spPr>
          <a:xfrm>
            <a:off x="5440680" y="4951476"/>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96" name="Text 94"/>
          <p:cNvSpPr/>
          <p:nvPr/>
        </p:nvSpPr>
        <p:spPr>
          <a:xfrm>
            <a:off x="6473952" y="4951476"/>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97" name="Text 95"/>
          <p:cNvSpPr/>
          <p:nvPr/>
        </p:nvSpPr>
        <p:spPr>
          <a:xfrm>
            <a:off x="7507224" y="4951476"/>
            <a:ext cx="1033272" cy="278892"/>
          </a:xfrm>
          <a:prstGeom prst="rect">
            <a:avLst/>
          </a:prstGeom>
          <a:noFill/>
          <a:ln/>
        </p:spPr>
        <p:txBody>
          <a:bodyPr wrap="square" lIns="0" tIns="0" rIns="0" bIns="0" rtlCol="0" anchor="ctr"/>
          <a:lstStyle/>
          <a:p>
            <a:pPr marL="0" indent="0" algn="ctr">
              <a:buNone/>
            </a:pPr>
            <a:r>
              <a:rPr lang="en-US" sz="1100" dirty="0">
                <a:solidFill>
                  <a:srgbClr val="5F6B64"/>
                </a:solidFill>
                <a:latin typeface="Calibri" pitchFamily="34" charset="0"/>
                <a:ea typeface="Calibri" pitchFamily="34" charset="-122"/>
                <a:cs typeface="Calibri" pitchFamily="34" charset="-120"/>
              </a:rPr>
              <a:t>~</a:t>
            </a:r>
            <a:endParaRPr lang="en-US" sz="1100" dirty="0"/>
          </a:p>
        </p:txBody>
      </p:sp>
      <p:sp>
        <p:nvSpPr>
          <p:cNvPr id="98" name="Text 96"/>
          <p:cNvSpPr/>
          <p:nvPr/>
        </p:nvSpPr>
        <p:spPr>
          <a:xfrm>
            <a:off x="8540496" y="4951476"/>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99" name="Text 97"/>
          <p:cNvSpPr/>
          <p:nvPr/>
        </p:nvSpPr>
        <p:spPr>
          <a:xfrm>
            <a:off x="9573768" y="4951476"/>
            <a:ext cx="1033272" cy="278892"/>
          </a:xfrm>
          <a:prstGeom prst="rect">
            <a:avLst/>
          </a:prstGeom>
          <a:noFill/>
          <a:ln/>
        </p:spPr>
        <p:txBody>
          <a:bodyPr wrap="square" lIns="0" tIns="0" rIns="0" bIns="0" rtlCol="0" anchor="ctr"/>
          <a:lstStyle/>
          <a:p>
            <a:pPr marL="0" indent="0" algn="ctr">
              <a:buNone/>
            </a:pPr>
            <a:r>
              <a:rPr lang="en-US" sz="1100" dirty="0">
                <a:solidFill>
                  <a:srgbClr val="5F6B64"/>
                </a:solidFill>
                <a:latin typeface="Calibri" pitchFamily="34" charset="0"/>
                <a:ea typeface="Calibri" pitchFamily="34" charset="-122"/>
                <a:cs typeface="Calibri" pitchFamily="34" charset="-120"/>
              </a:rPr>
              <a:t>~</a:t>
            </a:r>
            <a:endParaRPr lang="en-US" sz="1100" dirty="0"/>
          </a:p>
        </p:txBody>
      </p:sp>
      <p:sp>
        <p:nvSpPr>
          <p:cNvPr id="100" name="Text 98"/>
          <p:cNvSpPr/>
          <p:nvPr/>
        </p:nvSpPr>
        <p:spPr>
          <a:xfrm>
            <a:off x="10607040" y="4951476"/>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101" name="Shape 99"/>
          <p:cNvSpPr/>
          <p:nvPr/>
        </p:nvSpPr>
        <p:spPr>
          <a:xfrm>
            <a:off x="420624" y="5230368"/>
            <a:ext cx="11228832" cy="278892"/>
          </a:xfrm>
          <a:prstGeom prst="rect">
            <a:avLst/>
          </a:prstGeom>
          <a:solidFill>
            <a:srgbClr val="F1F4F1"/>
          </a:solidFill>
          <a:ln w="12700">
            <a:solidFill>
              <a:srgbClr val="F1F4F1"/>
            </a:solidFill>
            <a:prstDash val="solid"/>
          </a:ln>
        </p:spPr>
        <p:txBody>
          <a:bodyPr/>
          <a:lstStyle/>
          <a:p>
            <a:endParaRPr lang="en-LK" dirty="0"/>
          </a:p>
        </p:txBody>
      </p:sp>
      <p:sp>
        <p:nvSpPr>
          <p:cNvPr id="102" name="Text 100"/>
          <p:cNvSpPr/>
          <p:nvPr/>
        </p:nvSpPr>
        <p:spPr>
          <a:xfrm>
            <a:off x="566928" y="5230368"/>
            <a:ext cx="4709160" cy="278892"/>
          </a:xfrm>
          <a:prstGeom prst="rect">
            <a:avLst/>
          </a:prstGeom>
          <a:noFill/>
          <a:ln/>
        </p:spPr>
        <p:txBody>
          <a:bodyPr wrap="square" lIns="0" tIns="0" rIns="0" bIns="0" rtlCol="0" anchor="ctr"/>
          <a:lstStyle/>
          <a:p>
            <a:pPr marL="0" indent="0">
              <a:buNone/>
            </a:pPr>
            <a:r>
              <a:rPr lang="en-US" sz="850" dirty="0">
                <a:solidFill>
                  <a:srgbClr val="96A29B"/>
                </a:solidFill>
                <a:latin typeface="Calibri" pitchFamily="34" charset="0"/>
                <a:ea typeface="Calibri" pitchFamily="34" charset="-122"/>
                <a:cs typeface="Calibri" pitchFamily="34" charset="-120"/>
              </a:rPr>
              <a:t>[13]  </a:t>
            </a:r>
            <a:r>
              <a:rPr lang="en-US" sz="950" dirty="0">
                <a:solidFill>
                  <a:srgbClr val="16261E"/>
                </a:solidFill>
                <a:latin typeface="Calibri" pitchFamily="34" charset="0"/>
                <a:ea typeface="Calibri" pitchFamily="34" charset="-122"/>
                <a:cs typeface="Calibri" pitchFamily="34" charset="-120"/>
              </a:rPr>
              <a:t>Multidimensional Cost Optimization Strategies for Cloud</a:t>
            </a:r>
            <a:r>
              <a:rPr lang="en-US" sz="800" dirty="0">
                <a:solidFill>
                  <a:srgbClr val="96A29B"/>
                </a:solidFill>
                <a:latin typeface="Calibri" pitchFamily="34" charset="0"/>
                <a:ea typeface="Calibri" pitchFamily="34" charset="-122"/>
                <a:cs typeface="Calibri" pitchFamily="34" charset="-120"/>
              </a:rPr>
              <a:t>   Gaba et al., ICACRS 2023</a:t>
            </a:r>
            <a:endParaRPr lang="en-US" sz="850" dirty="0"/>
          </a:p>
        </p:txBody>
      </p:sp>
      <p:sp>
        <p:nvSpPr>
          <p:cNvPr id="103" name="Text 101"/>
          <p:cNvSpPr/>
          <p:nvPr/>
        </p:nvSpPr>
        <p:spPr>
          <a:xfrm>
            <a:off x="5440680" y="5230368"/>
            <a:ext cx="1033272" cy="278892"/>
          </a:xfrm>
          <a:prstGeom prst="rect">
            <a:avLst/>
          </a:prstGeom>
          <a:noFill/>
          <a:ln/>
        </p:spPr>
        <p:txBody>
          <a:bodyPr wrap="square" lIns="0" tIns="0" rIns="0" bIns="0" rtlCol="0" anchor="ctr"/>
          <a:lstStyle/>
          <a:p>
            <a:pPr marL="0" indent="0" algn="ctr">
              <a:buNone/>
            </a:pPr>
            <a:r>
              <a:rPr lang="en-US" sz="1100" dirty="0">
                <a:solidFill>
                  <a:srgbClr val="5F6B64"/>
                </a:solidFill>
                <a:latin typeface="Calibri" pitchFamily="34" charset="0"/>
                <a:ea typeface="Calibri" pitchFamily="34" charset="-122"/>
                <a:cs typeface="Calibri" pitchFamily="34" charset="-120"/>
              </a:rPr>
              <a:t>~</a:t>
            </a:r>
            <a:endParaRPr lang="en-US" sz="1100" dirty="0"/>
          </a:p>
        </p:txBody>
      </p:sp>
      <p:sp>
        <p:nvSpPr>
          <p:cNvPr id="104" name="Text 102"/>
          <p:cNvSpPr/>
          <p:nvPr/>
        </p:nvSpPr>
        <p:spPr>
          <a:xfrm>
            <a:off x="6473952" y="5230368"/>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105" name="Text 103"/>
          <p:cNvSpPr/>
          <p:nvPr/>
        </p:nvSpPr>
        <p:spPr>
          <a:xfrm>
            <a:off x="7507224" y="5230368"/>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106" name="Text 104"/>
          <p:cNvSpPr/>
          <p:nvPr/>
        </p:nvSpPr>
        <p:spPr>
          <a:xfrm>
            <a:off x="8540496" y="5230368"/>
            <a:ext cx="1033272" cy="278892"/>
          </a:xfrm>
          <a:prstGeom prst="rect">
            <a:avLst/>
          </a:prstGeom>
          <a:noFill/>
          <a:ln/>
        </p:spPr>
        <p:txBody>
          <a:bodyPr wrap="square" lIns="0" tIns="0" rIns="0" bIns="0" rtlCol="0" anchor="ctr"/>
          <a:lstStyle/>
          <a:p>
            <a:pPr marL="0" indent="0" algn="ctr">
              <a:buNone/>
            </a:pPr>
            <a:r>
              <a:rPr lang="en-US" sz="1100" dirty="0">
                <a:solidFill>
                  <a:srgbClr val="5F6B64"/>
                </a:solidFill>
                <a:latin typeface="Calibri" pitchFamily="34" charset="0"/>
                <a:ea typeface="Calibri" pitchFamily="34" charset="-122"/>
                <a:cs typeface="Calibri" pitchFamily="34" charset="-120"/>
              </a:rPr>
              <a:t>~</a:t>
            </a:r>
            <a:endParaRPr lang="en-US" sz="1100" dirty="0"/>
          </a:p>
        </p:txBody>
      </p:sp>
      <p:sp>
        <p:nvSpPr>
          <p:cNvPr id="107" name="Text 105"/>
          <p:cNvSpPr/>
          <p:nvPr/>
        </p:nvSpPr>
        <p:spPr>
          <a:xfrm>
            <a:off x="9573768" y="5230368"/>
            <a:ext cx="1033272" cy="278892"/>
          </a:xfrm>
          <a:prstGeom prst="rect">
            <a:avLst/>
          </a:prstGeom>
          <a:noFill/>
          <a:ln/>
        </p:spPr>
        <p:txBody>
          <a:bodyPr wrap="square" lIns="0" tIns="0" rIns="0" bIns="0" rtlCol="0" anchor="ctr"/>
          <a:lstStyle/>
          <a:p>
            <a:pPr marL="0" indent="0" algn="ctr">
              <a:buNone/>
            </a:pPr>
            <a:r>
              <a:rPr lang="en-US" sz="1200" b="1" dirty="0">
                <a:solidFill>
                  <a:srgbClr val="3E6B55"/>
                </a:solidFill>
                <a:latin typeface="Calibri" pitchFamily="34" charset="0"/>
                <a:ea typeface="Calibri" pitchFamily="34" charset="-122"/>
                <a:cs typeface="Calibri" pitchFamily="34" charset="-120"/>
              </a:rPr>
              <a:t>✓</a:t>
            </a:r>
            <a:endParaRPr lang="en-US" sz="1200" dirty="0"/>
          </a:p>
        </p:txBody>
      </p:sp>
      <p:sp>
        <p:nvSpPr>
          <p:cNvPr id="108" name="Text 106"/>
          <p:cNvSpPr/>
          <p:nvPr/>
        </p:nvSpPr>
        <p:spPr>
          <a:xfrm>
            <a:off x="10607040" y="5230368"/>
            <a:ext cx="1033272" cy="278892"/>
          </a:xfrm>
          <a:prstGeom prst="rect">
            <a:avLst/>
          </a:prstGeom>
          <a:noFill/>
          <a:ln/>
        </p:spPr>
        <p:txBody>
          <a:bodyPr wrap="square" lIns="0" tIns="0" rIns="0" bIns="0" rtlCol="0" anchor="ctr"/>
          <a:lstStyle/>
          <a:p>
            <a:pPr marL="0" indent="0" algn="ctr">
              <a:buNone/>
            </a:pPr>
            <a:r>
              <a:rPr lang="en-US" sz="1100" dirty="0">
                <a:solidFill>
                  <a:srgbClr val="C3CCC6"/>
                </a:solidFill>
                <a:latin typeface="Calibri" pitchFamily="34" charset="0"/>
                <a:ea typeface="Calibri" pitchFamily="34" charset="-122"/>
                <a:cs typeface="Calibri" pitchFamily="34" charset="-120"/>
              </a:rPr>
              <a:t>–</a:t>
            </a:r>
            <a:endParaRPr lang="en-US" sz="1100" dirty="0"/>
          </a:p>
        </p:txBody>
      </p:sp>
      <p:sp>
        <p:nvSpPr>
          <p:cNvPr id="109" name="Shape 107"/>
          <p:cNvSpPr/>
          <p:nvPr/>
        </p:nvSpPr>
        <p:spPr>
          <a:xfrm>
            <a:off x="420624" y="5564124"/>
            <a:ext cx="11228832" cy="384048"/>
          </a:xfrm>
          <a:prstGeom prst="roundRect">
            <a:avLst>
              <a:gd name="adj" fmla="val 14286"/>
            </a:avLst>
          </a:prstGeom>
          <a:solidFill>
            <a:srgbClr val="E7EFE4"/>
          </a:solidFill>
          <a:ln w="12700">
            <a:solidFill>
              <a:srgbClr val="E7EFE4"/>
            </a:solidFill>
            <a:prstDash val="solid"/>
          </a:ln>
        </p:spPr>
        <p:txBody>
          <a:bodyPr/>
          <a:lstStyle/>
          <a:p>
            <a:endParaRPr lang="en-LK"/>
          </a:p>
        </p:txBody>
      </p:sp>
      <p:sp>
        <p:nvSpPr>
          <p:cNvPr id="110" name="Text 108"/>
          <p:cNvSpPr/>
          <p:nvPr/>
        </p:nvSpPr>
        <p:spPr>
          <a:xfrm>
            <a:off x="566928" y="5564124"/>
            <a:ext cx="4709160" cy="384048"/>
          </a:xfrm>
          <a:prstGeom prst="rect">
            <a:avLst/>
          </a:prstGeom>
          <a:noFill/>
          <a:ln/>
        </p:spPr>
        <p:txBody>
          <a:bodyPr wrap="square" lIns="0" tIns="0" rIns="0" bIns="0" rtlCol="0" anchor="ctr"/>
          <a:lstStyle/>
          <a:p>
            <a:pPr marL="0" indent="0">
              <a:buNone/>
            </a:pPr>
            <a:r>
              <a:rPr lang="en-US" sz="1100" b="1" dirty="0">
                <a:solidFill>
                  <a:srgbClr val="16261E"/>
                </a:solidFill>
                <a:latin typeface="Calibri" pitchFamily="34" charset="0"/>
                <a:ea typeface="Calibri" pitchFamily="34" charset="-122"/>
                <a:cs typeface="Calibri" pitchFamily="34" charset="-120"/>
              </a:rPr>
              <a:t>This framework</a:t>
            </a:r>
            <a:endParaRPr lang="en-US" sz="1100" dirty="0"/>
          </a:p>
        </p:txBody>
      </p:sp>
      <p:sp>
        <p:nvSpPr>
          <p:cNvPr id="111" name="Text 109"/>
          <p:cNvSpPr/>
          <p:nvPr/>
        </p:nvSpPr>
        <p:spPr>
          <a:xfrm>
            <a:off x="5440680" y="5564124"/>
            <a:ext cx="1033272" cy="384048"/>
          </a:xfrm>
          <a:prstGeom prst="rect">
            <a:avLst/>
          </a:prstGeom>
          <a:noFill/>
          <a:ln/>
        </p:spPr>
        <p:txBody>
          <a:bodyPr wrap="square" lIns="0" tIns="0" rIns="0" bIns="0" rtlCol="0" anchor="ctr"/>
          <a:lstStyle/>
          <a:p>
            <a:pPr marL="0" indent="0" algn="ctr">
              <a:buNone/>
            </a:pPr>
            <a:r>
              <a:rPr lang="en-US" sz="1300" b="1" dirty="0">
                <a:solidFill>
                  <a:srgbClr val="16261E"/>
                </a:solidFill>
                <a:latin typeface="Calibri" pitchFamily="34" charset="0"/>
                <a:ea typeface="Calibri" pitchFamily="34" charset="-122"/>
                <a:cs typeface="Calibri" pitchFamily="34" charset="-120"/>
              </a:rPr>
              <a:t>✓</a:t>
            </a:r>
            <a:endParaRPr lang="en-US" sz="1300" dirty="0"/>
          </a:p>
        </p:txBody>
      </p:sp>
      <p:sp>
        <p:nvSpPr>
          <p:cNvPr id="112" name="Text 110"/>
          <p:cNvSpPr/>
          <p:nvPr/>
        </p:nvSpPr>
        <p:spPr>
          <a:xfrm>
            <a:off x="6473952" y="5564124"/>
            <a:ext cx="1033272" cy="384048"/>
          </a:xfrm>
          <a:prstGeom prst="rect">
            <a:avLst/>
          </a:prstGeom>
          <a:noFill/>
          <a:ln/>
        </p:spPr>
        <p:txBody>
          <a:bodyPr wrap="square" lIns="0" tIns="0" rIns="0" bIns="0" rtlCol="0" anchor="ctr"/>
          <a:lstStyle/>
          <a:p>
            <a:pPr marL="0" indent="0" algn="ctr">
              <a:buNone/>
            </a:pPr>
            <a:r>
              <a:rPr lang="en-US" sz="1300" b="1" dirty="0">
                <a:solidFill>
                  <a:srgbClr val="16261E"/>
                </a:solidFill>
                <a:latin typeface="Calibri" pitchFamily="34" charset="0"/>
                <a:ea typeface="Calibri" pitchFamily="34" charset="-122"/>
                <a:cs typeface="Calibri" pitchFamily="34" charset="-120"/>
              </a:rPr>
              <a:t>✓</a:t>
            </a:r>
            <a:endParaRPr lang="en-US" sz="1300" dirty="0"/>
          </a:p>
        </p:txBody>
      </p:sp>
      <p:sp>
        <p:nvSpPr>
          <p:cNvPr id="113" name="Text 111"/>
          <p:cNvSpPr/>
          <p:nvPr/>
        </p:nvSpPr>
        <p:spPr>
          <a:xfrm>
            <a:off x="7507224" y="5564124"/>
            <a:ext cx="1033272" cy="384048"/>
          </a:xfrm>
          <a:prstGeom prst="rect">
            <a:avLst/>
          </a:prstGeom>
          <a:noFill/>
          <a:ln/>
        </p:spPr>
        <p:txBody>
          <a:bodyPr wrap="square" lIns="0" tIns="0" rIns="0" bIns="0" rtlCol="0" anchor="ctr"/>
          <a:lstStyle/>
          <a:p>
            <a:pPr marL="0" indent="0" algn="ctr">
              <a:buNone/>
            </a:pPr>
            <a:r>
              <a:rPr lang="en-US" sz="1300" b="1" dirty="0">
                <a:solidFill>
                  <a:srgbClr val="16261E"/>
                </a:solidFill>
                <a:latin typeface="Calibri" pitchFamily="34" charset="0"/>
                <a:ea typeface="Calibri" pitchFamily="34" charset="-122"/>
                <a:cs typeface="Calibri" pitchFamily="34" charset="-120"/>
              </a:rPr>
              <a:t>✓</a:t>
            </a:r>
            <a:endParaRPr lang="en-US" sz="1300" dirty="0"/>
          </a:p>
        </p:txBody>
      </p:sp>
      <p:sp>
        <p:nvSpPr>
          <p:cNvPr id="114" name="Text 112"/>
          <p:cNvSpPr/>
          <p:nvPr/>
        </p:nvSpPr>
        <p:spPr>
          <a:xfrm>
            <a:off x="8540496" y="5564124"/>
            <a:ext cx="1033272" cy="384048"/>
          </a:xfrm>
          <a:prstGeom prst="rect">
            <a:avLst/>
          </a:prstGeom>
          <a:noFill/>
          <a:ln/>
        </p:spPr>
        <p:txBody>
          <a:bodyPr wrap="square" lIns="0" tIns="0" rIns="0" bIns="0" rtlCol="0" anchor="ctr"/>
          <a:lstStyle/>
          <a:p>
            <a:pPr marL="0" indent="0" algn="ctr">
              <a:buNone/>
            </a:pPr>
            <a:r>
              <a:rPr lang="en-US" sz="1300" b="1" dirty="0">
                <a:solidFill>
                  <a:srgbClr val="16261E"/>
                </a:solidFill>
                <a:latin typeface="Calibri" pitchFamily="34" charset="0"/>
                <a:ea typeface="Calibri" pitchFamily="34" charset="-122"/>
                <a:cs typeface="Calibri" pitchFamily="34" charset="-120"/>
              </a:rPr>
              <a:t>✓</a:t>
            </a:r>
            <a:endParaRPr lang="en-US" sz="1300" dirty="0"/>
          </a:p>
        </p:txBody>
      </p:sp>
      <p:sp>
        <p:nvSpPr>
          <p:cNvPr id="115" name="Text 113"/>
          <p:cNvSpPr/>
          <p:nvPr/>
        </p:nvSpPr>
        <p:spPr>
          <a:xfrm>
            <a:off x="9573768" y="5564124"/>
            <a:ext cx="1033272" cy="384048"/>
          </a:xfrm>
          <a:prstGeom prst="rect">
            <a:avLst/>
          </a:prstGeom>
          <a:noFill/>
          <a:ln/>
        </p:spPr>
        <p:txBody>
          <a:bodyPr wrap="square" lIns="0" tIns="0" rIns="0" bIns="0" rtlCol="0" anchor="ctr"/>
          <a:lstStyle/>
          <a:p>
            <a:pPr marL="0" indent="0" algn="ctr">
              <a:buNone/>
            </a:pPr>
            <a:r>
              <a:rPr lang="en-US" sz="1300" b="1" dirty="0">
                <a:solidFill>
                  <a:srgbClr val="16261E"/>
                </a:solidFill>
                <a:latin typeface="Calibri" pitchFamily="34" charset="0"/>
                <a:ea typeface="Calibri" pitchFamily="34" charset="-122"/>
                <a:cs typeface="Calibri" pitchFamily="34" charset="-120"/>
              </a:rPr>
              <a:t>✓</a:t>
            </a:r>
            <a:endParaRPr lang="en-US" sz="1300" dirty="0"/>
          </a:p>
        </p:txBody>
      </p:sp>
      <p:sp>
        <p:nvSpPr>
          <p:cNvPr id="116" name="Text 114"/>
          <p:cNvSpPr/>
          <p:nvPr/>
        </p:nvSpPr>
        <p:spPr>
          <a:xfrm>
            <a:off x="10607040" y="5564124"/>
            <a:ext cx="1033272" cy="384048"/>
          </a:xfrm>
          <a:prstGeom prst="rect">
            <a:avLst/>
          </a:prstGeom>
          <a:noFill/>
          <a:ln/>
        </p:spPr>
        <p:txBody>
          <a:bodyPr wrap="square" lIns="0" tIns="0" rIns="0" bIns="0" rtlCol="0" anchor="ctr"/>
          <a:lstStyle/>
          <a:p>
            <a:pPr marL="0" indent="0" algn="ctr">
              <a:buNone/>
            </a:pPr>
            <a:r>
              <a:rPr lang="en-US" sz="1300" b="1" dirty="0">
                <a:solidFill>
                  <a:srgbClr val="16261E"/>
                </a:solidFill>
                <a:latin typeface="Calibri" pitchFamily="34" charset="0"/>
                <a:ea typeface="Calibri" pitchFamily="34" charset="-122"/>
                <a:cs typeface="Calibri" pitchFamily="34" charset="-120"/>
              </a:rPr>
              <a:t>✓</a:t>
            </a:r>
            <a:endParaRPr lang="en-US" sz="1300" dirty="0"/>
          </a:p>
        </p:txBody>
      </p:sp>
      <p:sp>
        <p:nvSpPr>
          <p:cNvPr id="119" name="Text 117"/>
          <p:cNvSpPr/>
          <p:nvPr/>
        </p:nvSpPr>
        <p:spPr>
          <a:xfrm>
            <a:off x="10984687" y="6382512"/>
            <a:ext cx="640080" cy="256032"/>
          </a:xfrm>
          <a:prstGeom prst="rect">
            <a:avLst/>
          </a:prstGeom>
          <a:noFill/>
          <a:ln/>
        </p:spPr>
        <p:txBody>
          <a:bodyPr wrap="square" lIns="0" tIns="0" rIns="0" bIns="0" rtlCol="0" anchor="ctr"/>
          <a:lstStyle/>
          <a:p>
            <a:pPr marL="0" indent="0" algn="r">
              <a:buNone/>
            </a:pPr>
            <a:r>
              <a:rPr lang="en-US" sz="1050" dirty="0">
                <a:solidFill>
                  <a:srgbClr val="96A29B"/>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0515600" cy="237744"/>
          </a:xfrm>
          <a:prstGeom prst="rect">
            <a:avLst/>
          </a:prstGeom>
          <a:noFill/>
          <a:ln/>
        </p:spPr>
        <p:txBody>
          <a:bodyPr wrap="square" lIns="0" tIns="0" rIns="0" bIns="0" rtlCol="0" anchor="ctr"/>
          <a:lstStyle/>
          <a:p>
            <a:pPr marL="0" indent="0">
              <a:buNone/>
            </a:pPr>
            <a:r>
              <a:rPr lang="en-US" sz="1150" b="1" kern="0" spc="160" dirty="0">
                <a:solidFill>
                  <a:srgbClr val="3E6B55"/>
                </a:solidFill>
                <a:latin typeface="Calibri" pitchFamily="34" charset="0"/>
                <a:ea typeface="Calibri" pitchFamily="34" charset="-122"/>
                <a:cs typeface="Calibri" pitchFamily="34" charset="-120"/>
              </a:rPr>
              <a:t>SCOPE</a:t>
            </a:r>
            <a:endParaRPr lang="en-US" sz="1150" dirty="0"/>
          </a:p>
        </p:txBody>
      </p:sp>
      <p:sp>
        <p:nvSpPr>
          <p:cNvPr id="3" name="Text 1"/>
          <p:cNvSpPr/>
          <p:nvPr/>
        </p:nvSpPr>
        <p:spPr>
          <a:xfrm>
            <a:off x="566928" y="576072"/>
            <a:ext cx="11064240" cy="603504"/>
          </a:xfrm>
          <a:prstGeom prst="rect">
            <a:avLst/>
          </a:prstGeom>
          <a:noFill/>
          <a:ln/>
        </p:spPr>
        <p:txBody>
          <a:bodyPr wrap="square" lIns="0" tIns="0" rIns="0" bIns="0" rtlCol="0" anchor="ctr"/>
          <a:lstStyle/>
          <a:p>
            <a:pPr marL="0" indent="0">
              <a:buNone/>
            </a:pPr>
            <a:r>
              <a:rPr lang="en-US" sz="3100" b="1" dirty="0">
                <a:solidFill>
                  <a:srgbClr val="16261E"/>
                </a:solidFill>
                <a:latin typeface="Cambria" pitchFamily="34" charset="0"/>
                <a:ea typeface="Cambria" pitchFamily="34" charset="-122"/>
                <a:cs typeface="Cambria" pitchFamily="34" charset="-120"/>
              </a:rPr>
              <a:t>Aim, questions, and what I claim to have contributed</a:t>
            </a:r>
            <a:endParaRPr lang="en-US" sz="3100" dirty="0"/>
          </a:p>
        </p:txBody>
      </p:sp>
      <p:sp>
        <p:nvSpPr>
          <p:cNvPr id="4" name="Shape 2"/>
          <p:cNvSpPr/>
          <p:nvPr/>
        </p:nvSpPr>
        <p:spPr>
          <a:xfrm>
            <a:off x="566928" y="1481328"/>
            <a:ext cx="11064240" cy="1024128"/>
          </a:xfrm>
          <a:prstGeom prst="roundRect">
            <a:avLst>
              <a:gd name="adj" fmla="val 8036"/>
            </a:avLst>
          </a:prstGeom>
          <a:solidFill>
            <a:srgbClr val="F1F4F1"/>
          </a:solidFill>
          <a:ln w="12700">
            <a:solidFill>
              <a:srgbClr val="F1F4F1"/>
            </a:solidFill>
            <a:prstDash val="solid"/>
          </a:ln>
          <a:effectLst>
            <a:outerShdw blurRad="127000" dist="25400" dir="5400000" algn="bl" rotWithShape="0">
              <a:srgbClr val="12201A">
                <a:alpha val="13000"/>
              </a:srgbClr>
            </a:outerShdw>
          </a:effectLst>
        </p:spPr>
        <p:txBody>
          <a:bodyPr/>
          <a:lstStyle/>
          <a:p>
            <a:endParaRPr lang="en-LK"/>
          </a:p>
        </p:txBody>
      </p:sp>
      <p:sp>
        <p:nvSpPr>
          <p:cNvPr id="5" name="Text 3"/>
          <p:cNvSpPr/>
          <p:nvPr/>
        </p:nvSpPr>
        <p:spPr>
          <a:xfrm>
            <a:off x="859536" y="1627632"/>
            <a:ext cx="10469880" cy="777240"/>
          </a:xfrm>
          <a:prstGeom prst="rect">
            <a:avLst/>
          </a:prstGeom>
          <a:noFill/>
          <a:ln/>
        </p:spPr>
        <p:txBody>
          <a:bodyPr wrap="square" lIns="0" tIns="0" rIns="0" bIns="0" rtlCol="0" anchor="ctr"/>
          <a:lstStyle/>
          <a:p>
            <a:pPr marL="0" indent="0">
              <a:lnSpc>
                <a:spcPts val="2000"/>
              </a:lnSpc>
              <a:buNone/>
            </a:pPr>
            <a:r>
              <a:rPr lang="en-US" sz="1100" b="1" kern="0" spc="120" dirty="0">
                <a:solidFill>
                  <a:srgbClr val="3E6B55"/>
                </a:solidFill>
                <a:latin typeface="Calibri" pitchFamily="34" charset="0"/>
                <a:ea typeface="Calibri" pitchFamily="34" charset="-122"/>
                <a:cs typeface="Calibri" pitchFamily="34" charset="-120"/>
              </a:rPr>
              <a:t>AIM   </a:t>
            </a:r>
            <a:r>
              <a:rPr lang="en-US" sz="1400" dirty="0">
                <a:solidFill>
                  <a:srgbClr val="16261E"/>
                </a:solidFill>
                <a:latin typeface="Calibri" pitchFamily="34" charset="0"/>
                <a:ea typeface="Calibri" pitchFamily="34" charset="-122"/>
                <a:cs typeface="Calibri" pitchFamily="34" charset="-120"/>
              </a:rPr>
              <a:t>To design, develop and evaluate a machine learning-based multi-cloud framework that recommends Apache Spark deployment configurations across AWS and Azure by jointly considering execution runtime, infrastructure cost, SLA constraints, regional carbon intensity and renewable energy availability.</a:t>
            </a:r>
            <a:endParaRPr lang="en-US" sz="1100" dirty="0"/>
          </a:p>
        </p:txBody>
      </p:sp>
      <p:sp>
        <p:nvSpPr>
          <p:cNvPr id="6" name="Shape 4"/>
          <p:cNvSpPr/>
          <p:nvPr/>
        </p:nvSpPr>
        <p:spPr>
          <a:xfrm>
            <a:off x="566928" y="2761488"/>
            <a:ext cx="384048" cy="384048"/>
          </a:xfrm>
          <a:prstGeom prst="ellipse">
            <a:avLst/>
          </a:prstGeom>
          <a:solidFill>
            <a:srgbClr val="3E6B55"/>
          </a:solidFill>
          <a:ln w="12700">
            <a:solidFill>
              <a:srgbClr val="3E6B55"/>
            </a:solidFill>
            <a:prstDash val="solid"/>
          </a:ln>
        </p:spPr>
        <p:txBody>
          <a:bodyPr/>
          <a:lstStyle/>
          <a:p>
            <a:endParaRPr lang="en-LK"/>
          </a:p>
        </p:txBody>
      </p:sp>
      <p:sp>
        <p:nvSpPr>
          <p:cNvPr id="7" name="Text 5"/>
          <p:cNvSpPr/>
          <p:nvPr/>
        </p:nvSpPr>
        <p:spPr>
          <a:xfrm>
            <a:off x="566928" y="27614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33856" y="2715768"/>
            <a:ext cx="5989320" cy="658368"/>
          </a:xfrm>
          <a:prstGeom prst="rect">
            <a:avLst/>
          </a:prstGeom>
          <a:noFill/>
          <a:ln/>
        </p:spPr>
        <p:txBody>
          <a:bodyPr wrap="square" lIns="0" tIns="0" rIns="0" bIns="0" rtlCol="0" anchor="ctr"/>
          <a:lstStyle/>
          <a:p>
            <a:pPr marL="0" indent="0">
              <a:lnSpc>
                <a:spcPts val="1800"/>
              </a:lnSpc>
              <a:buNone/>
            </a:pPr>
            <a:r>
              <a:rPr lang="en-US" sz="1350" dirty="0">
                <a:solidFill>
                  <a:srgbClr val="16261E"/>
                </a:solidFill>
                <a:latin typeface="Calibri" pitchFamily="34" charset="0"/>
                <a:ea typeface="Calibri" pitchFamily="34" charset="-122"/>
                <a:cs typeface="Calibri" pitchFamily="34" charset="-120"/>
              </a:rPr>
              <a:t>Can runtime and cost be predicted accurately enough from configuration alone — with zero new profiling runs for a workload the system has not benchmarked at that size?</a:t>
            </a:r>
            <a:endParaRPr lang="en-US" sz="1350" dirty="0"/>
          </a:p>
        </p:txBody>
      </p:sp>
      <p:sp>
        <p:nvSpPr>
          <p:cNvPr id="9" name="Shape 7"/>
          <p:cNvSpPr/>
          <p:nvPr/>
        </p:nvSpPr>
        <p:spPr>
          <a:xfrm>
            <a:off x="566928" y="3602736"/>
            <a:ext cx="384048" cy="384048"/>
          </a:xfrm>
          <a:prstGeom prst="ellipse">
            <a:avLst/>
          </a:prstGeom>
          <a:solidFill>
            <a:srgbClr val="3E6B55"/>
          </a:solidFill>
          <a:ln w="12700">
            <a:solidFill>
              <a:srgbClr val="3E6B55"/>
            </a:solidFill>
            <a:prstDash val="solid"/>
          </a:ln>
        </p:spPr>
        <p:txBody>
          <a:bodyPr/>
          <a:lstStyle/>
          <a:p>
            <a:endParaRPr lang="en-LK"/>
          </a:p>
        </p:txBody>
      </p:sp>
      <p:sp>
        <p:nvSpPr>
          <p:cNvPr id="10" name="Text 8"/>
          <p:cNvSpPr/>
          <p:nvPr/>
        </p:nvSpPr>
        <p:spPr>
          <a:xfrm>
            <a:off x="566928" y="36027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33856" y="3557016"/>
            <a:ext cx="5989320" cy="658368"/>
          </a:xfrm>
          <a:prstGeom prst="rect">
            <a:avLst/>
          </a:prstGeom>
          <a:noFill/>
          <a:ln/>
        </p:spPr>
        <p:txBody>
          <a:bodyPr wrap="square" lIns="0" tIns="0" rIns="0" bIns="0" rtlCol="0" anchor="ctr"/>
          <a:lstStyle/>
          <a:p>
            <a:pPr marL="0" indent="0">
              <a:lnSpc>
                <a:spcPts val="1800"/>
              </a:lnSpc>
              <a:buNone/>
            </a:pPr>
            <a:r>
              <a:rPr lang="en-US" sz="1350" dirty="0">
                <a:solidFill>
                  <a:srgbClr val="16261E"/>
                </a:solidFill>
                <a:latin typeface="Calibri" pitchFamily="34" charset="0"/>
                <a:ea typeface="Calibri" pitchFamily="34" charset="-122"/>
                <a:cs typeface="Calibri" pitchFamily="34" charset="-120"/>
              </a:rPr>
              <a:t>Does a model-driven recommendation beat simple heuristics once a hard SLA deadline is imposed?</a:t>
            </a:r>
            <a:endParaRPr lang="en-US" sz="1350" dirty="0"/>
          </a:p>
        </p:txBody>
      </p:sp>
      <p:sp>
        <p:nvSpPr>
          <p:cNvPr id="12" name="Shape 10"/>
          <p:cNvSpPr/>
          <p:nvPr/>
        </p:nvSpPr>
        <p:spPr>
          <a:xfrm>
            <a:off x="566928" y="4443984"/>
            <a:ext cx="384048" cy="384048"/>
          </a:xfrm>
          <a:prstGeom prst="ellipse">
            <a:avLst/>
          </a:prstGeom>
          <a:solidFill>
            <a:srgbClr val="3E6B55"/>
          </a:solidFill>
          <a:ln w="12700">
            <a:solidFill>
              <a:srgbClr val="3E6B55"/>
            </a:solidFill>
            <a:prstDash val="solid"/>
          </a:ln>
        </p:spPr>
        <p:txBody>
          <a:bodyPr/>
          <a:lstStyle/>
          <a:p>
            <a:endParaRPr lang="en-LK"/>
          </a:p>
        </p:txBody>
      </p:sp>
      <p:sp>
        <p:nvSpPr>
          <p:cNvPr id="13" name="Text 11"/>
          <p:cNvSpPr/>
          <p:nvPr/>
        </p:nvSpPr>
        <p:spPr>
          <a:xfrm>
            <a:off x="566928" y="44439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33856" y="4398264"/>
            <a:ext cx="5989320" cy="658368"/>
          </a:xfrm>
          <a:prstGeom prst="rect">
            <a:avLst/>
          </a:prstGeom>
          <a:noFill/>
          <a:ln/>
        </p:spPr>
        <p:txBody>
          <a:bodyPr wrap="square" lIns="0" tIns="0" rIns="0" bIns="0" rtlCol="0" anchor="ctr"/>
          <a:lstStyle/>
          <a:p>
            <a:pPr marL="0" indent="0">
              <a:lnSpc>
                <a:spcPts val="1800"/>
              </a:lnSpc>
              <a:buNone/>
            </a:pPr>
            <a:r>
              <a:rPr lang="en-US" sz="1350" dirty="0">
                <a:solidFill>
                  <a:srgbClr val="16261E"/>
                </a:solidFill>
                <a:latin typeface="Calibri" pitchFamily="34" charset="0"/>
                <a:ea typeface="Calibri" pitchFamily="34" charset="-122"/>
                <a:cs typeface="Calibri" pitchFamily="34" charset="-120"/>
              </a:rPr>
              <a:t>Does computing emissions per run change the deployment decision, relative to ranking regions by grid carbon intensity?</a:t>
            </a:r>
            <a:endParaRPr lang="en-US" sz="1350" dirty="0"/>
          </a:p>
        </p:txBody>
      </p:sp>
      <p:sp>
        <p:nvSpPr>
          <p:cNvPr id="15" name="Shape 13"/>
          <p:cNvSpPr/>
          <p:nvPr/>
        </p:nvSpPr>
        <p:spPr>
          <a:xfrm>
            <a:off x="7178040" y="2706624"/>
            <a:ext cx="4443984" cy="2999232"/>
          </a:xfrm>
          <a:prstGeom prst="roundRect">
            <a:avLst>
              <a:gd name="adj" fmla="val 2744"/>
            </a:avLst>
          </a:prstGeom>
          <a:solidFill>
            <a:srgbClr val="16261E"/>
          </a:solidFill>
          <a:ln w="12700">
            <a:solidFill>
              <a:srgbClr val="16261E"/>
            </a:solidFill>
            <a:prstDash val="solid"/>
          </a:ln>
          <a:effectLst>
            <a:outerShdw blurRad="127000" dist="25400" dir="5400000" algn="bl" rotWithShape="0">
              <a:srgbClr val="12201A">
                <a:alpha val="13000"/>
              </a:srgbClr>
            </a:outerShdw>
          </a:effectLst>
        </p:spPr>
        <p:txBody>
          <a:bodyPr/>
          <a:lstStyle/>
          <a:p>
            <a:endParaRPr lang="en-LK"/>
          </a:p>
        </p:txBody>
      </p:sp>
      <p:sp>
        <p:nvSpPr>
          <p:cNvPr id="16" name="Text 14"/>
          <p:cNvSpPr/>
          <p:nvPr/>
        </p:nvSpPr>
        <p:spPr>
          <a:xfrm>
            <a:off x="7470648" y="2889504"/>
            <a:ext cx="3931920" cy="256032"/>
          </a:xfrm>
          <a:prstGeom prst="rect">
            <a:avLst/>
          </a:prstGeom>
          <a:noFill/>
          <a:ln/>
        </p:spPr>
        <p:txBody>
          <a:bodyPr wrap="square" lIns="0" tIns="0" rIns="0" bIns="0" rtlCol="0" anchor="ctr"/>
          <a:lstStyle/>
          <a:p>
            <a:pPr marL="0" indent="0">
              <a:buNone/>
            </a:pPr>
            <a:r>
              <a:rPr lang="en-US" sz="1050" b="1" kern="0" spc="130" dirty="0">
                <a:solidFill>
                  <a:srgbClr val="9DC48A"/>
                </a:solidFill>
                <a:latin typeface="Calibri" pitchFamily="34" charset="0"/>
                <a:ea typeface="Calibri" pitchFamily="34" charset="-122"/>
                <a:cs typeface="Calibri" pitchFamily="34" charset="-120"/>
              </a:rPr>
              <a:t>CONTRIBUTIONS</a:t>
            </a:r>
            <a:endParaRPr lang="en-US" sz="1050" dirty="0"/>
          </a:p>
        </p:txBody>
      </p:sp>
      <p:sp>
        <p:nvSpPr>
          <p:cNvPr id="17" name="Text 15"/>
          <p:cNvSpPr/>
          <p:nvPr/>
        </p:nvSpPr>
        <p:spPr>
          <a:xfrm>
            <a:off x="7470648" y="3273552"/>
            <a:ext cx="3886200" cy="23774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 measured </a:t>
            </a:r>
            <a:r>
              <a:rPr lang="en-US" sz="1250" b="1" dirty="0" err="1">
                <a:solidFill>
                  <a:srgbClr val="FFFFFF"/>
                </a:solidFill>
                <a:latin typeface="Calibri" pitchFamily="34" charset="0"/>
                <a:ea typeface="Calibri" pitchFamily="34" charset="-122"/>
                <a:cs typeface="Calibri" pitchFamily="34" charset="-120"/>
              </a:rPr>
              <a:t>datset</a:t>
            </a:r>
            <a:endParaRPr lang="en-US" sz="1250" dirty="0"/>
          </a:p>
        </p:txBody>
      </p:sp>
      <p:sp>
        <p:nvSpPr>
          <p:cNvPr id="18" name="Text 16"/>
          <p:cNvSpPr/>
          <p:nvPr/>
        </p:nvSpPr>
        <p:spPr>
          <a:xfrm>
            <a:off x="7470648" y="3502152"/>
            <a:ext cx="3886200" cy="530352"/>
          </a:xfrm>
          <a:prstGeom prst="rect">
            <a:avLst/>
          </a:prstGeom>
          <a:noFill/>
          <a:ln/>
        </p:spPr>
        <p:txBody>
          <a:bodyPr wrap="square" lIns="0" tIns="0" rIns="0" bIns="0" rtlCol="0" anchor="ctr"/>
          <a:lstStyle/>
          <a:p>
            <a:pPr marL="0" indent="0">
              <a:lnSpc>
                <a:spcPts val="1400"/>
              </a:lnSpc>
              <a:buNone/>
            </a:pPr>
            <a:r>
              <a:rPr lang="en-US" sz="1100" dirty="0">
                <a:solidFill>
                  <a:srgbClr val="AEBFB4"/>
                </a:solidFill>
                <a:latin typeface="Calibri" pitchFamily="34" charset="0"/>
                <a:ea typeface="Calibri" pitchFamily="34" charset="-122"/>
                <a:cs typeface="Calibri" pitchFamily="34" charset="-120"/>
              </a:rPr>
              <a:t>1,811 live executions across two providers, four regions, twelve machine types — not simulation.</a:t>
            </a:r>
            <a:endParaRPr lang="en-US" sz="1100" dirty="0"/>
          </a:p>
        </p:txBody>
      </p:sp>
      <p:sp>
        <p:nvSpPr>
          <p:cNvPr id="19" name="Text 17"/>
          <p:cNvSpPr/>
          <p:nvPr/>
        </p:nvSpPr>
        <p:spPr>
          <a:xfrm>
            <a:off x="7470648" y="4078224"/>
            <a:ext cx="3886200" cy="23774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 leakage-controlled protocol</a:t>
            </a:r>
            <a:endParaRPr lang="en-US" sz="1250" dirty="0"/>
          </a:p>
        </p:txBody>
      </p:sp>
      <p:sp>
        <p:nvSpPr>
          <p:cNvPr id="20" name="Text 18"/>
          <p:cNvSpPr/>
          <p:nvPr/>
        </p:nvSpPr>
        <p:spPr>
          <a:xfrm>
            <a:off x="7470648" y="4306824"/>
            <a:ext cx="3886200" cy="530352"/>
          </a:xfrm>
          <a:prstGeom prst="rect">
            <a:avLst/>
          </a:prstGeom>
          <a:noFill/>
          <a:ln/>
        </p:spPr>
        <p:txBody>
          <a:bodyPr wrap="square" lIns="0" tIns="0" rIns="0" bIns="0" rtlCol="0" anchor="ctr"/>
          <a:lstStyle/>
          <a:p>
            <a:pPr marL="0" indent="0">
              <a:lnSpc>
                <a:spcPts val="1400"/>
              </a:lnSpc>
              <a:buNone/>
            </a:pPr>
            <a:r>
              <a:rPr lang="en-US" sz="1100" dirty="0">
                <a:solidFill>
                  <a:srgbClr val="AEBFB4"/>
                </a:solidFill>
                <a:latin typeface="Calibri" pitchFamily="34" charset="0"/>
                <a:ea typeface="Calibri" pitchFamily="34" charset="-122"/>
                <a:cs typeface="Calibri" pitchFamily="34" charset="-120"/>
              </a:rPr>
              <a:t>Grouped splitting and grouped CV, so 439 repeated configurations never straddle a train/test boundary.</a:t>
            </a:r>
            <a:endParaRPr lang="en-US" sz="1100" dirty="0"/>
          </a:p>
        </p:txBody>
      </p:sp>
      <p:sp>
        <p:nvSpPr>
          <p:cNvPr id="21" name="Text 19"/>
          <p:cNvSpPr/>
          <p:nvPr/>
        </p:nvSpPr>
        <p:spPr>
          <a:xfrm>
            <a:off x="7470648" y="4882896"/>
            <a:ext cx="3886200" cy="23774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 counter-intuitive finding</a:t>
            </a:r>
            <a:endParaRPr lang="en-US" sz="1250" dirty="0"/>
          </a:p>
        </p:txBody>
      </p:sp>
      <p:sp>
        <p:nvSpPr>
          <p:cNvPr id="22" name="Text 20"/>
          <p:cNvSpPr/>
          <p:nvPr/>
        </p:nvSpPr>
        <p:spPr>
          <a:xfrm>
            <a:off x="7470648" y="5111496"/>
            <a:ext cx="3886200" cy="530352"/>
          </a:xfrm>
          <a:prstGeom prst="rect">
            <a:avLst/>
          </a:prstGeom>
          <a:noFill/>
          <a:ln/>
        </p:spPr>
        <p:txBody>
          <a:bodyPr wrap="square" lIns="0" tIns="0" rIns="0" bIns="0" rtlCol="0" anchor="ctr"/>
          <a:lstStyle/>
          <a:p>
            <a:pPr marL="0" indent="0">
              <a:lnSpc>
                <a:spcPts val="1400"/>
              </a:lnSpc>
              <a:buNone/>
            </a:pPr>
            <a:r>
              <a:rPr lang="en-US" sz="1100" dirty="0">
                <a:solidFill>
                  <a:srgbClr val="AEBFB4"/>
                </a:solidFill>
                <a:latin typeface="Calibri" pitchFamily="34" charset="0"/>
                <a:ea typeface="Calibri" pitchFamily="34" charset="-122"/>
                <a:cs typeface="Calibri" pitchFamily="34" charset="-120"/>
              </a:rPr>
              <a:t>Per-run emissions accounting and grid-intensity ranking select opposite regions.</a:t>
            </a:r>
            <a:endParaRPr lang="en-US" sz="1100" dirty="0"/>
          </a:p>
        </p:txBody>
      </p:sp>
      <p:sp>
        <p:nvSpPr>
          <p:cNvPr id="24" name="Text 22"/>
          <p:cNvSpPr/>
          <p:nvPr/>
        </p:nvSpPr>
        <p:spPr>
          <a:xfrm>
            <a:off x="10984687" y="6382512"/>
            <a:ext cx="640080" cy="256032"/>
          </a:xfrm>
          <a:prstGeom prst="rect">
            <a:avLst/>
          </a:prstGeom>
          <a:noFill/>
          <a:ln/>
        </p:spPr>
        <p:txBody>
          <a:bodyPr wrap="square" lIns="0" tIns="0" rIns="0" bIns="0" rtlCol="0" anchor="ctr"/>
          <a:lstStyle/>
          <a:p>
            <a:pPr marL="0" indent="0" algn="r">
              <a:buNone/>
            </a:pPr>
            <a:r>
              <a:rPr lang="en-US" sz="1050" dirty="0">
                <a:solidFill>
                  <a:srgbClr val="96A29B"/>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61E"/>
        </a:solidFill>
        <a:effectLst/>
      </p:bgPr>
    </p:bg>
    <p:spTree>
      <p:nvGrpSpPr>
        <p:cNvPr id="1" name=""/>
        <p:cNvGrpSpPr/>
        <p:nvPr/>
      </p:nvGrpSpPr>
      <p:grpSpPr>
        <a:xfrm>
          <a:off x="0" y="0"/>
          <a:ext cx="0" cy="0"/>
          <a:chOff x="0" y="0"/>
          <a:chExt cx="0" cy="0"/>
        </a:xfrm>
      </p:grpSpPr>
      <p:sp>
        <p:nvSpPr>
          <p:cNvPr id="2" name="Text 0"/>
          <p:cNvSpPr/>
          <p:nvPr/>
        </p:nvSpPr>
        <p:spPr>
          <a:xfrm>
            <a:off x="566928" y="329184"/>
            <a:ext cx="10515600" cy="237744"/>
          </a:xfrm>
          <a:prstGeom prst="rect">
            <a:avLst/>
          </a:prstGeom>
          <a:noFill/>
          <a:ln/>
        </p:spPr>
        <p:txBody>
          <a:bodyPr wrap="square" lIns="0" tIns="0" rIns="0" bIns="0" rtlCol="0" anchor="ctr"/>
          <a:lstStyle/>
          <a:p>
            <a:pPr marL="0" indent="0">
              <a:buNone/>
            </a:pPr>
            <a:r>
              <a:rPr lang="en-US" sz="1150" b="1" kern="0" spc="160" dirty="0">
                <a:solidFill>
                  <a:srgbClr val="9DC48A"/>
                </a:solidFill>
                <a:latin typeface="Calibri" pitchFamily="34" charset="0"/>
                <a:ea typeface="Calibri" pitchFamily="34" charset="-122"/>
                <a:cs typeface="Calibri" pitchFamily="34" charset="-120"/>
              </a:rPr>
              <a:t>THE PROPOSED SOLUTION</a:t>
            </a:r>
            <a:endParaRPr lang="en-US" sz="1150" dirty="0"/>
          </a:p>
        </p:txBody>
      </p:sp>
      <p:sp>
        <p:nvSpPr>
          <p:cNvPr id="3" name="Text 1"/>
          <p:cNvSpPr/>
          <p:nvPr/>
        </p:nvSpPr>
        <p:spPr>
          <a:xfrm>
            <a:off x="566928" y="576072"/>
            <a:ext cx="11064240" cy="603504"/>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Five layers — and no benchmark run at inference</a:t>
            </a:r>
            <a:endParaRPr lang="en-US" sz="3100" dirty="0"/>
          </a:p>
        </p:txBody>
      </p:sp>
      <p:sp>
        <p:nvSpPr>
          <p:cNvPr id="4" name="Shape 2"/>
          <p:cNvSpPr/>
          <p:nvPr/>
        </p:nvSpPr>
        <p:spPr>
          <a:xfrm>
            <a:off x="566928" y="1572768"/>
            <a:ext cx="2066544" cy="2761488"/>
          </a:xfrm>
          <a:prstGeom prst="roundRect">
            <a:avLst>
              <a:gd name="adj" fmla="val 4425"/>
            </a:avLst>
          </a:prstGeom>
          <a:solidFill>
            <a:srgbClr val="24382D"/>
          </a:solidFill>
          <a:ln w="12700">
            <a:solidFill>
              <a:srgbClr val="3A5647"/>
            </a:solidFill>
            <a:prstDash val="solid"/>
          </a:ln>
        </p:spPr>
        <p:txBody>
          <a:bodyPr/>
          <a:lstStyle/>
          <a:p>
            <a:endParaRPr lang="en-LK"/>
          </a:p>
        </p:txBody>
      </p:sp>
      <p:sp>
        <p:nvSpPr>
          <p:cNvPr id="5" name="Shape 3"/>
          <p:cNvSpPr/>
          <p:nvPr/>
        </p:nvSpPr>
        <p:spPr>
          <a:xfrm>
            <a:off x="822960" y="1810512"/>
            <a:ext cx="384048" cy="384048"/>
          </a:xfrm>
          <a:prstGeom prst="ellipse">
            <a:avLst/>
          </a:prstGeom>
          <a:solidFill>
            <a:srgbClr val="3E6B55"/>
          </a:solidFill>
          <a:ln w="12700">
            <a:solidFill>
              <a:srgbClr val="3E6B55"/>
            </a:solidFill>
            <a:prstDash val="solid"/>
          </a:ln>
        </p:spPr>
        <p:txBody>
          <a:bodyPr/>
          <a:lstStyle/>
          <a:p>
            <a:endParaRPr lang="en-LK"/>
          </a:p>
        </p:txBody>
      </p:sp>
      <p:sp>
        <p:nvSpPr>
          <p:cNvPr id="6" name="Text 4"/>
          <p:cNvSpPr/>
          <p:nvPr/>
        </p:nvSpPr>
        <p:spPr>
          <a:xfrm>
            <a:off x="822960" y="18105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04672" y="2340864"/>
            <a:ext cx="1609344" cy="713232"/>
          </a:xfrm>
          <a:prstGeom prst="rect">
            <a:avLst/>
          </a:prstGeom>
          <a:noFill/>
          <a:ln/>
        </p:spPr>
        <p:txBody>
          <a:bodyPr wrap="square" lIns="0" tIns="0" rIns="0" bIns="0" rtlCol="0" anchor="ctr"/>
          <a:lstStyle/>
          <a:p>
            <a:pPr marL="0" indent="0">
              <a:lnSpc>
                <a:spcPts val="1900"/>
              </a:lnSpc>
              <a:buNone/>
            </a:pPr>
            <a:r>
              <a:rPr lang="en-US" sz="1500" b="1" dirty="0">
                <a:solidFill>
                  <a:srgbClr val="FFFFFF"/>
                </a:solidFill>
                <a:latin typeface="Cambria" pitchFamily="34" charset="0"/>
                <a:ea typeface="Cambria" pitchFamily="34" charset="-122"/>
                <a:cs typeface="Cambria" pitchFamily="34" charset="-120"/>
              </a:rPr>
              <a:t>Cloud</a:t>
            </a:r>
            <a:endParaRPr lang="en-US" sz="1500" dirty="0"/>
          </a:p>
          <a:p>
            <a:pPr marL="0" indent="0">
              <a:lnSpc>
                <a:spcPts val="1900"/>
              </a:lnSpc>
              <a:buNone/>
            </a:pPr>
            <a:r>
              <a:rPr lang="en-US" sz="1500" b="1" dirty="0">
                <a:solidFill>
                  <a:srgbClr val="FFFFFF"/>
                </a:solidFill>
                <a:latin typeface="Cambria" pitchFamily="34" charset="0"/>
                <a:ea typeface="Cambria" pitchFamily="34" charset="-122"/>
                <a:cs typeface="Cambria" pitchFamily="34" charset="-120"/>
              </a:rPr>
              <a:t>Benchmarking</a:t>
            </a:r>
            <a:endParaRPr lang="en-US" sz="1500" dirty="0"/>
          </a:p>
        </p:txBody>
      </p:sp>
      <p:sp>
        <p:nvSpPr>
          <p:cNvPr id="8" name="Text 6"/>
          <p:cNvSpPr/>
          <p:nvPr/>
        </p:nvSpPr>
        <p:spPr>
          <a:xfrm>
            <a:off x="804672" y="3108960"/>
            <a:ext cx="1609344" cy="1097280"/>
          </a:xfrm>
          <a:prstGeom prst="rect">
            <a:avLst/>
          </a:prstGeom>
          <a:noFill/>
          <a:ln/>
        </p:spPr>
        <p:txBody>
          <a:bodyPr wrap="square" lIns="0" tIns="0" rIns="0" bIns="0" rtlCol="0" anchor="ctr"/>
          <a:lstStyle/>
          <a:p>
            <a:pPr marL="0" indent="0">
              <a:lnSpc>
                <a:spcPts val="1500"/>
              </a:lnSpc>
              <a:buNone/>
            </a:pPr>
            <a:r>
              <a:rPr lang="en-US" sz="1100" dirty="0">
                <a:solidFill>
                  <a:srgbClr val="AEBFB4"/>
                </a:solidFill>
                <a:latin typeface="Calibri" pitchFamily="34" charset="0"/>
                <a:ea typeface="Calibri" pitchFamily="34" charset="-122"/>
                <a:cs typeface="Calibri" pitchFamily="34" charset="-120"/>
              </a:rPr>
              <a:t>Runs three Spark workloads across instance types and node counts on EMR and Azure VMs</a:t>
            </a:r>
            <a:endParaRPr lang="en-US" sz="1100" dirty="0"/>
          </a:p>
        </p:txBody>
      </p:sp>
      <p:sp>
        <p:nvSpPr>
          <p:cNvPr id="9" name="Text 7"/>
          <p:cNvSpPr/>
          <p:nvPr/>
        </p:nvSpPr>
        <p:spPr>
          <a:xfrm>
            <a:off x="2615184" y="2743200"/>
            <a:ext cx="210312" cy="365760"/>
          </a:xfrm>
          <a:prstGeom prst="rect">
            <a:avLst/>
          </a:prstGeom>
          <a:noFill/>
          <a:ln/>
        </p:spPr>
        <p:txBody>
          <a:bodyPr wrap="square" lIns="0" tIns="0" rIns="0" bIns="0" rtlCol="0" anchor="ctr"/>
          <a:lstStyle/>
          <a:p>
            <a:pPr marL="0" indent="0" algn="ctr">
              <a:buNone/>
            </a:pPr>
            <a:r>
              <a:rPr lang="en-US" sz="2000" b="1" dirty="0">
                <a:solidFill>
                  <a:srgbClr val="557064"/>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807208" y="1572768"/>
            <a:ext cx="2066544" cy="2761488"/>
          </a:xfrm>
          <a:prstGeom prst="roundRect">
            <a:avLst>
              <a:gd name="adj" fmla="val 4425"/>
            </a:avLst>
          </a:prstGeom>
          <a:solidFill>
            <a:srgbClr val="24382D"/>
          </a:solidFill>
          <a:ln w="12700">
            <a:solidFill>
              <a:srgbClr val="3A5647"/>
            </a:solidFill>
            <a:prstDash val="solid"/>
          </a:ln>
        </p:spPr>
        <p:txBody>
          <a:bodyPr/>
          <a:lstStyle/>
          <a:p>
            <a:endParaRPr lang="en-LK"/>
          </a:p>
        </p:txBody>
      </p:sp>
      <p:sp>
        <p:nvSpPr>
          <p:cNvPr id="11" name="Shape 9"/>
          <p:cNvSpPr/>
          <p:nvPr/>
        </p:nvSpPr>
        <p:spPr>
          <a:xfrm>
            <a:off x="3063240" y="1810512"/>
            <a:ext cx="384048" cy="384048"/>
          </a:xfrm>
          <a:prstGeom prst="ellipse">
            <a:avLst/>
          </a:prstGeom>
          <a:solidFill>
            <a:srgbClr val="3E6B55"/>
          </a:solidFill>
          <a:ln w="12700">
            <a:solidFill>
              <a:srgbClr val="3E6B55"/>
            </a:solidFill>
            <a:prstDash val="solid"/>
          </a:ln>
        </p:spPr>
        <p:txBody>
          <a:bodyPr/>
          <a:lstStyle/>
          <a:p>
            <a:endParaRPr lang="en-LK"/>
          </a:p>
        </p:txBody>
      </p:sp>
      <p:sp>
        <p:nvSpPr>
          <p:cNvPr id="12" name="Text 10"/>
          <p:cNvSpPr/>
          <p:nvPr/>
        </p:nvSpPr>
        <p:spPr>
          <a:xfrm>
            <a:off x="3063240" y="18105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044952" y="2340864"/>
            <a:ext cx="1609344" cy="713232"/>
          </a:xfrm>
          <a:prstGeom prst="rect">
            <a:avLst/>
          </a:prstGeom>
          <a:noFill/>
          <a:ln/>
        </p:spPr>
        <p:txBody>
          <a:bodyPr wrap="square" lIns="0" tIns="0" rIns="0" bIns="0" rtlCol="0" anchor="ctr"/>
          <a:lstStyle/>
          <a:p>
            <a:pPr marL="0" indent="0">
              <a:lnSpc>
                <a:spcPts val="1900"/>
              </a:lnSpc>
              <a:buNone/>
            </a:pPr>
            <a:r>
              <a:rPr lang="en-US" sz="1500" b="1" dirty="0">
                <a:solidFill>
                  <a:srgbClr val="FFFFFF"/>
                </a:solidFill>
                <a:latin typeface="Cambria" pitchFamily="34" charset="0"/>
                <a:ea typeface="Cambria" pitchFamily="34" charset="-122"/>
                <a:cs typeface="Cambria" pitchFamily="34" charset="-120"/>
              </a:rPr>
              <a:t>Dataset</a:t>
            </a:r>
            <a:endParaRPr lang="en-US" sz="1500" dirty="0"/>
          </a:p>
          <a:p>
            <a:pPr marL="0" indent="0">
              <a:lnSpc>
                <a:spcPts val="1900"/>
              </a:lnSpc>
              <a:buNone/>
            </a:pPr>
            <a:r>
              <a:rPr lang="en-US" sz="1500" b="1" dirty="0">
                <a:solidFill>
                  <a:srgbClr val="FFFFFF"/>
                </a:solidFill>
                <a:latin typeface="Cambria" pitchFamily="34" charset="0"/>
                <a:ea typeface="Cambria" pitchFamily="34" charset="-122"/>
                <a:cs typeface="Cambria" pitchFamily="34" charset="-120"/>
              </a:rPr>
              <a:t>Integration</a:t>
            </a:r>
            <a:endParaRPr lang="en-US" sz="1500" dirty="0"/>
          </a:p>
        </p:txBody>
      </p:sp>
      <p:sp>
        <p:nvSpPr>
          <p:cNvPr id="14" name="Text 12"/>
          <p:cNvSpPr/>
          <p:nvPr/>
        </p:nvSpPr>
        <p:spPr>
          <a:xfrm>
            <a:off x="3044952" y="3108960"/>
            <a:ext cx="1609344" cy="1097280"/>
          </a:xfrm>
          <a:prstGeom prst="rect">
            <a:avLst/>
          </a:prstGeom>
          <a:noFill/>
          <a:ln/>
        </p:spPr>
        <p:txBody>
          <a:bodyPr wrap="square" lIns="0" tIns="0" rIns="0" bIns="0" rtlCol="0" anchor="ctr"/>
          <a:lstStyle/>
          <a:p>
            <a:pPr marL="0" indent="0">
              <a:lnSpc>
                <a:spcPts val="1500"/>
              </a:lnSpc>
              <a:buNone/>
            </a:pPr>
            <a:r>
              <a:rPr lang="en-US" sz="1100" dirty="0">
                <a:solidFill>
                  <a:srgbClr val="AEBFB4"/>
                </a:solidFill>
                <a:latin typeface="Calibri" pitchFamily="34" charset="0"/>
                <a:ea typeface="Calibri" pitchFamily="34" charset="-122"/>
                <a:cs typeface="Calibri" pitchFamily="34" charset="-120"/>
              </a:rPr>
              <a:t>Standardises provider schemas, joins pricing and Electricity Maps data into one table</a:t>
            </a:r>
            <a:endParaRPr lang="en-US" sz="1100" dirty="0"/>
          </a:p>
        </p:txBody>
      </p:sp>
      <p:sp>
        <p:nvSpPr>
          <p:cNvPr id="15" name="Text 13"/>
          <p:cNvSpPr/>
          <p:nvPr/>
        </p:nvSpPr>
        <p:spPr>
          <a:xfrm>
            <a:off x="4855464" y="2743200"/>
            <a:ext cx="210312" cy="365760"/>
          </a:xfrm>
          <a:prstGeom prst="rect">
            <a:avLst/>
          </a:prstGeom>
          <a:noFill/>
          <a:ln/>
        </p:spPr>
        <p:txBody>
          <a:bodyPr wrap="square" lIns="0" tIns="0" rIns="0" bIns="0" rtlCol="0" anchor="ctr"/>
          <a:lstStyle/>
          <a:p>
            <a:pPr marL="0" indent="0" algn="ctr">
              <a:buNone/>
            </a:pPr>
            <a:r>
              <a:rPr lang="en-US" sz="2000" b="1" dirty="0">
                <a:solidFill>
                  <a:srgbClr val="557064"/>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5047488" y="1572768"/>
            <a:ext cx="2066544" cy="2761488"/>
          </a:xfrm>
          <a:prstGeom prst="roundRect">
            <a:avLst>
              <a:gd name="adj" fmla="val 4425"/>
            </a:avLst>
          </a:prstGeom>
          <a:solidFill>
            <a:srgbClr val="24382D"/>
          </a:solidFill>
          <a:ln w="12700">
            <a:solidFill>
              <a:srgbClr val="3A5647"/>
            </a:solidFill>
            <a:prstDash val="solid"/>
          </a:ln>
        </p:spPr>
        <p:txBody>
          <a:bodyPr/>
          <a:lstStyle/>
          <a:p>
            <a:endParaRPr lang="en-LK"/>
          </a:p>
        </p:txBody>
      </p:sp>
      <p:sp>
        <p:nvSpPr>
          <p:cNvPr id="17" name="Shape 15"/>
          <p:cNvSpPr/>
          <p:nvPr/>
        </p:nvSpPr>
        <p:spPr>
          <a:xfrm>
            <a:off x="5303520" y="1810512"/>
            <a:ext cx="384048" cy="384048"/>
          </a:xfrm>
          <a:prstGeom prst="ellipse">
            <a:avLst/>
          </a:prstGeom>
          <a:solidFill>
            <a:srgbClr val="3E6B55"/>
          </a:solidFill>
          <a:ln w="12700">
            <a:solidFill>
              <a:srgbClr val="3E6B55"/>
            </a:solidFill>
            <a:prstDash val="solid"/>
          </a:ln>
        </p:spPr>
        <p:txBody>
          <a:bodyPr/>
          <a:lstStyle/>
          <a:p>
            <a:endParaRPr lang="en-LK"/>
          </a:p>
        </p:txBody>
      </p:sp>
      <p:sp>
        <p:nvSpPr>
          <p:cNvPr id="18" name="Text 16"/>
          <p:cNvSpPr/>
          <p:nvPr/>
        </p:nvSpPr>
        <p:spPr>
          <a:xfrm>
            <a:off x="5303520" y="18105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5285232" y="2340864"/>
            <a:ext cx="1609344" cy="713232"/>
          </a:xfrm>
          <a:prstGeom prst="rect">
            <a:avLst/>
          </a:prstGeom>
          <a:noFill/>
          <a:ln/>
        </p:spPr>
        <p:txBody>
          <a:bodyPr wrap="square" lIns="0" tIns="0" rIns="0" bIns="0" rtlCol="0" anchor="ctr"/>
          <a:lstStyle/>
          <a:p>
            <a:pPr marL="0" indent="0">
              <a:lnSpc>
                <a:spcPts val="1900"/>
              </a:lnSpc>
              <a:buNone/>
            </a:pPr>
            <a:r>
              <a:rPr lang="en-US" sz="1500" b="1" dirty="0">
                <a:solidFill>
                  <a:srgbClr val="FFFFFF"/>
                </a:solidFill>
                <a:latin typeface="Cambria" pitchFamily="34" charset="0"/>
                <a:ea typeface="Cambria" pitchFamily="34" charset="-122"/>
                <a:cs typeface="Cambria" pitchFamily="34" charset="-120"/>
              </a:rPr>
              <a:t>Machine</a:t>
            </a:r>
            <a:endParaRPr lang="en-US" sz="1500" dirty="0"/>
          </a:p>
          <a:p>
            <a:pPr marL="0" indent="0">
              <a:lnSpc>
                <a:spcPts val="1900"/>
              </a:lnSpc>
              <a:buNone/>
            </a:pPr>
            <a:r>
              <a:rPr lang="en-US" sz="1500" b="1" dirty="0">
                <a:solidFill>
                  <a:srgbClr val="FFFFFF"/>
                </a:solidFill>
                <a:latin typeface="Cambria" pitchFamily="34" charset="0"/>
                <a:ea typeface="Cambria" pitchFamily="34" charset="-122"/>
                <a:cs typeface="Cambria" pitchFamily="34" charset="-120"/>
              </a:rPr>
              <a:t>Learning</a:t>
            </a:r>
            <a:endParaRPr lang="en-US" sz="1500" dirty="0"/>
          </a:p>
        </p:txBody>
      </p:sp>
      <p:sp>
        <p:nvSpPr>
          <p:cNvPr id="20" name="Text 18"/>
          <p:cNvSpPr/>
          <p:nvPr/>
        </p:nvSpPr>
        <p:spPr>
          <a:xfrm>
            <a:off x="5285232" y="3108960"/>
            <a:ext cx="1609344" cy="1097280"/>
          </a:xfrm>
          <a:prstGeom prst="rect">
            <a:avLst/>
          </a:prstGeom>
          <a:noFill/>
          <a:ln/>
        </p:spPr>
        <p:txBody>
          <a:bodyPr wrap="square" lIns="0" tIns="0" rIns="0" bIns="0" rtlCol="0" anchor="ctr"/>
          <a:lstStyle/>
          <a:p>
            <a:pPr marL="0" indent="0">
              <a:lnSpc>
                <a:spcPts val="1500"/>
              </a:lnSpc>
              <a:buNone/>
            </a:pPr>
            <a:r>
              <a:rPr lang="en-US" sz="1100" dirty="0">
                <a:solidFill>
                  <a:srgbClr val="AEBFB4"/>
                </a:solidFill>
                <a:latin typeface="Calibri" pitchFamily="34" charset="0"/>
                <a:ea typeface="Calibri" pitchFamily="34" charset="-122"/>
                <a:cs typeface="Calibri" pitchFamily="34" charset="-120"/>
              </a:rPr>
              <a:t>Preprocesses, trains four regressors under grouped CV, persists the best</a:t>
            </a:r>
            <a:endParaRPr lang="en-US" sz="1100" dirty="0"/>
          </a:p>
        </p:txBody>
      </p:sp>
      <p:sp>
        <p:nvSpPr>
          <p:cNvPr id="21" name="Text 19"/>
          <p:cNvSpPr/>
          <p:nvPr/>
        </p:nvSpPr>
        <p:spPr>
          <a:xfrm>
            <a:off x="7095744" y="2743200"/>
            <a:ext cx="210312" cy="365760"/>
          </a:xfrm>
          <a:prstGeom prst="rect">
            <a:avLst/>
          </a:prstGeom>
          <a:noFill/>
          <a:ln/>
        </p:spPr>
        <p:txBody>
          <a:bodyPr wrap="square" lIns="0" tIns="0" rIns="0" bIns="0" rtlCol="0" anchor="ctr"/>
          <a:lstStyle/>
          <a:p>
            <a:pPr marL="0" indent="0" algn="ctr">
              <a:buNone/>
            </a:pPr>
            <a:r>
              <a:rPr lang="en-US" sz="2000" b="1" dirty="0">
                <a:solidFill>
                  <a:srgbClr val="557064"/>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7287768" y="1572768"/>
            <a:ext cx="2066544" cy="2761488"/>
          </a:xfrm>
          <a:prstGeom prst="roundRect">
            <a:avLst>
              <a:gd name="adj" fmla="val 4425"/>
            </a:avLst>
          </a:prstGeom>
          <a:solidFill>
            <a:srgbClr val="24382D"/>
          </a:solidFill>
          <a:ln w="22225">
            <a:solidFill>
              <a:srgbClr val="9DC48A"/>
            </a:solidFill>
            <a:prstDash val="solid"/>
          </a:ln>
        </p:spPr>
        <p:txBody>
          <a:bodyPr/>
          <a:lstStyle/>
          <a:p>
            <a:endParaRPr lang="en-LK"/>
          </a:p>
        </p:txBody>
      </p:sp>
      <p:sp>
        <p:nvSpPr>
          <p:cNvPr id="23" name="Shape 21"/>
          <p:cNvSpPr/>
          <p:nvPr/>
        </p:nvSpPr>
        <p:spPr>
          <a:xfrm>
            <a:off x="7543800" y="1810512"/>
            <a:ext cx="384048" cy="384048"/>
          </a:xfrm>
          <a:prstGeom prst="ellipse">
            <a:avLst/>
          </a:prstGeom>
          <a:solidFill>
            <a:srgbClr val="9DC48A"/>
          </a:solidFill>
          <a:ln w="12700">
            <a:solidFill>
              <a:srgbClr val="9DC48A"/>
            </a:solidFill>
            <a:prstDash val="solid"/>
          </a:ln>
        </p:spPr>
        <p:txBody>
          <a:bodyPr/>
          <a:lstStyle/>
          <a:p>
            <a:endParaRPr lang="en-LK"/>
          </a:p>
        </p:txBody>
      </p:sp>
      <p:sp>
        <p:nvSpPr>
          <p:cNvPr id="24" name="Text 22"/>
          <p:cNvSpPr/>
          <p:nvPr/>
        </p:nvSpPr>
        <p:spPr>
          <a:xfrm>
            <a:off x="7543800" y="1810512"/>
            <a:ext cx="384048" cy="384048"/>
          </a:xfrm>
          <a:prstGeom prst="rect">
            <a:avLst/>
          </a:prstGeom>
          <a:noFill/>
          <a:ln/>
        </p:spPr>
        <p:txBody>
          <a:bodyPr wrap="square" lIns="0" tIns="0" rIns="0" bIns="0" rtlCol="0" anchor="ctr"/>
          <a:lstStyle/>
          <a:p>
            <a:pPr marL="0" indent="0" algn="ctr">
              <a:buNone/>
            </a:pPr>
            <a:r>
              <a:rPr lang="en-US" sz="1300" b="1" dirty="0">
                <a:solidFill>
                  <a:srgbClr val="1626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7525512" y="2340864"/>
            <a:ext cx="1609344" cy="713232"/>
          </a:xfrm>
          <a:prstGeom prst="rect">
            <a:avLst/>
          </a:prstGeom>
          <a:noFill/>
          <a:ln/>
        </p:spPr>
        <p:txBody>
          <a:bodyPr wrap="square" lIns="0" tIns="0" rIns="0" bIns="0" rtlCol="0" anchor="ctr"/>
          <a:lstStyle/>
          <a:p>
            <a:pPr marL="0" indent="0">
              <a:lnSpc>
                <a:spcPts val="1900"/>
              </a:lnSpc>
              <a:buNone/>
            </a:pPr>
            <a:r>
              <a:rPr lang="en-US" sz="1500" b="1" dirty="0">
                <a:solidFill>
                  <a:srgbClr val="FFFFFF"/>
                </a:solidFill>
                <a:latin typeface="Cambria" pitchFamily="34" charset="0"/>
                <a:ea typeface="Cambria" pitchFamily="34" charset="-122"/>
                <a:cs typeface="Cambria" pitchFamily="34" charset="-120"/>
              </a:rPr>
              <a:t>Recommendation</a:t>
            </a:r>
            <a:endParaRPr lang="en-US" sz="1500" dirty="0"/>
          </a:p>
          <a:p>
            <a:pPr marL="0" indent="0">
              <a:lnSpc>
                <a:spcPts val="1900"/>
              </a:lnSpc>
              <a:buNone/>
            </a:pPr>
            <a:r>
              <a:rPr lang="en-US" sz="1500" b="1" dirty="0">
                <a:solidFill>
                  <a:srgbClr val="FFFFFF"/>
                </a:solidFill>
                <a:latin typeface="Cambria" pitchFamily="34" charset="0"/>
                <a:ea typeface="Cambria" pitchFamily="34" charset="-122"/>
                <a:cs typeface="Cambria" pitchFamily="34" charset="-120"/>
              </a:rPr>
              <a:t>Engine</a:t>
            </a:r>
            <a:endParaRPr lang="en-US" sz="1500" dirty="0"/>
          </a:p>
        </p:txBody>
      </p:sp>
      <p:sp>
        <p:nvSpPr>
          <p:cNvPr id="26" name="Text 24"/>
          <p:cNvSpPr/>
          <p:nvPr/>
        </p:nvSpPr>
        <p:spPr>
          <a:xfrm>
            <a:off x="7525512" y="3108960"/>
            <a:ext cx="1609344" cy="1097280"/>
          </a:xfrm>
          <a:prstGeom prst="rect">
            <a:avLst/>
          </a:prstGeom>
          <a:noFill/>
          <a:ln/>
        </p:spPr>
        <p:txBody>
          <a:bodyPr wrap="square" lIns="0" tIns="0" rIns="0" bIns="0" rtlCol="0" anchor="ctr"/>
          <a:lstStyle/>
          <a:p>
            <a:pPr marL="0" indent="0">
              <a:lnSpc>
                <a:spcPts val="1500"/>
              </a:lnSpc>
              <a:buNone/>
            </a:pPr>
            <a:r>
              <a:rPr lang="en-US" sz="1100" dirty="0">
                <a:solidFill>
                  <a:srgbClr val="AEBFB4"/>
                </a:solidFill>
                <a:latin typeface="Calibri" pitchFamily="34" charset="0"/>
                <a:ea typeface="Calibri" pitchFamily="34" charset="-122"/>
                <a:cs typeface="Calibri" pitchFamily="34" charset="-120"/>
              </a:rPr>
              <a:t>Generates candidates, predicts, computes emissions, filters on SLA, ranks by objective</a:t>
            </a:r>
            <a:endParaRPr lang="en-US" sz="1100" dirty="0"/>
          </a:p>
        </p:txBody>
      </p:sp>
      <p:sp>
        <p:nvSpPr>
          <p:cNvPr id="27" name="Text 25"/>
          <p:cNvSpPr/>
          <p:nvPr/>
        </p:nvSpPr>
        <p:spPr>
          <a:xfrm>
            <a:off x="9336024" y="2743200"/>
            <a:ext cx="210312" cy="365760"/>
          </a:xfrm>
          <a:prstGeom prst="rect">
            <a:avLst/>
          </a:prstGeom>
          <a:noFill/>
          <a:ln/>
        </p:spPr>
        <p:txBody>
          <a:bodyPr wrap="square" lIns="0" tIns="0" rIns="0" bIns="0" rtlCol="0" anchor="ctr"/>
          <a:lstStyle/>
          <a:p>
            <a:pPr marL="0" indent="0" algn="ctr">
              <a:buNone/>
            </a:pPr>
            <a:r>
              <a:rPr lang="en-US" sz="2000" b="1" dirty="0">
                <a:solidFill>
                  <a:srgbClr val="557064"/>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9528048" y="1572768"/>
            <a:ext cx="2066544" cy="2761488"/>
          </a:xfrm>
          <a:prstGeom prst="roundRect">
            <a:avLst>
              <a:gd name="adj" fmla="val 4425"/>
            </a:avLst>
          </a:prstGeom>
          <a:solidFill>
            <a:srgbClr val="24382D"/>
          </a:solidFill>
          <a:ln w="12700">
            <a:solidFill>
              <a:srgbClr val="3A5647"/>
            </a:solidFill>
            <a:prstDash val="solid"/>
          </a:ln>
        </p:spPr>
        <p:txBody>
          <a:bodyPr/>
          <a:lstStyle/>
          <a:p>
            <a:endParaRPr lang="en-LK"/>
          </a:p>
        </p:txBody>
      </p:sp>
      <p:sp>
        <p:nvSpPr>
          <p:cNvPr id="29" name="Shape 27"/>
          <p:cNvSpPr/>
          <p:nvPr/>
        </p:nvSpPr>
        <p:spPr>
          <a:xfrm>
            <a:off x="9784080" y="1810512"/>
            <a:ext cx="384048" cy="384048"/>
          </a:xfrm>
          <a:prstGeom prst="ellipse">
            <a:avLst/>
          </a:prstGeom>
          <a:solidFill>
            <a:srgbClr val="3E6B55"/>
          </a:solidFill>
          <a:ln w="12700">
            <a:solidFill>
              <a:srgbClr val="3E6B55"/>
            </a:solidFill>
            <a:prstDash val="solid"/>
          </a:ln>
        </p:spPr>
        <p:txBody>
          <a:bodyPr/>
          <a:lstStyle/>
          <a:p>
            <a:endParaRPr lang="en-LK"/>
          </a:p>
        </p:txBody>
      </p:sp>
      <p:sp>
        <p:nvSpPr>
          <p:cNvPr id="30" name="Text 28"/>
          <p:cNvSpPr/>
          <p:nvPr/>
        </p:nvSpPr>
        <p:spPr>
          <a:xfrm>
            <a:off x="9784080" y="18105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9765792" y="2340864"/>
            <a:ext cx="1609344" cy="713232"/>
          </a:xfrm>
          <a:prstGeom prst="rect">
            <a:avLst/>
          </a:prstGeom>
          <a:noFill/>
          <a:ln/>
        </p:spPr>
        <p:txBody>
          <a:bodyPr wrap="square" lIns="0" tIns="0" rIns="0" bIns="0" rtlCol="0" anchor="ctr"/>
          <a:lstStyle/>
          <a:p>
            <a:pPr marL="0" indent="0">
              <a:lnSpc>
                <a:spcPts val="1900"/>
              </a:lnSpc>
              <a:buNone/>
            </a:pPr>
            <a:r>
              <a:rPr lang="en-US" sz="1500" b="1" dirty="0">
                <a:solidFill>
                  <a:srgbClr val="FFFFFF"/>
                </a:solidFill>
                <a:latin typeface="Cambria" pitchFamily="34" charset="0"/>
                <a:ea typeface="Cambria" pitchFamily="34" charset="-122"/>
                <a:cs typeface="Cambria" pitchFamily="34" charset="-120"/>
              </a:rPr>
              <a:t>User</a:t>
            </a:r>
            <a:endParaRPr lang="en-US" sz="1500" dirty="0"/>
          </a:p>
          <a:p>
            <a:pPr marL="0" indent="0">
              <a:lnSpc>
                <a:spcPts val="1900"/>
              </a:lnSpc>
              <a:buNone/>
            </a:pPr>
            <a:r>
              <a:rPr lang="en-US" sz="1500" b="1" dirty="0">
                <a:solidFill>
                  <a:srgbClr val="FFFFFF"/>
                </a:solidFill>
                <a:latin typeface="Cambria" pitchFamily="34" charset="0"/>
                <a:ea typeface="Cambria" pitchFamily="34" charset="-122"/>
                <a:cs typeface="Cambria" pitchFamily="34" charset="-120"/>
              </a:rPr>
              <a:t>Interaction</a:t>
            </a:r>
            <a:endParaRPr lang="en-US" sz="1500" dirty="0"/>
          </a:p>
        </p:txBody>
      </p:sp>
      <p:sp>
        <p:nvSpPr>
          <p:cNvPr id="32" name="Text 30"/>
          <p:cNvSpPr/>
          <p:nvPr/>
        </p:nvSpPr>
        <p:spPr>
          <a:xfrm>
            <a:off x="9765792" y="3108960"/>
            <a:ext cx="1609344" cy="1097280"/>
          </a:xfrm>
          <a:prstGeom prst="rect">
            <a:avLst/>
          </a:prstGeom>
          <a:noFill/>
          <a:ln/>
        </p:spPr>
        <p:txBody>
          <a:bodyPr wrap="square" lIns="0" tIns="0" rIns="0" bIns="0" rtlCol="0" anchor="ctr"/>
          <a:lstStyle/>
          <a:p>
            <a:pPr marL="0" indent="0">
              <a:lnSpc>
                <a:spcPts val="1500"/>
              </a:lnSpc>
              <a:buNone/>
            </a:pPr>
            <a:r>
              <a:rPr lang="en-US" sz="1100" dirty="0">
                <a:solidFill>
                  <a:srgbClr val="AEBFB4"/>
                </a:solidFill>
                <a:latin typeface="Calibri" pitchFamily="34" charset="0"/>
                <a:ea typeface="Calibri" pitchFamily="34" charset="-122"/>
                <a:cs typeface="Calibri" pitchFamily="34" charset="-120"/>
              </a:rPr>
              <a:t>Streamlit app returns a ranked Top-N with a stated reason per row</a:t>
            </a:r>
            <a:endParaRPr lang="en-US" sz="1100" dirty="0"/>
          </a:p>
        </p:txBody>
      </p:sp>
      <p:sp>
        <p:nvSpPr>
          <p:cNvPr id="33" name="Text 31"/>
          <p:cNvSpPr/>
          <p:nvPr/>
        </p:nvSpPr>
        <p:spPr>
          <a:xfrm>
            <a:off x="566928" y="4700016"/>
            <a:ext cx="2743200" cy="237744"/>
          </a:xfrm>
          <a:prstGeom prst="rect">
            <a:avLst/>
          </a:prstGeom>
          <a:noFill/>
          <a:ln/>
        </p:spPr>
        <p:txBody>
          <a:bodyPr wrap="square" lIns="0" tIns="0" rIns="0" bIns="0" rtlCol="0" anchor="ctr"/>
          <a:lstStyle/>
          <a:p>
            <a:pPr marL="0" indent="0">
              <a:buNone/>
            </a:pPr>
            <a:r>
              <a:rPr lang="en-US" sz="1050" b="1" kern="0" spc="130" dirty="0">
                <a:solidFill>
                  <a:srgbClr val="9DC48A"/>
                </a:solidFill>
                <a:latin typeface="Calibri" pitchFamily="34" charset="0"/>
                <a:ea typeface="Calibri" pitchFamily="34" charset="-122"/>
                <a:cs typeface="Calibri" pitchFamily="34" charset="-120"/>
              </a:rPr>
              <a:t>THE USER SUPPLIES</a:t>
            </a:r>
            <a:endParaRPr lang="en-US" sz="1050" dirty="0"/>
          </a:p>
        </p:txBody>
      </p:sp>
      <p:sp>
        <p:nvSpPr>
          <p:cNvPr id="34" name="Shape 32"/>
          <p:cNvSpPr/>
          <p:nvPr/>
        </p:nvSpPr>
        <p:spPr>
          <a:xfrm>
            <a:off x="566928" y="4992624"/>
            <a:ext cx="2066544" cy="457200"/>
          </a:xfrm>
          <a:prstGeom prst="roundRect">
            <a:avLst>
              <a:gd name="adj" fmla="val 50000"/>
            </a:avLst>
          </a:prstGeom>
          <a:solidFill>
            <a:srgbClr val="24382D"/>
          </a:solidFill>
          <a:ln w="12700">
            <a:solidFill>
              <a:srgbClr val="3A5647"/>
            </a:solidFill>
            <a:prstDash val="solid"/>
          </a:ln>
        </p:spPr>
        <p:txBody>
          <a:bodyPr/>
          <a:lstStyle/>
          <a:p>
            <a:endParaRPr lang="en-LK"/>
          </a:p>
        </p:txBody>
      </p:sp>
      <p:sp>
        <p:nvSpPr>
          <p:cNvPr id="35" name="Text 33"/>
          <p:cNvSpPr/>
          <p:nvPr/>
        </p:nvSpPr>
        <p:spPr>
          <a:xfrm>
            <a:off x="566928" y="4992624"/>
            <a:ext cx="2066544" cy="457200"/>
          </a:xfrm>
          <a:prstGeom prst="rect">
            <a:avLst/>
          </a:prstGeom>
          <a:noFill/>
          <a:ln/>
        </p:spPr>
        <p:txBody>
          <a:bodyPr wrap="square" lIns="0" tIns="0" rIns="0" bIns="0" rtlCol="0" anchor="ctr"/>
          <a:lstStyle/>
          <a:p>
            <a:pPr marL="0" indent="0" algn="ctr">
              <a:buNone/>
            </a:pPr>
            <a:r>
              <a:rPr lang="en-US" sz="1150" dirty="0">
                <a:solidFill>
                  <a:srgbClr val="D2DED5"/>
                </a:solidFill>
                <a:latin typeface="Calibri" pitchFamily="34" charset="0"/>
                <a:ea typeface="Calibri" pitchFamily="34" charset="-122"/>
                <a:cs typeface="Calibri" pitchFamily="34" charset="-120"/>
              </a:rPr>
              <a:t>Dataset size (MB)</a:t>
            </a:r>
            <a:endParaRPr lang="en-US" sz="1150" dirty="0"/>
          </a:p>
        </p:txBody>
      </p:sp>
      <p:sp>
        <p:nvSpPr>
          <p:cNvPr id="36" name="Shape 34"/>
          <p:cNvSpPr/>
          <p:nvPr/>
        </p:nvSpPr>
        <p:spPr>
          <a:xfrm>
            <a:off x="2807208" y="4992624"/>
            <a:ext cx="2066544" cy="457200"/>
          </a:xfrm>
          <a:prstGeom prst="roundRect">
            <a:avLst>
              <a:gd name="adj" fmla="val 50000"/>
            </a:avLst>
          </a:prstGeom>
          <a:solidFill>
            <a:srgbClr val="24382D"/>
          </a:solidFill>
          <a:ln w="12700">
            <a:solidFill>
              <a:srgbClr val="3A5647"/>
            </a:solidFill>
            <a:prstDash val="solid"/>
          </a:ln>
        </p:spPr>
        <p:txBody>
          <a:bodyPr/>
          <a:lstStyle/>
          <a:p>
            <a:endParaRPr lang="en-LK"/>
          </a:p>
        </p:txBody>
      </p:sp>
      <p:sp>
        <p:nvSpPr>
          <p:cNvPr id="37" name="Text 35"/>
          <p:cNvSpPr/>
          <p:nvPr/>
        </p:nvSpPr>
        <p:spPr>
          <a:xfrm>
            <a:off x="2807208" y="4992624"/>
            <a:ext cx="2066544" cy="457200"/>
          </a:xfrm>
          <a:prstGeom prst="rect">
            <a:avLst/>
          </a:prstGeom>
          <a:noFill/>
          <a:ln/>
        </p:spPr>
        <p:txBody>
          <a:bodyPr wrap="square" lIns="0" tIns="0" rIns="0" bIns="0" rtlCol="0" anchor="ctr"/>
          <a:lstStyle/>
          <a:p>
            <a:pPr marL="0" indent="0" algn="ctr">
              <a:buNone/>
            </a:pPr>
            <a:r>
              <a:rPr lang="en-US" sz="1150" dirty="0">
                <a:solidFill>
                  <a:srgbClr val="D2DED5"/>
                </a:solidFill>
                <a:latin typeface="Calibri" pitchFamily="34" charset="0"/>
                <a:ea typeface="Calibri" pitchFamily="34" charset="-122"/>
                <a:cs typeface="Calibri" pitchFamily="34" charset="-120"/>
              </a:rPr>
              <a:t>Workload class</a:t>
            </a:r>
            <a:endParaRPr lang="en-US" sz="1150" dirty="0"/>
          </a:p>
        </p:txBody>
      </p:sp>
      <p:sp>
        <p:nvSpPr>
          <p:cNvPr id="38" name="Shape 36"/>
          <p:cNvSpPr/>
          <p:nvPr/>
        </p:nvSpPr>
        <p:spPr>
          <a:xfrm>
            <a:off x="5047488" y="4992624"/>
            <a:ext cx="2066544" cy="457200"/>
          </a:xfrm>
          <a:prstGeom prst="roundRect">
            <a:avLst>
              <a:gd name="adj" fmla="val 50000"/>
            </a:avLst>
          </a:prstGeom>
          <a:solidFill>
            <a:srgbClr val="24382D"/>
          </a:solidFill>
          <a:ln w="12700">
            <a:solidFill>
              <a:srgbClr val="3A5647"/>
            </a:solidFill>
            <a:prstDash val="solid"/>
          </a:ln>
        </p:spPr>
        <p:txBody>
          <a:bodyPr/>
          <a:lstStyle/>
          <a:p>
            <a:endParaRPr lang="en-LK"/>
          </a:p>
        </p:txBody>
      </p:sp>
      <p:sp>
        <p:nvSpPr>
          <p:cNvPr id="39" name="Text 37"/>
          <p:cNvSpPr/>
          <p:nvPr/>
        </p:nvSpPr>
        <p:spPr>
          <a:xfrm>
            <a:off x="5047488" y="4992624"/>
            <a:ext cx="2066544" cy="457200"/>
          </a:xfrm>
          <a:prstGeom prst="rect">
            <a:avLst/>
          </a:prstGeom>
          <a:noFill/>
          <a:ln/>
        </p:spPr>
        <p:txBody>
          <a:bodyPr wrap="square" lIns="0" tIns="0" rIns="0" bIns="0" rtlCol="0" anchor="ctr"/>
          <a:lstStyle/>
          <a:p>
            <a:pPr marL="0" indent="0" algn="ctr">
              <a:buNone/>
            </a:pPr>
            <a:r>
              <a:rPr lang="en-US" sz="1150" dirty="0">
                <a:solidFill>
                  <a:srgbClr val="D2DED5"/>
                </a:solidFill>
                <a:latin typeface="Calibri" pitchFamily="34" charset="0"/>
                <a:ea typeface="Calibri" pitchFamily="34" charset="-122"/>
                <a:cs typeface="Calibri" pitchFamily="34" charset="-120"/>
              </a:rPr>
              <a:t>SLA deadline (min)</a:t>
            </a:r>
            <a:endParaRPr lang="en-US" sz="1150" dirty="0"/>
          </a:p>
        </p:txBody>
      </p:sp>
      <p:sp>
        <p:nvSpPr>
          <p:cNvPr id="40" name="Shape 38"/>
          <p:cNvSpPr/>
          <p:nvPr/>
        </p:nvSpPr>
        <p:spPr>
          <a:xfrm>
            <a:off x="7287768" y="4992624"/>
            <a:ext cx="2066544" cy="457200"/>
          </a:xfrm>
          <a:prstGeom prst="roundRect">
            <a:avLst>
              <a:gd name="adj" fmla="val 50000"/>
            </a:avLst>
          </a:prstGeom>
          <a:solidFill>
            <a:srgbClr val="24382D"/>
          </a:solidFill>
          <a:ln w="12700">
            <a:solidFill>
              <a:srgbClr val="3A5647"/>
            </a:solidFill>
            <a:prstDash val="solid"/>
          </a:ln>
        </p:spPr>
        <p:txBody>
          <a:bodyPr/>
          <a:lstStyle/>
          <a:p>
            <a:endParaRPr lang="en-LK"/>
          </a:p>
        </p:txBody>
      </p:sp>
      <p:sp>
        <p:nvSpPr>
          <p:cNvPr id="41" name="Text 39"/>
          <p:cNvSpPr/>
          <p:nvPr/>
        </p:nvSpPr>
        <p:spPr>
          <a:xfrm>
            <a:off x="7287768" y="4992624"/>
            <a:ext cx="2066544" cy="457200"/>
          </a:xfrm>
          <a:prstGeom prst="rect">
            <a:avLst/>
          </a:prstGeom>
          <a:noFill/>
          <a:ln/>
        </p:spPr>
        <p:txBody>
          <a:bodyPr wrap="square" lIns="0" tIns="0" rIns="0" bIns="0" rtlCol="0" anchor="ctr"/>
          <a:lstStyle/>
          <a:p>
            <a:pPr marL="0" indent="0" algn="ctr">
              <a:buNone/>
            </a:pPr>
            <a:r>
              <a:rPr lang="en-US" sz="1150" dirty="0">
                <a:solidFill>
                  <a:srgbClr val="D2DED5"/>
                </a:solidFill>
                <a:latin typeface="Calibri" pitchFamily="34" charset="0"/>
                <a:ea typeface="Calibri" pitchFamily="34" charset="-122"/>
                <a:cs typeface="Calibri" pitchFamily="34" charset="-120"/>
              </a:rPr>
              <a:t>Optimisation goal</a:t>
            </a:r>
            <a:endParaRPr lang="en-US" sz="1150" dirty="0"/>
          </a:p>
        </p:txBody>
      </p:sp>
      <p:sp>
        <p:nvSpPr>
          <p:cNvPr id="42" name="Shape 40"/>
          <p:cNvSpPr/>
          <p:nvPr/>
        </p:nvSpPr>
        <p:spPr>
          <a:xfrm>
            <a:off x="9528048" y="4992624"/>
            <a:ext cx="2066544" cy="457200"/>
          </a:xfrm>
          <a:prstGeom prst="roundRect">
            <a:avLst>
              <a:gd name="adj" fmla="val 50000"/>
            </a:avLst>
          </a:prstGeom>
          <a:solidFill>
            <a:srgbClr val="24382D"/>
          </a:solidFill>
          <a:ln w="12700">
            <a:solidFill>
              <a:srgbClr val="3A5647"/>
            </a:solidFill>
            <a:prstDash val="solid"/>
          </a:ln>
        </p:spPr>
        <p:txBody>
          <a:bodyPr/>
          <a:lstStyle/>
          <a:p>
            <a:endParaRPr lang="en-LK"/>
          </a:p>
        </p:txBody>
      </p:sp>
      <p:sp>
        <p:nvSpPr>
          <p:cNvPr id="43" name="Text 41"/>
          <p:cNvSpPr/>
          <p:nvPr/>
        </p:nvSpPr>
        <p:spPr>
          <a:xfrm>
            <a:off x="9528048" y="4992624"/>
            <a:ext cx="2066544" cy="457200"/>
          </a:xfrm>
          <a:prstGeom prst="rect">
            <a:avLst/>
          </a:prstGeom>
          <a:noFill/>
          <a:ln/>
        </p:spPr>
        <p:txBody>
          <a:bodyPr wrap="square" lIns="0" tIns="0" rIns="0" bIns="0" rtlCol="0" anchor="ctr"/>
          <a:lstStyle/>
          <a:p>
            <a:pPr marL="0" indent="0" algn="ctr">
              <a:buNone/>
            </a:pPr>
            <a:r>
              <a:rPr lang="en-US" sz="1150" dirty="0">
                <a:solidFill>
                  <a:srgbClr val="D2DED5"/>
                </a:solidFill>
                <a:latin typeface="Calibri" pitchFamily="34" charset="0"/>
                <a:ea typeface="Calibri" pitchFamily="34" charset="-122"/>
                <a:cs typeface="Calibri" pitchFamily="34" charset="-120"/>
              </a:rPr>
              <a:t>Top-N</a:t>
            </a:r>
            <a:endParaRPr lang="en-US" sz="1150" dirty="0"/>
          </a:p>
        </p:txBody>
      </p:sp>
      <p:sp>
        <p:nvSpPr>
          <p:cNvPr id="46" name="Text 44"/>
          <p:cNvSpPr/>
          <p:nvPr/>
        </p:nvSpPr>
        <p:spPr>
          <a:xfrm>
            <a:off x="10984687" y="6382512"/>
            <a:ext cx="640080" cy="256032"/>
          </a:xfrm>
          <a:prstGeom prst="rect">
            <a:avLst/>
          </a:prstGeom>
          <a:noFill/>
          <a:ln/>
        </p:spPr>
        <p:txBody>
          <a:bodyPr wrap="square" lIns="0" tIns="0" rIns="0" bIns="0" rtlCol="0" anchor="ctr"/>
          <a:lstStyle/>
          <a:p>
            <a:pPr marL="0" indent="0" algn="r">
              <a:buNone/>
            </a:pPr>
            <a:r>
              <a:rPr lang="en-US" sz="1050" dirty="0">
                <a:solidFill>
                  <a:srgbClr val="96A29B"/>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0515600" cy="237744"/>
          </a:xfrm>
          <a:prstGeom prst="rect">
            <a:avLst/>
          </a:prstGeom>
          <a:noFill/>
          <a:ln/>
        </p:spPr>
        <p:txBody>
          <a:bodyPr wrap="square" lIns="0" tIns="0" rIns="0" bIns="0" rtlCol="0" anchor="ctr"/>
          <a:lstStyle/>
          <a:p>
            <a:pPr marL="0" indent="0">
              <a:buNone/>
            </a:pPr>
            <a:r>
              <a:rPr lang="en-US" sz="1150" b="1" kern="0" spc="160" dirty="0">
                <a:solidFill>
                  <a:srgbClr val="3E6B55"/>
                </a:solidFill>
                <a:latin typeface="Calibri" pitchFamily="34" charset="0"/>
                <a:ea typeface="Calibri" pitchFamily="34" charset="-122"/>
                <a:cs typeface="Calibri" pitchFamily="34" charset="-120"/>
              </a:rPr>
              <a:t>HOW I BUILT IT · 1 OF 4</a:t>
            </a:r>
            <a:endParaRPr lang="en-US" sz="1150" dirty="0"/>
          </a:p>
        </p:txBody>
      </p:sp>
      <p:sp>
        <p:nvSpPr>
          <p:cNvPr id="3" name="Text 1"/>
          <p:cNvSpPr/>
          <p:nvPr/>
        </p:nvSpPr>
        <p:spPr>
          <a:xfrm>
            <a:off x="566928" y="576072"/>
            <a:ext cx="11064240" cy="603504"/>
          </a:xfrm>
          <a:prstGeom prst="rect">
            <a:avLst/>
          </a:prstGeom>
          <a:noFill/>
          <a:ln/>
        </p:spPr>
        <p:txBody>
          <a:bodyPr wrap="square" lIns="0" tIns="0" rIns="0" bIns="0" rtlCol="0" anchor="ctr"/>
          <a:lstStyle/>
          <a:p>
            <a:pPr marL="0" indent="0">
              <a:buNone/>
            </a:pPr>
            <a:r>
              <a:rPr lang="en-US" sz="3100" b="1" dirty="0">
                <a:solidFill>
                  <a:srgbClr val="16261E"/>
                </a:solidFill>
                <a:latin typeface="Cambria" pitchFamily="34" charset="0"/>
                <a:ea typeface="Cambria" pitchFamily="34" charset="-122"/>
                <a:cs typeface="Cambria" pitchFamily="34" charset="-120"/>
              </a:rPr>
              <a:t>Building the dataset: 1,811 live cloud executions</a:t>
            </a:r>
            <a:endParaRPr lang="en-US" sz="3100" dirty="0"/>
          </a:p>
        </p:txBody>
      </p:sp>
      <p:pic>
        <p:nvPicPr>
          <p:cNvPr id="4" name="Image 0" descr="/sessions/modest-exciting-carson/mnt/outputs/build/img/corpus.png"/>
          <p:cNvPicPr>
            <a:picLocks noChangeAspect="1"/>
          </p:cNvPicPr>
          <p:nvPr/>
        </p:nvPicPr>
        <p:blipFill>
          <a:blip r:embed="rId3"/>
          <a:stretch>
            <a:fillRect/>
          </a:stretch>
        </p:blipFill>
        <p:spPr>
          <a:xfrm>
            <a:off x="457200" y="1481328"/>
            <a:ext cx="6720840" cy="2560320"/>
          </a:xfrm>
          <a:prstGeom prst="rect">
            <a:avLst/>
          </a:prstGeom>
        </p:spPr>
      </p:pic>
      <p:sp>
        <p:nvSpPr>
          <p:cNvPr id="5" name="Text 2"/>
          <p:cNvSpPr/>
          <p:nvPr/>
        </p:nvSpPr>
        <p:spPr>
          <a:xfrm>
            <a:off x="566928" y="4206240"/>
            <a:ext cx="5486400" cy="237744"/>
          </a:xfrm>
          <a:prstGeom prst="rect">
            <a:avLst/>
          </a:prstGeom>
          <a:noFill/>
          <a:ln/>
        </p:spPr>
        <p:txBody>
          <a:bodyPr wrap="square" lIns="0" tIns="0" rIns="0" bIns="0" rtlCol="0" anchor="ctr"/>
          <a:lstStyle/>
          <a:p>
            <a:pPr marL="0" indent="0">
              <a:buNone/>
            </a:pPr>
            <a:r>
              <a:rPr lang="en-US" sz="1050" b="1" kern="0" spc="120" dirty="0">
                <a:solidFill>
                  <a:srgbClr val="3E6B55"/>
                </a:solidFill>
                <a:latin typeface="Calibri" pitchFamily="34" charset="0"/>
                <a:ea typeface="Calibri" pitchFamily="34" charset="-122"/>
                <a:cs typeface="Calibri" pitchFamily="34" charset="-120"/>
              </a:rPr>
              <a:t>THE THREE BENCHMARK WORKLOADS</a:t>
            </a:r>
            <a:endParaRPr lang="en-US" sz="1050" dirty="0"/>
          </a:p>
        </p:txBody>
      </p:sp>
      <p:sp>
        <p:nvSpPr>
          <p:cNvPr id="6" name="Text 3"/>
          <p:cNvSpPr/>
          <p:nvPr/>
        </p:nvSpPr>
        <p:spPr>
          <a:xfrm>
            <a:off x="566928" y="4498848"/>
            <a:ext cx="1371600" cy="502920"/>
          </a:xfrm>
          <a:prstGeom prst="rect">
            <a:avLst/>
          </a:prstGeom>
          <a:noFill/>
          <a:ln/>
        </p:spPr>
        <p:txBody>
          <a:bodyPr wrap="square" lIns="0" tIns="0" rIns="0" bIns="0" rtlCol="0" anchor="ctr"/>
          <a:lstStyle/>
          <a:p>
            <a:pPr marL="0" indent="0">
              <a:buNone/>
            </a:pPr>
            <a:r>
              <a:rPr lang="en-US" sz="1250" b="1" dirty="0">
                <a:solidFill>
                  <a:srgbClr val="16261E"/>
                </a:solidFill>
                <a:latin typeface="Calibri" pitchFamily="34" charset="0"/>
                <a:ea typeface="Calibri" pitchFamily="34" charset="-122"/>
                <a:cs typeface="Calibri" pitchFamily="34" charset="-120"/>
              </a:rPr>
              <a:t>cpu-heavy</a:t>
            </a:r>
            <a:endParaRPr lang="en-US" sz="1250" dirty="0"/>
          </a:p>
        </p:txBody>
      </p:sp>
      <p:sp>
        <p:nvSpPr>
          <p:cNvPr id="7" name="Text 4"/>
          <p:cNvSpPr/>
          <p:nvPr/>
        </p:nvSpPr>
        <p:spPr>
          <a:xfrm>
            <a:off x="1984248" y="4498848"/>
            <a:ext cx="5166360" cy="502920"/>
          </a:xfrm>
          <a:prstGeom prst="rect">
            <a:avLst/>
          </a:prstGeom>
          <a:noFill/>
          <a:ln/>
        </p:spPr>
        <p:txBody>
          <a:bodyPr wrap="square" lIns="0" tIns="0" rIns="0" bIns="0" rtlCol="0" anchor="ctr"/>
          <a:lstStyle/>
          <a:p>
            <a:pPr marL="0" indent="0">
              <a:lnSpc>
                <a:spcPts val="1350"/>
              </a:lnSpc>
              <a:buNone/>
            </a:pPr>
            <a:r>
              <a:rPr lang="en-US" sz="1050" dirty="0">
                <a:solidFill>
                  <a:srgbClr val="5F6B64"/>
                </a:solidFill>
                <a:latin typeface="Calibri" pitchFamily="34" charset="0"/>
                <a:ea typeface="Calibri" pitchFamily="34" charset="-122"/>
                <a:cs typeface="Calibri" pitchFamily="34" charset="-120"/>
              </a:rPr>
              <a:t>Eight chained sqrt / log1p transformations, then a single grouped aggregation. Narrow transforms, so no shuffle until the groupBy.</a:t>
            </a:r>
            <a:endParaRPr lang="en-US" sz="1050" dirty="0"/>
          </a:p>
        </p:txBody>
      </p:sp>
      <p:sp>
        <p:nvSpPr>
          <p:cNvPr id="8" name="Text 5"/>
          <p:cNvSpPr/>
          <p:nvPr/>
        </p:nvSpPr>
        <p:spPr>
          <a:xfrm>
            <a:off x="566928" y="5065776"/>
            <a:ext cx="1371600" cy="502920"/>
          </a:xfrm>
          <a:prstGeom prst="rect">
            <a:avLst/>
          </a:prstGeom>
          <a:noFill/>
          <a:ln/>
        </p:spPr>
        <p:txBody>
          <a:bodyPr wrap="square" lIns="0" tIns="0" rIns="0" bIns="0" rtlCol="0" anchor="ctr"/>
          <a:lstStyle/>
          <a:p>
            <a:pPr marL="0" indent="0">
              <a:buNone/>
            </a:pPr>
            <a:r>
              <a:rPr lang="en-US" sz="1250" b="1" dirty="0">
                <a:solidFill>
                  <a:srgbClr val="16261E"/>
                </a:solidFill>
                <a:latin typeface="Calibri" pitchFamily="34" charset="0"/>
                <a:ea typeface="Calibri" pitchFamily="34" charset="-122"/>
                <a:cs typeface="Calibri" pitchFamily="34" charset="-120"/>
              </a:rPr>
              <a:t>memory-heavy</a:t>
            </a:r>
            <a:endParaRPr lang="en-US" sz="1250" dirty="0"/>
          </a:p>
        </p:txBody>
      </p:sp>
      <p:sp>
        <p:nvSpPr>
          <p:cNvPr id="9" name="Text 6"/>
          <p:cNvSpPr/>
          <p:nvPr/>
        </p:nvSpPr>
        <p:spPr>
          <a:xfrm>
            <a:off x="1984248" y="5065776"/>
            <a:ext cx="5166360" cy="502920"/>
          </a:xfrm>
          <a:prstGeom prst="rect">
            <a:avLst/>
          </a:prstGeom>
          <a:noFill/>
          <a:ln/>
        </p:spPr>
        <p:txBody>
          <a:bodyPr wrap="square" lIns="0" tIns="0" rIns="0" bIns="0" rtlCol="0" anchor="ctr"/>
          <a:lstStyle/>
          <a:p>
            <a:pPr marL="0" indent="0">
              <a:lnSpc>
                <a:spcPts val="1350"/>
              </a:lnSpc>
              <a:buNone/>
            </a:pPr>
            <a:r>
              <a:rPr lang="en-US" sz="1050" dirty="0">
                <a:solidFill>
                  <a:srgbClr val="5F6B64"/>
                </a:solidFill>
                <a:latin typeface="Calibri" pitchFamily="34" charset="0"/>
                <a:ea typeface="Calibri" pitchFamily="34" charset="-122"/>
                <a:cs typeface="Calibri" pitchFamily="34" charset="-120"/>
              </a:rPr>
              <a:t>Two cached DataFrames materialised with count(), joined on a 50,000-key space, then aggregated.</a:t>
            </a:r>
            <a:endParaRPr lang="en-US" sz="1050" dirty="0"/>
          </a:p>
        </p:txBody>
      </p:sp>
      <p:sp>
        <p:nvSpPr>
          <p:cNvPr id="10" name="Text 7"/>
          <p:cNvSpPr/>
          <p:nvPr/>
        </p:nvSpPr>
        <p:spPr>
          <a:xfrm>
            <a:off x="566928" y="5632704"/>
            <a:ext cx="1371600" cy="502920"/>
          </a:xfrm>
          <a:prstGeom prst="rect">
            <a:avLst/>
          </a:prstGeom>
          <a:noFill/>
          <a:ln/>
        </p:spPr>
        <p:txBody>
          <a:bodyPr wrap="square" lIns="0" tIns="0" rIns="0" bIns="0" rtlCol="0" anchor="ctr"/>
          <a:lstStyle/>
          <a:p>
            <a:pPr marL="0" indent="0">
              <a:buNone/>
            </a:pPr>
            <a:r>
              <a:rPr lang="en-US" sz="1250" b="1" dirty="0">
                <a:solidFill>
                  <a:srgbClr val="16261E"/>
                </a:solidFill>
                <a:latin typeface="Calibri" pitchFamily="34" charset="0"/>
                <a:ea typeface="Calibri" pitchFamily="34" charset="-122"/>
                <a:cs typeface="Calibri" pitchFamily="34" charset="-120"/>
              </a:rPr>
              <a:t>io-heavy</a:t>
            </a:r>
            <a:endParaRPr lang="en-US" sz="1250" dirty="0"/>
          </a:p>
        </p:txBody>
      </p:sp>
      <p:sp>
        <p:nvSpPr>
          <p:cNvPr id="11" name="Text 8"/>
          <p:cNvSpPr/>
          <p:nvPr/>
        </p:nvSpPr>
        <p:spPr>
          <a:xfrm>
            <a:off x="1984248" y="5632704"/>
            <a:ext cx="5166360" cy="502920"/>
          </a:xfrm>
          <a:prstGeom prst="rect">
            <a:avLst/>
          </a:prstGeom>
          <a:noFill/>
          <a:ln/>
        </p:spPr>
        <p:txBody>
          <a:bodyPr wrap="square" lIns="0" tIns="0" rIns="0" bIns="0" rtlCol="0" anchor="ctr"/>
          <a:lstStyle/>
          <a:p>
            <a:pPr marL="0" indent="0">
              <a:lnSpc>
                <a:spcPts val="1350"/>
              </a:lnSpc>
              <a:buNone/>
            </a:pPr>
            <a:r>
              <a:rPr lang="en-US" sz="1050" dirty="0">
                <a:solidFill>
                  <a:srgbClr val="5F6B64"/>
                </a:solidFill>
                <a:latin typeface="Calibri" pitchFamily="34" charset="0"/>
                <a:ea typeface="Calibri" pitchFamily="34" charset="-122"/>
                <a:cs typeface="Calibri" pitchFamily="34" charset="-120"/>
              </a:rPr>
              <a:t>Repartition into 64 partitions, write Parquet, re-read what was just written, write a second summary.</a:t>
            </a:r>
            <a:endParaRPr lang="en-US" sz="1050" dirty="0"/>
          </a:p>
        </p:txBody>
      </p:sp>
      <p:sp>
        <p:nvSpPr>
          <p:cNvPr id="12" name="Shape 9"/>
          <p:cNvSpPr/>
          <p:nvPr/>
        </p:nvSpPr>
        <p:spPr>
          <a:xfrm>
            <a:off x="7223760" y="1481328"/>
            <a:ext cx="4398264" cy="2432304"/>
          </a:xfrm>
          <a:prstGeom prst="roundRect">
            <a:avLst>
              <a:gd name="adj" fmla="val 3383"/>
            </a:avLst>
          </a:prstGeom>
          <a:solidFill>
            <a:srgbClr val="F1F4F1"/>
          </a:solidFill>
          <a:ln w="12700">
            <a:solidFill>
              <a:srgbClr val="F1F4F1"/>
            </a:solidFill>
            <a:prstDash val="solid"/>
          </a:ln>
          <a:effectLst>
            <a:outerShdw blurRad="127000" dist="25400" dir="5400000" algn="bl" rotWithShape="0">
              <a:srgbClr val="12201A">
                <a:alpha val="13000"/>
              </a:srgbClr>
            </a:outerShdw>
          </a:effectLst>
        </p:spPr>
        <p:txBody>
          <a:bodyPr/>
          <a:lstStyle/>
          <a:p>
            <a:endParaRPr lang="en-LK" dirty="0"/>
          </a:p>
        </p:txBody>
      </p:sp>
      <p:sp>
        <p:nvSpPr>
          <p:cNvPr id="13" name="Text 10"/>
          <p:cNvSpPr/>
          <p:nvPr/>
        </p:nvSpPr>
        <p:spPr>
          <a:xfrm>
            <a:off x="7498080" y="1645920"/>
            <a:ext cx="3840480" cy="237744"/>
          </a:xfrm>
          <a:prstGeom prst="rect">
            <a:avLst/>
          </a:prstGeom>
          <a:noFill/>
          <a:ln/>
        </p:spPr>
        <p:txBody>
          <a:bodyPr wrap="square" lIns="0" tIns="0" rIns="0" bIns="0" rtlCol="0" anchor="ctr"/>
          <a:lstStyle/>
          <a:p>
            <a:pPr marL="0" indent="0">
              <a:buNone/>
            </a:pPr>
            <a:r>
              <a:rPr lang="en-US" sz="1050" b="1" kern="0" spc="120" dirty="0">
                <a:solidFill>
                  <a:srgbClr val="3E6B55"/>
                </a:solidFill>
                <a:latin typeface="Calibri" pitchFamily="34" charset="0"/>
                <a:ea typeface="Calibri" pitchFamily="34" charset="-122"/>
                <a:cs typeface="Calibri" pitchFamily="34" charset="-120"/>
              </a:rPr>
              <a:t>THE MATRIX</a:t>
            </a:r>
            <a:endParaRPr lang="en-US" sz="1050" dirty="0"/>
          </a:p>
        </p:txBody>
      </p:sp>
      <p:sp>
        <p:nvSpPr>
          <p:cNvPr id="14" name="Text 11"/>
          <p:cNvSpPr/>
          <p:nvPr/>
        </p:nvSpPr>
        <p:spPr>
          <a:xfrm>
            <a:off x="7498080" y="1956816"/>
            <a:ext cx="1371600" cy="438912"/>
          </a:xfrm>
          <a:prstGeom prst="rect">
            <a:avLst/>
          </a:prstGeom>
          <a:noFill/>
          <a:ln/>
        </p:spPr>
        <p:txBody>
          <a:bodyPr wrap="square" lIns="0" tIns="0" rIns="0" bIns="0" rtlCol="0" anchor="t"/>
          <a:lstStyle/>
          <a:p>
            <a:pPr marL="0" indent="0">
              <a:buNone/>
            </a:pPr>
            <a:r>
              <a:rPr lang="en-US" sz="1200" b="1" dirty="0">
                <a:solidFill>
                  <a:srgbClr val="16261E"/>
                </a:solidFill>
                <a:latin typeface="Calibri" pitchFamily="34" charset="0"/>
                <a:ea typeface="Calibri" pitchFamily="34" charset="-122"/>
                <a:cs typeface="Calibri" pitchFamily="34" charset="-120"/>
              </a:rPr>
              <a:t>2 clouds</a:t>
            </a:r>
            <a:endParaRPr lang="en-US" sz="1200" dirty="0"/>
          </a:p>
        </p:txBody>
      </p:sp>
      <p:sp>
        <p:nvSpPr>
          <p:cNvPr id="15" name="Text 12"/>
          <p:cNvSpPr/>
          <p:nvPr/>
        </p:nvSpPr>
        <p:spPr>
          <a:xfrm>
            <a:off x="8887968" y="1956816"/>
            <a:ext cx="2487168" cy="438912"/>
          </a:xfrm>
          <a:prstGeom prst="rect">
            <a:avLst/>
          </a:prstGeom>
          <a:noFill/>
          <a:ln/>
        </p:spPr>
        <p:txBody>
          <a:bodyPr wrap="square" lIns="0" tIns="0" rIns="0" bIns="0" rtlCol="0" anchor="t"/>
          <a:lstStyle/>
          <a:p>
            <a:pPr marL="0" indent="0">
              <a:lnSpc>
                <a:spcPts val="1250"/>
              </a:lnSpc>
              <a:buNone/>
            </a:pPr>
            <a:r>
              <a:rPr lang="en-US" sz="1000" dirty="0">
                <a:solidFill>
                  <a:srgbClr val="5F6B64"/>
                </a:solidFill>
                <a:latin typeface="Calibri" pitchFamily="34" charset="0"/>
                <a:ea typeface="Calibri" pitchFamily="34" charset="-122"/>
                <a:cs typeface="Calibri" pitchFamily="34" charset="-120"/>
              </a:rPr>
              <a:t>AWS, Azure</a:t>
            </a:r>
            <a:endParaRPr lang="en-US" sz="1000" dirty="0"/>
          </a:p>
        </p:txBody>
      </p:sp>
      <p:sp>
        <p:nvSpPr>
          <p:cNvPr id="16" name="Text 13"/>
          <p:cNvSpPr/>
          <p:nvPr/>
        </p:nvSpPr>
        <p:spPr>
          <a:xfrm>
            <a:off x="7498080" y="2432304"/>
            <a:ext cx="1371600" cy="438912"/>
          </a:xfrm>
          <a:prstGeom prst="rect">
            <a:avLst/>
          </a:prstGeom>
          <a:noFill/>
          <a:ln/>
        </p:spPr>
        <p:txBody>
          <a:bodyPr wrap="square" lIns="0" tIns="0" rIns="0" bIns="0" rtlCol="0" anchor="t"/>
          <a:lstStyle/>
          <a:p>
            <a:pPr marL="0" indent="0">
              <a:buNone/>
            </a:pPr>
            <a:r>
              <a:rPr lang="en-US" sz="1200" b="1" dirty="0">
                <a:solidFill>
                  <a:srgbClr val="16261E"/>
                </a:solidFill>
                <a:latin typeface="Calibri" pitchFamily="34" charset="0"/>
                <a:ea typeface="Calibri" pitchFamily="34" charset="-122"/>
                <a:cs typeface="Calibri" pitchFamily="34" charset="-120"/>
              </a:rPr>
              <a:t>4 regions</a:t>
            </a:r>
            <a:endParaRPr lang="en-US" sz="1200" dirty="0"/>
          </a:p>
        </p:txBody>
      </p:sp>
      <p:sp>
        <p:nvSpPr>
          <p:cNvPr id="17" name="Text 14"/>
          <p:cNvSpPr/>
          <p:nvPr/>
        </p:nvSpPr>
        <p:spPr>
          <a:xfrm>
            <a:off x="8887968" y="2432304"/>
            <a:ext cx="2487168" cy="438912"/>
          </a:xfrm>
          <a:prstGeom prst="rect">
            <a:avLst/>
          </a:prstGeom>
          <a:noFill/>
          <a:ln/>
        </p:spPr>
        <p:txBody>
          <a:bodyPr wrap="square" lIns="0" tIns="0" rIns="0" bIns="0" rtlCol="0" anchor="t"/>
          <a:lstStyle/>
          <a:p>
            <a:pPr marL="0" indent="0">
              <a:lnSpc>
                <a:spcPts val="1250"/>
              </a:lnSpc>
              <a:buNone/>
            </a:pPr>
            <a:r>
              <a:rPr lang="en-US" sz="1000" dirty="0">
                <a:solidFill>
                  <a:srgbClr val="5F6B64"/>
                </a:solidFill>
                <a:latin typeface="Calibri" pitchFamily="34" charset="0"/>
                <a:ea typeface="Calibri" pitchFamily="34" charset="-122"/>
                <a:cs typeface="Calibri" pitchFamily="34" charset="-120"/>
              </a:rPr>
              <a:t>ap-south-1 · ap-southeast-1 · Central India · Southeast Asia</a:t>
            </a:r>
            <a:endParaRPr lang="en-US" sz="1000" dirty="0"/>
          </a:p>
        </p:txBody>
      </p:sp>
      <p:sp>
        <p:nvSpPr>
          <p:cNvPr id="18" name="Text 15"/>
          <p:cNvSpPr/>
          <p:nvPr/>
        </p:nvSpPr>
        <p:spPr>
          <a:xfrm>
            <a:off x="7498080" y="2907792"/>
            <a:ext cx="1371600" cy="438912"/>
          </a:xfrm>
          <a:prstGeom prst="rect">
            <a:avLst/>
          </a:prstGeom>
          <a:noFill/>
          <a:ln/>
        </p:spPr>
        <p:txBody>
          <a:bodyPr wrap="square" lIns="0" tIns="0" rIns="0" bIns="0" rtlCol="0" anchor="t"/>
          <a:lstStyle/>
          <a:p>
            <a:pPr marL="0" indent="0">
              <a:buNone/>
            </a:pPr>
            <a:r>
              <a:rPr lang="en-US" sz="1200" b="1" dirty="0">
                <a:solidFill>
                  <a:srgbClr val="16261E"/>
                </a:solidFill>
                <a:latin typeface="Calibri" pitchFamily="34" charset="0"/>
                <a:ea typeface="Calibri" pitchFamily="34" charset="-122"/>
                <a:cs typeface="Calibri" pitchFamily="34" charset="-120"/>
              </a:rPr>
              <a:t>12 machine types</a:t>
            </a:r>
            <a:endParaRPr lang="en-US" sz="1200" dirty="0"/>
          </a:p>
        </p:txBody>
      </p:sp>
      <p:sp>
        <p:nvSpPr>
          <p:cNvPr id="19" name="Text 16"/>
          <p:cNvSpPr/>
          <p:nvPr/>
        </p:nvSpPr>
        <p:spPr>
          <a:xfrm>
            <a:off x="8887968" y="2907792"/>
            <a:ext cx="2487168" cy="438912"/>
          </a:xfrm>
          <a:prstGeom prst="rect">
            <a:avLst/>
          </a:prstGeom>
          <a:noFill/>
          <a:ln/>
        </p:spPr>
        <p:txBody>
          <a:bodyPr wrap="square" lIns="0" tIns="0" rIns="0" bIns="0" rtlCol="0" anchor="t"/>
          <a:lstStyle/>
          <a:p>
            <a:pPr marL="0" indent="0">
              <a:lnSpc>
                <a:spcPts val="1250"/>
              </a:lnSpc>
              <a:buNone/>
            </a:pPr>
            <a:r>
              <a:rPr lang="en-US" sz="1000" dirty="0">
                <a:solidFill>
                  <a:srgbClr val="5F6B64"/>
                </a:solidFill>
                <a:latin typeface="Calibri" pitchFamily="34" charset="0"/>
                <a:ea typeface="Calibri" pitchFamily="34" charset="-122"/>
                <a:cs typeface="Calibri" pitchFamily="34" charset="-120"/>
              </a:rPr>
              <a:t>6 AWS .xlarge · 6 Azure Standard_D* — disjoint between clouds</a:t>
            </a:r>
            <a:endParaRPr lang="en-US" sz="1000" dirty="0"/>
          </a:p>
        </p:txBody>
      </p:sp>
      <p:sp>
        <p:nvSpPr>
          <p:cNvPr id="20" name="Text 17"/>
          <p:cNvSpPr/>
          <p:nvPr/>
        </p:nvSpPr>
        <p:spPr>
          <a:xfrm>
            <a:off x="7498080" y="3383280"/>
            <a:ext cx="1371600" cy="438912"/>
          </a:xfrm>
          <a:prstGeom prst="rect">
            <a:avLst/>
          </a:prstGeom>
          <a:noFill/>
          <a:ln/>
        </p:spPr>
        <p:txBody>
          <a:bodyPr wrap="square" lIns="0" tIns="0" rIns="0" bIns="0" rtlCol="0" anchor="t"/>
          <a:lstStyle/>
          <a:p>
            <a:pPr marL="0" indent="0">
              <a:buNone/>
            </a:pPr>
            <a:r>
              <a:rPr lang="en-US" sz="1200" b="1" dirty="0">
                <a:solidFill>
                  <a:srgbClr val="16261E"/>
                </a:solidFill>
                <a:latin typeface="Calibri" pitchFamily="34" charset="0"/>
                <a:ea typeface="Calibri" pitchFamily="34" charset="-122"/>
                <a:cs typeface="Calibri" pitchFamily="34" charset="-120"/>
              </a:rPr>
              <a:t>2 node counts</a:t>
            </a:r>
            <a:endParaRPr lang="en-US" sz="1200" dirty="0"/>
          </a:p>
        </p:txBody>
      </p:sp>
      <p:sp>
        <p:nvSpPr>
          <p:cNvPr id="21" name="Text 18"/>
          <p:cNvSpPr/>
          <p:nvPr/>
        </p:nvSpPr>
        <p:spPr>
          <a:xfrm>
            <a:off x="8887968" y="3383280"/>
            <a:ext cx="2487168" cy="438912"/>
          </a:xfrm>
          <a:prstGeom prst="rect">
            <a:avLst/>
          </a:prstGeom>
          <a:noFill/>
          <a:ln/>
        </p:spPr>
        <p:txBody>
          <a:bodyPr wrap="square" lIns="0" tIns="0" rIns="0" bIns="0" rtlCol="0" anchor="t"/>
          <a:lstStyle/>
          <a:p>
            <a:pPr marL="0" indent="0">
              <a:lnSpc>
                <a:spcPts val="1250"/>
              </a:lnSpc>
              <a:buNone/>
            </a:pPr>
            <a:r>
              <a:rPr lang="en-US" sz="1000" dirty="0">
                <a:solidFill>
                  <a:srgbClr val="5F6B64"/>
                </a:solidFill>
                <a:latin typeface="Calibri" pitchFamily="34" charset="0"/>
                <a:ea typeface="Calibri" pitchFamily="34" charset="-122"/>
                <a:cs typeface="Calibri" pitchFamily="34" charset="-120"/>
              </a:rPr>
              <a:t>2 and 4 workers — isolates the effect of horizontal scaling</a:t>
            </a:r>
            <a:endParaRPr lang="en-US" sz="1000" dirty="0"/>
          </a:p>
        </p:txBody>
      </p:sp>
      <p:sp>
        <p:nvSpPr>
          <p:cNvPr id="22" name="Shape 19"/>
          <p:cNvSpPr/>
          <p:nvPr/>
        </p:nvSpPr>
        <p:spPr>
          <a:xfrm>
            <a:off x="7223760" y="4059936"/>
            <a:ext cx="4398264" cy="1920240"/>
          </a:xfrm>
          <a:prstGeom prst="roundRect">
            <a:avLst>
              <a:gd name="adj" fmla="val 4286"/>
            </a:avLst>
          </a:prstGeom>
          <a:solidFill>
            <a:srgbClr val="F1F4F1"/>
          </a:solidFill>
          <a:ln w="12700">
            <a:solidFill>
              <a:srgbClr val="F1F4F1"/>
            </a:solidFill>
            <a:prstDash val="solid"/>
          </a:ln>
          <a:effectLst>
            <a:outerShdw blurRad="127000" dist="25400" dir="5400000" algn="bl" rotWithShape="0">
              <a:srgbClr val="12201A">
                <a:alpha val="13000"/>
              </a:srgbClr>
            </a:outerShdw>
          </a:effectLst>
        </p:spPr>
        <p:txBody>
          <a:bodyPr/>
          <a:lstStyle/>
          <a:p>
            <a:endParaRPr lang="en-LK"/>
          </a:p>
        </p:txBody>
      </p:sp>
      <p:sp>
        <p:nvSpPr>
          <p:cNvPr id="23" name="Text 20"/>
          <p:cNvSpPr/>
          <p:nvPr/>
        </p:nvSpPr>
        <p:spPr>
          <a:xfrm>
            <a:off x="7498080" y="4224528"/>
            <a:ext cx="3840480" cy="237744"/>
          </a:xfrm>
          <a:prstGeom prst="rect">
            <a:avLst/>
          </a:prstGeom>
          <a:noFill/>
          <a:ln/>
        </p:spPr>
        <p:txBody>
          <a:bodyPr wrap="square" lIns="0" tIns="0" rIns="0" bIns="0" rtlCol="0" anchor="ctr"/>
          <a:lstStyle/>
          <a:p>
            <a:pPr marL="0" indent="0">
              <a:buNone/>
            </a:pPr>
            <a:r>
              <a:rPr lang="en-US" sz="1050" b="1" kern="0" spc="120" dirty="0">
                <a:solidFill>
                  <a:srgbClr val="3E6B55"/>
                </a:solidFill>
                <a:latin typeface="Calibri" pitchFamily="34" charset="0"/>
                <a:ea typeface="Calibri" pitchFamily="34" charset="-122"/>
                <a:cs typeface="Calibri" pitchFamily="34" charset="-120"/>
              </a:rPr>
              <a:t>REPEATABILITY, MEASURED</a:t>
            </a:r>
            <a:endParaRPr lang="en-US" sz="1050" dirty="0"/>
          </a:p>
        </p:txBody>
      </p:sp>
      <p:sp>
        <p:nvSpPr>
          <p:cNvPr id="24" name="Text 21"/>
          <p:cNvSpPr/>
          <p:nvPr/>
        </p:nvSpPr>
        <p:spPr>
          <a:xfrm>
            <a:off x="7498080" y="4517136"/>
            <a:ext cx="3840480" cy="384048"/>
          </a:xfrm>
          <a:prstGeom prst="rect">
            <a:avLst/>
          </a:prstGeom>
          <a:noFill/>
          <a:ln/>
        </p:spPr>
        <p:txBody>
          <a:bodyPr wrap="square" lIns="0" tIns="0" rIns="0" bIns="0" rtlCol="0" anchor="ctr"/>
          <a:lstStyle/>
          <a:p>
            <a:pPr marL="0" indent="0">
              <a:buNone/>
            </a:pPr>
            <a:r>
              <a:rPr lang="en-US" sz="2500" b="1" dirty="0">
                <a:solidFill>
                  <a:srgbClr val="16261E"/>
                </a:solidFill>
                <a:latin typeface="Cambria" pitchFamily="34" charset="0"/>
                <a:ea typeface="Cambria" pitchFamily="34" charset="-122"/>
                <a:cs typeface="Cambria" pitchFamily="34" charset="-120"/>
              </a:rPr>
              <a:t>439</a:t>
            </a:r>
            <a:r>
              <a:rPr lang="en-US" sz="1250" dirty="0">
                <a:solidFill>
                  <a:srgbClr val="5F6B64"/>
                </a:solidFill>
                <a:latin typeface="Calibri" pitchFamily="34" charset="0"/>
                <a:ea typeface="Calibri" pitchFamily="34" charset="-122"/>
                <a:cs typeface="Calibri" pitchFamily="34" charset="-120"/>
              </a:rPr>
              <a:t>  configurations were run more than once.</a:t>
            </a:r>
            <a:endParaRPr lang="en-US" sz="2500" dirty="0"/>
          </a:p>
        </p:txBody>
      </p:sp>
      <p:sp>
        <p:nvSpPr>
          <p:cNvPr id="25" name="Text 22"/>
          <p:cNvSpPr/>
          <p:nvPr/>
        </p:nvSpPr>
        <p:spPr>
          <a:xfrm>
            <a:off x="7498080" y="4956048"/>
            <a:ext cx="3840480" cy="914400"/>
          </a:xfrm>
          <a:prstGeom prst="rect">
            <a:avLst/>
          </a:prstGeom>
          <a:noFill/>
          <a:ln/>
        </p:spPr>
        <p:txBody>
          <a:bodyPr wrap="square" lIns="0" tIns="0" rIns="0" bIns="0" rtlCol="0" anchor="ctr"/>
          <a:lstStyle/>
          <a:p>
            <a:pPr marL="0" indent="0">
              <a:lnSpc>
                <a:spcPts val="1350"/>
              </a:lnSpc>
              <a:buNone/>
            </a:pPr>
            <a:r>
              <a:rPr lang="en-US" sz="1050" dirty="0">
                <a:solidFill>
                  <a:srgbClr val="5F6B64"/>
                </a:solidFill>
                <a:latin typeface="Calibri" pitchFamily="34" charset="0"/>
                <a:ea typeface="Calibri" pitchFamily="34" charset="-122"/>
                <a:cs typeface="Calibri" pitchFamily="34" charset="-120"/>
              </a:rPr>
              <a:t>A median coefficient of variation of 4.15% confirms the campaign reproduces. Quantifying that variance is what justifies selecting the model on grouped cross-validation rather than on a single partition — the repeated runs are a design feature, not a by-product.</a:t>
            </a:r>
            <a:endParaRPr lang="en-US" sz="1050" dirty="0"/>
          </a:p>
        </p:txBody>
      </p:sp>
      <p:sp>
        <p:nvSpPr>
          <p:cNvPr id="27" name="Text 24"/>
          <p:cNvSpPr/>
          <p:nvPr/>
        </p:nvSpPr>
        <p:spPr>
          <a:xfrm>
            <a:off x="10984687" y="6382512"/>
            <a:ext cx="640080" cy="256032"/>
          </a:xfrm>
          <a:prstGeom prst="rect">
            <a:avLst/>
          </a:prstGeom>
          <a:noFill/>
          <a:ln/>
        </p:spPr>
        <p:txBody>
          <a:bodyPr wrap="square" lIns="0" tIns="0" rIns="0" bIns="0" rtlCol="0" anchor="ctr"/>
          <a:lstStyle/>
          <a:p>
            <a:pPr marL="0" indent="0" algn="r">
              <a:buNone/>
            </a:pPr>
            <a:r>
              <a:rPr lang="en-US" sz="1050" dirty="0">
                <a:solidFill>
                  <a:srgbClr val="96A29B"/>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0515600" cy="237744"/>
          </a:xfrm>
          <a:prstGeom prst="rect">
            <a:avLst/>
          </a:prstGeom>
          <a:noFill/>
          <a:ln/>
        </p:spPr>
        <p:txBody>
          <a:bodyPr wrap="square" lIns="0" tIns="0" rIns="0" bIns="0" rtlCol="0" anchor="ctr"/>
          <a:lstStyle/>
          <a:p>
            <a:pPr marL="0" indent="0">
              <a:buNone/>
            </a:pPr>
            <a:r>
              <a:rPr lang="en-US" sz="1150" b="1" kern="0" spc="160" dirty="0">
                <a:solidFill>
                  <a:srgbClr val="3E6B55"/>
                </a:solidFill>
                <a:latin typeface="Calibri" pitchFamily="34" charset="0"/>
                <a:ea typeface="Calibri" pitchFamily="34" charset="-122"/>
                <a:cs typeface="Calibri" pitchFamily="34" charset="-120"/>
              </a:rPr>
              <a:t>HOW I BUILT IT · 2 OF 4</a:t>
            </a:r>
            <a:endParaRPr lang="en-US" sz="1150" dirty="0"/>
          </a:p>
        </p:txBody>
      </p:sp>
      <p:sp>
        <p:nvSpPr>
          <p:cNvPr id="3" name="Text 1"/>
          <p:cNvSpPr/>
          <p:nvPr/>
        </p:nvSpPr>
        <p:spPr>
          <a:xfrm>
            <a:off x="566928" y="576072"/>
            <a:ext cx="11064240" cy="603504"/>
          </a:xfrm>
          <a:prstGeom prst="rect">
            <a:avLst/>
          </a:prstGeom>
          <a:noFill/>
          <a:ln/>
        </p:spPr>
        <p:txBody>
          <a:bodyPr wrap="square" lIns="0" tIns="0" rIns="0" bIns="0" rtlCol="0" anchor="ctr"/>
          <a:lstStyle/>
          <a:p>
            <a:pPr marL="0" indent="0">
              <a:buNone/>
            </a:pPr>
            <a:r>
              <a:rPr lang="en-US" sz="3100" b="1" dirty="0">
                <a:solidFill>
                  <a:srgbClr val="16261E"/>
                </a:solidFill>
                <a:latin typeface="Cambria" pitchFamily="34" charset="0"/>
                <a:ea typeface="Cambria" pitchFamily="34" charset="-122"/>
                <a:cs typeface="Cambria" pitchFamily="34" charset="-120"/>
              </a:rPr>
              <a:t>Turning runs into attributable cost and carbon</a:t>
            </a:r>
            <a:endParaRPr lang="en-US" sz="3100" dirty="0"/>
          </a:p>
        </p:txBody>
      </p:sp>
      <p:sp>
        <p:nvSpPr>
          <p:cNvPr id="4" name="Shape 2"/>
          <p:cNvSpPr/>
          <p:nvPr/>
        </p:nvSpPr>
        <p:spPr>
          <a:xfrm>
            <a:off x="566928" y="1481328"/>
            <a:ext cx="5440680" cy="2212848"/>
          </a:xfrm>
          <a:prstGeom prst="roundRect">
            <a:avLst>
              <a:gd name="adj" fmla="val 3719"/>
            </a:avLst>
          </a:prstGeom>
          <a:solidFill>
            <a:srgbClr val="F1F4F1"/>
          </a:solidFill>
          <a:ln w="12700">
            <a:solidFill>
              <a:srgbClr val="F1F4F1"/>
            </a:solidFill>
            <a:prstDash val="solid"/>
          </a:ln>
          <a:effectLst>
            <a:outerShdw blurRad="127000" dist="25400" dir="5400000" algn="bl" rotWithShape="0">
              <a:srgbClr val="12201A">
                <a:alpha val="13000"/>
              </a:srgbClr>
            </a:outerShdw>
          </a:effectLst>
        </p:spPr>
        <p:txBody>
          <a:bodyPr/>
          <a:lstStyle/>
          <a:p>
            <a:endParaRPr lang="en-LK"/>
          </a:p>
        </p:txBody>
      </p:sp>
      <p:sp>
        <p:nvSpPr>
          <p:cNvPr id="5" name="Text 3"/>
          <p:cNvSpPr/>
          <p:nvPr/>
        </p:nvSpPr>
        <p:spPr>
          <a:xfrm>
            <a:off x="841248" y="1645920"/>
            <a:ext cx="2743200" cy="237744"/>
          </a:xfrm>
          <a:prstGeom prst="rect">
            <a:avLst/>
          </a:prstGeom>
          <a:noFill/>
          <a:ln/>
        </p:spPr>
        <p:txBody>
          <a:bodyPr wrap="square" lIns="0" tIns="0" rIns="0" bIns="0" rtlCol="0" anchor="ctr"/>
          <a:lstStyle/>
          <a:p>
            <a:pPr marL="0" indent="0">
              <a:buNone/>
            </a:pPr>
            <a:r>
              <a:rPr lang="en-US" sz="1050" b="1" kern="0" spc="130" dirty="0">
                <a:solidFill>
                  <a:srgbClr val="3E6B55"/>
                </a:solidFill>
                <a:latin typeface="Calibri" pitchFamily="34" charset="0"/>
                <a:ea typeface="Calibri" pitchFamily="34" charset="-122"/>
                <a:cs typeface="Calibri" pitchFamily="34" charset="-120"/>
              </a:rPr>
              <a:t>COST</a:t>
            </a:r>
            <a:endParaRPr lang="en-US" sz="1050" dirty="0"/>
          </a:p>
        </p:txBody>
      </p:sp>
      <p:sp>
        <p:nvSpPr>
          <p:cNvPr id="6" name="Text 4"/>
          <p:cNvSpPr/>
          <p:nvPr/>
        </p:nvSpPr>
        <p:spPr>
          <a:xfrm>
            <a:off x="841248" y="1938528"/>
            <a:ext cx="4983480" cy="329184"/>
          </a:xfrm>
          <a:prstGeom prst="rect">
            <a:avLst/>
          </a:prstGeom>
          <a:noFill/>
          <a:ln/>
        </p:spPr>
        <p:txBody>
          <a:bodyPr wrap="square" lIns="0" tIns="0" rIns="0" bIns="0" rtlCol="0" anchor="ctr"/>
          <a:lstStyle/>
          <a:p>
            <a:pPr marL="0" indent="0">
              <a:buNone/>
            </a:pPr>
            <a:r>
              <a:rPr lang="en-US" sz="1200" b="1" dirty="0">
                <a:solidFill>
                  <a:srgbClr val="16261E"/>
                </a:solidFill>
                <a:latin typeface="Courier New" pitchFamily="34" charset="0"/>
                <a:ea typeface="Courier New" pitchFamily="34" charset="-122"/>
                <a:cs typeface="Courier New" pitchFamily="34" charset="-120"/>
              </a:rPr>
              <a:t>cost_usd  =  P_hourly  ×  nodes  ×  runtime_hours</a:t>
            </a:r>
            <a:endParaRPr lang="en-US" sz="1200" dirty="0"/>
          </a:p>
        </p:txBody>
      </p:sp>
      <p:sp>
        <p:nvSpPr>
          <p:cNvPr id="7" name="Text 5"/>
          <p:cNvSpPr/>
          <p:nvPr/>
        </p:nvSpPr>
        <p:spPr>
          <a:xfrm>
            <a:off x="841248" y="2340864"/>
            <a:ext cx="4937760" cy="1188720"/>
          </a:xfrm>
          <a:prstGeom prst="rect">
            <a:avLst/>
          </a:prstGeom>
          <a:noFill/>
          <a:ln/>
        </p:spPr>
        <p:txBody>
          <a:bodyPr wrap="square" lIns="0" tIns="0" rIns="0" bIns="0" rtlCol="0" anchor="ctr"/>
          <a:lstStyle/>
          <a:p>
            <a:pPr marL="177800" indent="-177800">
              <a:lnSpc>
                <a:spcPts val="1500"/>
              </a:lnSpc>
              <a:spcAft>
                <a:spcPts val="700"/>
              </a:spcAft>
              <a:buSzPct val="100000"/>
              <a:buChar char="•"/>
            </a:pPr>
            <a:r>
              <a:rPr lang="en-US" sz="1150" dirty="0">
                <a:solidFill>
                  <a:srgbClr val="5F6B64"/>
                </a:solidFill>
                <a:latin typeface="Calibri" pitchFamily="34" charset="0"/>
                <a:ea typeface="Calibri" pitchFamily="34" charset="-122"/>
                <a:cs typeface="Calibri" pitchFamily="34" charset="-120"/>
              </a:rPr>
              <a:t>AWS cost is the EC2 price plus the EMR service fee, so both providers are costed on a like-for-like basis rather than on bare compute.</a:t>
            </a:r>
            <a:endParaRPr lang="en-US" sz="1150" dirty="0"/>
          </a:p>
          <a:p>
            <a:pPr marL="177800" indent="-177800">
              <a:lnSpc>
                <a:spcPts val="1500"/>
              </a:lnSpc>
              <a:spcAft>
                <a:spcPts val="700"/>
              </a:spcAft>
              <a:buSzPct val="100000"/>
              <a:buChar char="•"/>
            </a:pPr>
            <a:r>
              <a:rPr lang="en-US" sz="1150" dirty="0">
                <a:solidFill>
                  <a:srgbClr val="5F6B64"/>
                </a:solidFill>
                <a:latin typeface="Calibri" pitchFamily="34" charset="0"/>
                <a:ea typeface="Calibri" pitchFamily="34" charset="-122"/>
                <a:cs typeface="Calibri" pitchFamily="34" charset="-120"/>
              </a:rPr>
              <a:t>Prices fetched once from the AWS Pricing API and Azure Retail Prices API, stored with a fetch date, so results reproduce exactly.</a:t>
            </a:r>
            <a:endParaRPr lang="en-US" sz="1150" dirty="0"/>
          </a:p>
        </p:txBody>
      </p:sp>
      <p:sp>
        <p:nvSpPr>
          <p:cNvPr id="8" name="Shape 6"/>
          <p:cNvSpPr/>
          <p:nvPr/>
        </p:nvSpPr>
        <p:spPr>
          <a:xfrm>
            <a:off x="6199632" y="1481328"/>
            <a:ext cx="5422392" cy="2212848"/>
          </a:xfrm>
          <a:prstGeom prst="roundRect">
            <a:avLst>
              <a:gd name="adj" fmla="val 3719"/>
            </a:avLst>
          </a:prstGeom>
          <a:solidFill>
            <a:srgbClr val="F1F4F1"/>
          </a:solidFill>
          <a:ln w="12700">
            <a:solidFill>
              <a:srgbClr val="F1F4F1"/>
            </a:solidFill>
            <a:prstDash val="solid"/>
          </a:ln>
          <a:effectLst>
            <a:outerShdw blurRad="127000" dist="25400" dir="5400000" algn="bl" rotWithShape="0">
              <a:srgbClr val="12201A">
                <a:alpha val="13000"/>
              </a:srgbClr>
            </a:outerShdw>
          </a:effectLst>
        </p:spPr>
        <p:txBody>
          <a:bodyPr/>
          <a:lstStyle/>
          <a:p>
            <a:endParaRPr lang="en-LK"/>
          </a:p>
        </p:txBody>
      </p:sp>
      <p:sp>
        <p:nvSpPr>
          <p:cNvPr id="9" name="Text 7"/>
          <p:cNvSpPr/>
          <p:nvPr/>
        </p:nvSpPr>
        <p:spPr>
          <a:xfrm>
            <a:off x="6473952" y="1645920"/>
            <a:ext cx="2743200" cy="237744"/>
          </a:xfrm>
          <a:prstGeom prst="rect">
            <a:avLst/>
          </a:prstGeom>
          <a:noFill/>
          <a:ln/>
        </p:spPr>
        <p:txBody>
          <a:bodyPr wrap="square" lIns="0" tIns="0" rIns="0" bIns="0" rtlCol="0" anchor="ctr"/>
          <a:lstStyle/>
          <a:p>
            <a:pPr marL="0" indent="0">
              <a:buNone/>
            </a:pPr>
            <a:r>
              <a:rPr lang="en-US" sz="1050" b="1" kern="0" spc="130" dirty="0">
                <a:solidFill>
                  <a:srgbClr val="9DC48A"/>
                </a:solidFill>
                <a:latin typeface="Calibri" pitchFamily="34" charset="0"/>
                <a:ea typeface="Calibri" pitchFamily="34" charset="-122"/>
                <a:cs typeface="Calibri" pitchFamily="34" charset="-120"/>
              </a:rPr>
              <a:t>CARBON</a:t>
            </a:r>
            <a:endParaRPr lang="en-US" sz="1050" dirty="0"/>
          </a:p>
        </p:txBody>
      </p:sp>
      <p:sp>
        <p:nvSpPr>
          <p:cNvPr id="10" name="Text 8"/>
          <p:cNvSpPr/>
          <p:nvPr/>
        </p:nvSpPr>
        <p:spPr>
          <a:xfrm>
            <a:off x="6473952" y="1938528"/>
            <a:ext cx="4892040" cy="658368"/>
          </a:xfrm>
          <a:prstGeom prst="rect">
            <a:avLst/>
          </a:prstGeom>
          <a:noFill/>
          <a:ln/>
        </p:spPr>
        <p:txBody>
          <a:bodyPr wrap="square" lIns="0" tIns="0" rIns="0" bIns="0" rtlCol="0" anchor="ctr"/>
          <a:lstStyle/>
          <a:p>
            <a:pPr marL="0" indent="0">
              <a:lnSpc>
                <a:spcPts val="1400"/>
              </a:lnSpc>
              <a:buNone/>
            </a:pPr>
            <a:r>
              <a:rPr lang="en-US" sz="1100" b="1" dirty="0">
                <a:solidFill>
                  <a:srgbClr val="16261E"/>
                </a:solidFill>
                <a:latin typeface="Courier New" pitchFamily="34" charset="0"/>
                <a:ea typeface="Courier New" pitchFamily="34" charset="-122"/>
                <a:cs typeface="Courier New" pitchFamily="34" charset="-120"/>
              </a:rPr>
              <a:t>emissions_g = (power_W × nodes / 1000)</a:t>
            </a:r>
            <a:endParaRPr lang="en-US" sz="1100" dirty="0"/>
          </a:p>
          <a:p>
            <a:pPr marL="0" indent="0">
              <a:lnSpc>
                <a:spcPts val="1400"/>
              </a:lnSpc>
              <a:buNone/>
            </a:pPr>
            <a:r>
              <a:rPr lang="en-US" sz="1100" b="1" dirty="0">
                <a:solidFill>
                  <a:srgbClr val="16261E"/>
                </a:solidFill>
                <a:latin typeface="Courier New" pitchFamily="34" charset="0"/>
                <a:ea typeface="Courier New" pitchFamily="34" charset="-122"/>
                <a:cs typeface="Courier New" pitchFamily="34" charset="-120"/>
              </a:rPr>
              <a:t>              × (runtime_min / 60)</a:t>
            </a:r>
            <a:endParaRPr lang="en-US" sz="1100" dirty="0"/>
          </a:p>
          <a:p>
            <a:pPr marL="0" indent="0">
              <a:lnSpc>
                <a:spcPts val="1400"/>
              </a:lnSpc>
              <a:buNone/>
            </a:pPr>
            <a:r>
              <a:rPr lang="en-US" sz="1100" b="1" dirty="0">
                <a:solidFill>
                  <a:srgbClr val="16261E"/>
                </a:solidFill>
                <a:latin typeface="Courier New" pitchFamily="34" charset="0"/>
                <a:ea typeface="Courier New" pitchFamily="34" charset="-122"/>
                <a:cs typeface="Courier New" pitchFamily="34" charset="-120"/>
              </a:rPr>
              <a:t>              × carbon_intensity × PUE</a:t>
            </a:r>
            <a:endParaRPr lang="en-US" sz="1100" dirty="0"/>
          </a:p>
        </p:txBody>
      </p:sp>
      <p:sp>
        <p:nvSpPr>
          <p:cNvPr id="11" name="Text 9"/>
          <p:cNvSpPr/>
          <p:nvPr/>
        </p:nvSpPr>
        <p:spPr>
          <a:xfrm>
            <a:off x="6473952" y="2670048"/>
            <a:ext cx="4892040" cy="914400"/>
          </a:xfrm>
          <a:prstGeom prst="rect">
            <a:avLst/>
          </a:prstGeom>
          <a:noFill/>
          <a:ln/>
        </p:spPr>
        <p:txBody>
          <a:bodyPr wrap="square" lIns="0" tIns="0" rIns="0" bIns="0" rtlCol="0" anchor="ctr"/>
          <a:lstStyle/>
          <a:p>
            <a:pPr marL="177800" indent="-177800">
              <a:lnSpc>
                <a:spcPts val="1500"/>
              </a:lnSpc>
              <a:spcAft>
                <a:spcPts val="700"/>
              </a:spcAft>
              <a:buSzPct val="100000"/>
              <a:buChar char="•"/>
            </a:pPr>
            <a:r>
              <a:rPr lang="en-US" sz="1150" dirty="0">
                <a:solidFill>
                  <a:srgbClr val="5F6B64"/>
                </a:solidFill>
                <a:latin typeface="Calibri" pitchFamily="34" charset="0"/>
                <a:ea typeface="Calibri" pitchFamily="34" charset="-122"/>
                <a:cs typeface="Calibri" pitchFamily="34" charset="-120"/>
              </a:rPr>
              <a:t>Power draw from published Cloud Carbon Footprint coefficients at a 50% vCPU utilisation assumption; PUE 1.15 AWS, 1.18 Azure.</a:t>
            </a:r>
            <a:endParaRPr lang="en-US" sz="1150" dirty="0"/>
          </a:p>
          <a:p>
            <a:pPr marL="177800" indent="-177800">
              <a:lnSpc>
                <a:spcPts val="1500"/>
              </a:lnSpc>
              <a:spcAft>
                <a:spcPts val="700"/>
              </a:spcAft>
              <a:buSzPct val="100000"/>
              <a:buChar char="•"/>
            </a:pPr>
            <a:r>
              <a:rPr lang="en-US" sz="1150" dirty="0">
                <a:solidFill>
                  <a:srgbClr val="5F6B64"/>
                </a:solidFill>
                <a:latin typeface="Calibri" pitchFamily="34" charset="0"/>
                <a:ea typeface="Calibri" pitchFamily="34" charset="-122"/>
                <a:cs typeface="Calibri" pitchFamily="34" charset="-120"/>
              </a:rPr>
              <a:t>Grid intensity and renewable share from Electricity Maps: IN-WE 643.3, SG 480.7 gCO₂eq/kWh.</a:t>
            </a:r>
            <a:endParaRPr lang="en-US" sz="1150" dirty="0"/>
          </a:p>
        </p:txBody>
      </p:sp>
      <p:sp>
        <p:nvSpPr>
          <p:cNvPr id="12" name="Text 10"/>
          <p:cNvSpPr/>
          <p:nvPr/>
        </p:nvSpPr>
        <p:spPr>
          <a:xfrm>
            <a:off x="566928" y="3950208"/>
            <a:ext cx="5486400" cy="237744"/>
          </a:xfrm>
          <a:prstGeom prst="rect">
            <a:avLst/>
          </a:prstGeom>
          <a:noFill/>
          <a:ln/>
        </p:spPr>
        <p:txBody>
          <a:bodyPr wrap="square" lIns="0" tIns="0" rIns="0" bIns="0" rtlCol="0" anchor="ctr"/>
          <a:lstStyle/>
          <a:p>
            <a:pPr marL="0" indent="0">
              <a:buNone/>
            </a:pPr>
            <a:r>
              <a:rPr lang="en-US" sz="1050" b="1" kern="0" spc="120" dirty="0">
                <a:solidFill>
                  <a:srgbClr val="3E6B55"/>
                </a:solidFill>
                <a:latin typeface="Calibri" pitchFamily="34" charset="0"/>
                <a:ea typeface="Calibri" pitchFamily="34" charset="-122"/>
                <a:cs typeface="Calibri" pitchFamily="34" charset="-120"/>
              </a:rPr>
              <a:t>HOW THE COST AND CARBON MODEL IS SCOPED</a:t>
            </a:r>
            <a:endParaRPr lang="en-US" sz="1050" dirty="0"/>
          </a:p>
        </p:txBody>
      </p:sp>
      <p:sp>
        <p:nvSpPr>
          <p:cNvPr id="13" name="Shape 11"/>
          <p:cNvSpPr/>
          <p:nvPr/>
        </p:nvSpPr>
        <p:spPr>
          <a:xfrm>
            <a:off x="566928" y="4242816"/>
            <a:ext cx="3529584" cy="1700784"/>
          </a:xfrm>
          <a:prstGeom prst="roundRect">
            <a:avLst>
              <a:gd name="adj" fmla="val 4839"/>
            </a:avLst>
          </a:prstGeom>
          <a:solidFill>
            <a:srgbClr val="F1F4F1"/>
          </a:solidFill>
          <a:ln w="12700">
            <a:solidFill>
              <a:srgbClr val="F1F4F1"/>
            </a:solidFill>
            <a:prstDash val="solid"/>
          </a:ln>
          <a:effectLst>
            <a:outerShdw blurRad="127000" dist="25400" dir="5400000" algn="bl" rotWithShape="0">
              <a:srgbClr val="12201A">
                <a:alpha val="13000"/>
              </a:srgbClr>
            </a:outerShdw>
          </a:effectLst>
        </p:spPr>
        <p:txBody>
          <a:bodyPr/>
          <a:lstStyle/>
          <a:p>
            <a:endParaRPr lang="en-LK"/>
          </a:p>
        </p:txBody>
      </p:sp>
      <p:sp>
        <p:nvSpPr>
          <p:cNvPr id="14" name="Text 12"/>
          <p:cNvSpPr/>
          <p:nvPr/>
        </p:nvSpPr>
        <p:spPr>
          <a:xfrm>
            <a:off x="786384" y="4389120"/>
            <a:ext cx="3108960" cy="512064"/>
          </a:xfrm>
          <a:prstGeom prst="rect">
            <a:avLst/>
          </a:prstGeom>
          <a:noFill/>
          <a:ln/>
        </p:spPr>
        <p:txBody>
          <a:bodyPr wrap="square" lIns="0" tIns="0" rIns="0" bIns="0" rtlCol="0" anchor="ctr"/>
          <a:lstStyle/>
          <a:p>
            <a:pPr marL="0" indent="0">
              <a:lnSpc>
                <a:spcPts val="1500"/>
              </a:lnSpc>
              <a:buNone/>
            </a:pPr>
            <a:r>
              <a:rPr lang="en-US" sz="1200" b="1" dirty="0">
                <a:solidFill>
                  <a:srgbClr val="16261E"/>
                </a:solidFill>
                <a:latin typeface="Calibri" pitchFamily="34" charset="0"/>
                <a:ea typeface="Calibri" pitchFamily="34" charset="-122"/>
                <a:cs typeface="Calibri" pitchFamily="34" charset="-120"/>
              </a:rPr>
              <a:t>Attributable</a:t>
            </a:r>
            <a:endParaRPr lang="en-US" sz="1200" dirty="0"/>
          </a:p>
          <a:p>
            <a:pPr marL="0" indent="0">
              <a:lnSpc>
                <a:spcPts val="1500"/>
              </a:lnSpc>
              <a:buNone/>
            </a:pPr>
            <a:r>
              <a:rPr lang="en-US" sz="1200" b="1" dirty="0">
                <a:solidFill>
                  <a:srgbClr val="16261E"/>
                </a:solidFill>
                <a:latin typeface="Calibri" pitchFamily="34" charset="0"/>
                <a:ea typeface="Calibri" pitchFamily="34" charset="-122"/>
                <a:cs typeface="Calibri" pitchFamily="34" charset="-120"/>
              </a:rPr>
              <a:t>compute cost</a:t>
            </a:r>
            <a:endParaRPr lang="en-US" sz="1200" dirty="0"/>
          </a:p>
        </p:txBody>
      </p:sp>
      <p:sp>
        <p:nvSpPr>
          <p:cNvPr id="15" name="Text 13"/>
          <p:cNvSpPr/>
          <p:nvPr/>
        </p:nvSpPr>
        <p:spPr>
          <a:xfrm>
            <a:off x="786384" y="4901184"/>
            <a:ext cx="3108960" cy="914400"/>
          </a:xfrm>
          <a:prstGeom prst="rect">
            <a:avLst/>
          </a:prstGeom>
          <a:noFill/>
          <a:ln/>
        </p:spPr>
        <p:txBody>
          <a:bodyPr wrap="square" lIns="0" tIns="0" rIns="0" bIns="0" rtlCol="0" anchor="ctr"/>
          <a:lstStyle/>
          <a:p>
            <a:pPr marL="0" indent="0">
              <a:lnSpc>
                <a:spcPts val="1300"/>
              </a:lnSpc>
              <a:buNone/>
            </a:pPr>
            <a:r>
              <a:rPr lang="en-US" sz="1030" dirty="0">
                <a:solidFill>
                  <a:srgbClr val="5F6B64"/>
                </a:solidFill>
                <a:latin typeface="Calibri" pitchFamily="34" charset="0"/>
                <a:ea typeface="Calibri" pitchFamily="34" charset="-122"/>
                <a:cs typeface="Calibri" pitchFamily="34" charset="-120"/>
              </a:rPr>
              <a:t>Cost is computed per execution as hourly price × nodes × runtime. Provider billing aggregates at account level and arrives days later, so it cannot be tied to one run. This figure can be — and it is directly comparable across both providers.</a:t>
            </a:r>
            <a:endParaRPr lang="en-US" sz="1030" dirty="0"/>
          </a:p>
        </p:txBody>
      </p:sp>
      <p:sp>
        <p:nvSpPr>
          <p:cNvPr id="16" name="Shape 14"/>
          <p:cNvSpPr/>
          <p:nvPr/>
        </p:nvSpPr>
        <p:spPr>
          <a:xfrm>
            <a:off x="4306824" y="4242816"/>
            <a:ext cx="3529584" cy="1700784"/>
          </a:xfrm>
          <a:prstGeom prst="roundRect">
            <a:avLst>
              <a:gd name="adj" fmla="val 4839"/>
            </a:avLst>
          </a:prstGeom>
          <a:solidFill>
            <a:srgbClr val="F1F4F1"/>
          </a:solidFill>
          <a:ln w="12700">
            <a:solidFill>
              <a:srgbClr val="F1F4F1"/>
            </a:solidFill>
            <a:prstDash val="solid"/>
          </a:ln>
          <a:effectLst>
            <a:outerShdw blurRad="127000" dist="25400" dir="5400000" algn="bl" rotWithShape="0">
              <a:srgbClr val="12201A">
                <a:alpha val="13000"/>
              </a:srgbClr>
            </a:outerShdw>
          </a:effectLst>
        </p:spPr>
        <p:txBody>
          <a:bodyPr/>
          <a:lstStyle/>
          <a:p>
            <a:endParaRPr lang="en-LK"/>
          </a:p>
        </p:txBody>
      </p:sp>
      <p:sp>
        <p:nvSpPr>
          <p:cNvPr id="17" name="Text 15"/>
          <p:cNvSpPr/>
          <p:nvPr/>
        </p:nvSpPr>
        <p:spPr>
          <a:xfrm>
            <a:off x="4526280" y="4389120"/>
            <a:ext cx="3108960" cy="512064"/>
          </a:xfrm>
          <a:prstGeom prst="rect">
            <a:avLst/>
          </a:prstGeom>
          <a:noFill/>
          <a:ln/>
        </p:spPr>
        <p:txBody>
          <a:bodyPr wrap="square" lIns="0" tIns="0" rIns="0" bIns="0" rtlCol="0" anchor="ctr"/>
          <a:lstStyle/>
          <a:p>
            <a:pPr marL="0" indent="0">
              <a:lnSpc>
                <a:spcPts val="1500"/>
              </a:lnSpc>
              <a:buNone/>
            </a:pPr>
            <a:r>
              <a:rPr lang="en-US" sz="1200" b="1" dirty="0">
                <a:solidFill>
                  <a:srgbClr val="16261E"/>
                </a:solidFill>
                <a:latin typeface="Calibri" pitchFamily="34" charset="0"/>
                <a:ea typeface="Calibri" pitchFamily="34" charset="-122"/>
                <a:cs typeface="Calibri" pitchFamily="34" charset="-120"/>
              </a:rPr>
              <a:t>Operational</a:t>
            </a:r>
            <a:endParaRPr lang="en-US" sz="1200" dirty="0"/>
          </a:p>
          <a:p>
            <a:pPr marL="0" indent="0">
              <a:lnSpc>
                <a:spcPts val="1500"/>
              </a:lnSpc>
              <a:buNone/>
            </a:pPr>
            <a:r>
              <a:rPr lang="en-US" sz="1200" b="1" dirty="0">
                <a:solidFill>
                  <a:srgbClr val="16261E"/>
                </a:solidFill>
                <a:latin typeface="Calibri" pitchFamily="34" charset="0"/>
                <a:ea typeface="Calibri" pitchFamily="34" charset="-122"/>
                <a:cs typeface="Calibri" pitchFamily="34" charset="-120"/>
              </a:rPr>
              <a:t>emissions</a:t>
            </a:r>
            <a:endParaRPr lang="en-US" sz="1200" dirty="0"/>
          </a:p>
        </p:txBody>
      </p:sp>
      <p:sp>
        <p:nvSpPr>
          <p:cNvPr id="18" name="Text 16"/>
          <p:cNvSpPr/>
          <p:nvPr/>
        </p:nvSpPr>
        <p:spPr>
          <a:xfrm>
            <a:off x="4526280" y="4901184"/>
            <a:ext cx="3108960" cy="914400"/>
          </a:xfrm>
          <a:prstGeom prst="rect">
            <a:avLst/>
          </a:prstGeom>
          <a:noFill/>
          <a:ln/>
        </p:spPr>
        <p:txBody>
          <a:bodyPr wrap="square" lIns="0" tIns="0" rIns="0" bIns="0" rtlCol="0" anchor="ctr"/>
          <a:lstStyle/>
          <a:p>
            <a:pPr marL="0" indent="0">
              <a:lnSpc>
                <a:spcPts val="1300"/>
              </a:lnSpc>
              <a:buNone/>
            </a:pPr>
            <a:r>
              <a:rPr lang="en-US" sz="1030" dirty="0">
                <a:solidFill>
                  <a:srgbClr val="5F6B64"/>
                </a:solidFill>
                <a:latin typeface="Calibri" pitchFamily="34" charset="0"/>
                <a:ea typeface="Calibri" pitchFamily="34" charset="-122"/>
                <a:cs typeface="Calibri" pitchFamily="34" charset="-120"/>
              </a:rPr>
              <a:t>Emissions are computed from the energy drawn during the run, using published hardware coefficients and each provider's PUE. That gives a per-execution figure grounded in measurement rather than an annual average.</a:t>
            </a:r>
            <a:endParaRPr lang="en-US" sz="1030" dirty="0"/>
          </a:p>
        </p:txBody>
      </p:sp>
      <p:sp>
        <p:nvSpPr>
          <p:cNvPr id="19" name="Shape 17"/>
          <p:cNvSpPr/>
          <p:nvPr/>
        </p:nvSpPr>
        <p:spPr>
          <a:xfrm>
            <a:off x="8046720" y="4242816"/>
            <a:ext cx="3529584" cy="1700784"/>
          </a:xfrm>
          <a:prstGeom prst="roundRect">
            <a:avLst>
              <a:gd name="adj" fmla="val 4839"/>
            </a:avLst>
          </a:prstGeom>
          <a:solidFill>
            <a:srgbClr val="F1F4F1"/>
          </a:solidFill>
          <a:ln w="12700">
            <a:solidFill>
              <a:srgbClr val="F1F4F1"/>
            </a:solidFill>
            <a:prstDash val="solid"/>
          </a:ln>
          <a:effectLst>
            <a:outerShdw blurRad="127000" dist="25400" dir="5400000" algn="bl" rotWithShape="0">
              <a:srgbClr val="12201A">
                <a:alpha val="13000"/>
              </a:srgbClr>
            </a:outerShdw>
          </a:effectLst>
        </p:spPr>
        <p:txBody>
          <a:bodyPr/>
          <a:lstStyle/>
          <a:p>
            <a:endParaRPr lang="en-LK"/>
          </a:p>
        </p:txBody>
      </p:sp>
      <p:sp>
        <p:nvSpPr>
          <p:cNvPr id="20" name="Text 18"/>
          <p:cNvSpPr/>
          <p:nvPr/>
        </p:nvSpPr>
        <p:spPr>
          <a:xfrm>
            <a:off x="8266176" y="4389120"/>
            <a:ext cx="3108960" cy="512064"/>
          </a:xfrm>
          <a:prstGeom prst="rect">
            <a:avLst/>
          </a:prstGeom>
          <a:noFill/>
          <a:ln/>
        </p:spPr>
        <p:txBody>
          <a:bodyPr wrap="square" lIns="0" tIns="0" rIns="0" bIns="0" rtlCol="0" anchor="ctr"/>
          <a:lstStyle/>
          <a:p>
            <a:pPr marL="0" indent="0">
              <a:lnSpc>
                <a:spcPts val="1500"/>
              </a:lnSpc>
              <a:buNone/>
            </a:pPr>
            <a:r>
              <a:rPr lang="en-US" sz="1200" b="1" dirty="0">
                <a:solidFill>
                  <a:srgbClr val="16261E"/>
                </a:solidFill>
                <a:latin typeface="Calibri" pitchFamily="34" charset="0"/>
                <a:ea typeface="Calibri" pitchFamily="34" charset="-122"/>
                <a:cs typeface="Calibri" pitchFamily="34" charset="-120"/>
              </a:rPr>
              <a:t>A uniform</a:t>
            </a:r>
            <a:endParaRPr lang="en-US" sz="1200" dirty="0"/>
          </a:p>
          <a:p>
            <a:pPr marL="0" indent="0">
              <a:lnSpc>
                <a:spcPts val="1500"/>
              </a:lnSpc>
              <a:buNone/>
            </a:pPr>
            <a:r>
              <a:rPr lang="en-US" sz="1200" b="1" dirty="0">
                <a:solidFill>
                  <a:srgbClr val="16261E"/>
                </a:solidFill>
                <a:latin typeface="Calibri" pitchFamily="34" charset="0"/>
                <a:ea typeface="Calibri" pitchFamily="34" charset="-122"/>
                <a:cs typeface="Calibri" pitchFamily="34" charset="-120"/>
              </a:rPr>
              <a:t>utilisation basis</a:t>
            </a:r>
            <a:endParaRPr lang="en-US" sz="1200" dirty="0"/>
          </a:p>
        </p:txBody>
      </p:sp>
      <p:sp>
        <p:nvSpPr>
          <p:cNvPr id="21" name="Text 19"/>
          <p:cNvSpPr/>
          <p:nvPr/>
        </p:nvSpPr>
        <p:spPr>
          <a:xfrm>
            <a:off x="8266176" y="4901184"/>
            <a:ext cx="3108960" cy="914400"/>
          </a:xfrm>
          <a:prstGeom prst="rect">
            <a:avLst/>
          </a:prstGeom>
          <a:noFill/>
          <a:ln/>
        </p:spPr>
        <p:txBody>
          <a:bodyPr wrap="square" lIns="0" tIns="0" rIns="0" bIns="0" rtlCol="0" anchor="ctr"/>
          <a:lstStyle/>
          <a:p>
            <a:pPr marL="0" indent="0">
              <a:lnSpc>
                <a:spcPts val="1300"/>
              </a:lnSpc>
              <a:buNone/>
            </a:pPr>
            <a:r>
              <a:rPr lang="en-US" sz="1030" dirty="0">
                <a:solidFill>
                  <a:srgbClr val="5F6B64"/>
                </a:solidFill>
                <a:latin typeface="Calibri" pitchFamily="34" charset="0"/>
                <a:ea typeface="Calibri" pitchFamily="34" charset="-122"/>
                <a:cs typeface="Calibri" pitchFamily="34" charset="-120"/>
              </a:rPr>
              <a:t>A single 50% vCPU utilisation assumption is applied across all 1,811 runs, so every configuration is assessed on identical terms and emissions stay comparable throughout the corpus.</a:t>
            </a:r>
            <a:endParaRPr lang="en-US" sz="1030" dirty="0"/>
          </a:p>
        </p:txBody>
      </p:sp>
      <p:sp>
        <p:nvSpPr>
          <p:cNvPr id="23" name="Text 21"/>
          <p:cNvSpPr/>
          <p:nvPr/>
        </p:nvSpPr>
        <p:spPr>
          <a:xfrm>
            <a:off x="10984687" y="6382512"/>
            <a:ext cx="640080" cy="256032"/>
          </a:xfrm>
          <a:prstGeom prst="rect">
            <a:avLst/>
          </a:prstGeom>
          <a:noFill/>
          <a:ln/>
        </p:spPr>
        <p:txBody>
          <a:bodyPr wrap="square" lIns="0" tIns="0" rIns="0" bIns="0" rtlCol="0" anchor="ctr"/>
          <a:lstStyle/>
          <a:p>
            <a:pPr marL="0" indent="0" algn="r">
              <a:buNone/>
            </a:pPr>
            <a:r>
              <a:rPr lang="en-US" sz="1050" dirty="0">
                <a:solidFill>
                  <a:srgbClr val="96A29B"/>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0515600" cy="237744"/>
          </a:xfrm>
          <a:prstGeom prst="rect">
            <a:avLst/>
          </a:prstGeom>
          <a:noFill/>
          <a:ln/>
        </p:spPr>
        <p:txBody>
          <a:bodyPr wrap="square" lIns="0" tIns="0" rIns="0" bIns="0" rtlCol="0" anchor="ctr"/>
          <a:lstStyle/>
          <a:p>
            <a:pPr marL="0" indent="0">
              <a:buNone/>
            </a:pPr>
            <a:r>
              <a:rPr lang="en-US" sz="1150" b="1" kern="0" spc="160" dirty="0">
                <a:solidFill>
                  <a:srgbClr val="3E6B55"/>
                </a:solidFill>
                <a:latin typeface="Calibri" pitchFamily="34" charset="0"/>
                <a:ea typeface="Calibri" pitchFamily="34" charset="-122"/>
                <a:cs typeface="Calibri" pitchFamily="34" charset="-120"/>
              </a:rPr>
              <a:t>HOW I BUILT IT · 3 OF 4</a:t>
            </a:r>
            <a:endParaRPr lang="en-US" sz="1150" dirty="0"/>
          </a:p>
        </p:txBody>
      </p:sp>
      <p:sp>
        <p:nvSpPr>
          <p:cNvPr id="3" name="Text 1"/>
          <p:cNvSpPr/>
          <p:nvPr/>
        </p:nvSpPr>
        <p:spPr>
          <a:xfrm>
            <a:off x="566928" y="576072"/>
            <a:ext cx="11064240" cy="603504"/>
          </a:xfrm>
          <a:prstGeom prst="rect">
            <a:avLst/>
          </a:prstGeom>
          <a:noFill/>
          <a:ln/>
        </p:spPr>
        <p:txBody>
          <a:bodyPr wrap="square" lIns="0" tIns="0" rIns="0" bIns="0" rtlCol="0" anchor="ctr"/>
          <a:lstStyle/>
          <a:p>
            <a:pPr marL="0" indent="0">
              <a:buNone/>
            </a:pPr>
            <a:r>
              <a:rPr lang="en-US" sz="3100" b="1" dirty="0">
                <a:solidFill>
                  <a:srgbClr val="16261E"/>
                </a:solidFill>
                <a:latin typeface="Cambria" pitchFamily="34" charset="0"/>
                <a:ea typeface="Cambria" pitchFamily="34" charset="-122"/>
                <a:cs typeface="Cambria" pitchFamily="34" charset="-120"/>
              </a:rPr>
              <a:t>The ML pipeline — and the leakage the grouping prevents</a:t>
            </a:r>
            <a:endParaRPr lang="en-US" sz="3100" dirty="0"/>
          </a:p>
        </p:txBody>
      </p:sp>
      <p:sp>
        <p:nvSpPr>
          <p:cNvPr id="4" name="Shape 2"/>
          <p:cNvSpPr/>
          <p:nvPr/>
        </p:nvSpPr>
        <p:spPr>
          <a:xfrm>
            <a:off x="566928" y="1554480"/>
            <a:ext cx="384048" cy="384048"/>
          </a:xfrm>
          <a:prstGeom prst="ellipse">
            <a:avLst/>
          </a:prstGeom>
          <a:solidFill>
            <a:srgbClr val="3E6B55"/>
          </a:solidFill>
          <a:ln w="12700">
            <a:solidFill>
              <a:srgbClr val="3E6B55"/>
            </a:solidFill>
            <a:prstDash val="solid"/>
          </a:ln>
        </p:spPr>
        <p:txBody>
          <a:bodyPr/>
          <a:lstStyle/>
          <a:p>
            <a:endParaRPr lang="en-LK"/>
          </a:p>
        </p:txBody>
      </p:sp>
      <p:sp>
        <p:nvSpPr>
          <p:cNvPr id="5" name="Text 3"/>
          <p:cNvSpPr/>
          <p:nvPr/>
        </p:nvSpPr>
        <p:spPr>
          <a:xfrm>
            <a:off x="566928" y="15544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33856" y="1517904"/>
            <a:ext cx="6400800" cy="274320"/>
          </a:xfrm>
          <a:prstGeom prst="rect">
            <a:avLst/>
          </a:prstGeom>
          <a:noFill/>
          <a:ln/>
        </p:spPr>
        <p:txBody>
          <a:bodyPr wrap="square" lIns="0" tIns="0" rIns="0" bIns="0" rtlCol="0" anchor="ctr"/>
          <a:lstStyle/>
          <a:p>
            <a:pPr marL="0" indent="0">
              <a:buNone/>
            </a:pPr>
            <a:r>
              <a:rPr lang="en-US" sz="1350" b="1" dirty="0">
                <a:solidFill>
                  <a:srgbClr val="16261E"/>
                </a:solidFill>
                <a:latin typeface="Calibri" pitchFamily="34" charset="0"/>
                <a:ea typeface="Calibri" pitchFamily="34" charset="-122"/>
                <a:cs typeface="Calibri" pitchFamily="34" charset="-120"/>
              </a:rPr>
              <a:t>Features → targets</a:t>
            </a:r>
            <a:endParaRPr lang="en-US" sz="1350" dirty="0"/>
          </a:p>
        </p:txBody>
      </p:sp>
      <p:sp>
        <p:nvSpPr>
          <p:cNvPr id="7" name="Text 5"/>
          <p:cNvSpPr/>
          <p:nvPr/>
        </p:nvSpPr>
        <p:spPr>
          <a:xfrm>
            <a:off x="1133856" y="1792224"/>
            <a:ext cx="6400800" cy="777240"/>
          </a:xfrm>
          <a:prstGeom prst="rect">
            <a:avLst/>
          </a:prstGeom>
          <a:noFill/>
          <a:ln/>
        </p:spPr>
        <p:txBody>
          <a:bodyPr wrap="square" lIns="0" tIns="0" rIns="0" bIns="0" rtlCol="0" anchor="ctr"/>
          <a:lstStyle/>
          <a:p>
            <a:pPr marL="0" indent="0">
              <a:lnSpc>
                <a:spcPts val="1500"/>
              </a:lnSpc>
              <a:buNone/>
            </a:pPr>
            <a:r>
              <a:rPr lang="en-US" sz="1150" dirty="0">
                <a:solidFill>
                  <a:srgbClr val="5F6B64"/>
                </a:solidFill>
                <a:latin typeface="Calibri" pitchFamily="34" charset="0"/>
                <a:ea typeface="Calibri" pitchFamily="34" charset="-122"/>
                <a:cs typeface="Calibri" pitchFamily="34" charset="-120"/>
              </a:rPr>
              <a:t>Nine features (cloud, region, electricity zone, workload type, machine type, dataset size, nodes, carbon intensity, renewable %) predict two targets: runtime_minutes and cost_usd, via MultiOutputRegressor.</a:t>
            </a:r>
            <a:endParaRPr lang="en-US" sz="1150" dirty="0"/>
          </a:p>
        </p:txBody>
      </p:sp>
      <p:sp>
        <p:nvSpPr>
          <p:cNvPr id="8" name="Shape 6"/>
          <p:cNvSpPr/>
          <p:nvPr/>
        </p:nvSpPr>
        <p:spPr>
          <a:xfrm>
            <a:off x="566928" y="2688336"/>
            <a:ext cx="384048" cy="384048"/>
          </a:xfrm>
          <a:prstGeom prst="ellipse">
            <a:avLst/>
          </a:prstGeom>
          <a:solidFill>
            <a:srgbClr val="3E6B55"/>
          </a:solidFill>
          <a:ln w="12700">
            <a:solidFill>
              <a:srgbClr val="3E6B55"/>
            </a:solidFill>
            <a:prstDash val="solid"/>
          </a:ln>
        </p:spPr>
        <p:txBody>
          <a:bodyPr/>
          <a:lstStyle/>
          <a:p>
            <a:endParaRPr lang="en-LK"/>
          </a:p>
        </p:txBody>
      </p:sp>
      <p:sp>
        <p:nvSpPr>
          <p:cNvPr id="9" name="Text 7"/>
          <p:cNvSpPr/>
          <p:nvPr/>
        </p:nvSpPr>
        <p:spPr>
          <a:xfrm>
            <a:off x="566928" y="26883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33856" y="2651760"/>
            <a:ext cx="6400800" cy="274320"/>
          </a:xfrm>
          <a:prstGeom prst="rect">
            <a:avLst/>
          </a:prstGeom>
          <a:noFill/>
          <a:ln/>
        </p:spPr>
        <p:txBody>
          <a:bodyPr wrap="square" lIns="0" tIns="0" rIns="0" bIns="0" rtlCol="0" anchor="ctr"/>
          <a:lstStyle/>
          <a:p>
            <a:pPr marL="0" indent="0">
              <a:buNone/>
            </a:pPr>
            <a:r>
              <a:rPr lang="en-US" sz="1350" b="1" dirty="0">
                <a:solidFill>
                  <a:srgbClr val="16261E"/>
                </a:solidFill>
                <a:latin typeface="Calibri" pitchFamily="34" charset="0"/>
                <a:ea typeface="Calibri" pitchFamily="34" charset="-122"/>
                <a:cs typeface="Calibri" pitchFamily="34" charset="-120"/>
              </a:rPr>
              <a:t>One shared preprocessor</a:t>
            </a:r>
            <a:endParaRPr lang="en-US" sz="1350" dirty="0"/>
          </a:p>
        </p:txBody>
      </p:sp>
      <p:sp>
        <p:nvSpPr>
          <p:cNvPr id="11" name="Text 9"/>
          <p:cNvSpPr/>
          <p:nvPr/>
        </p:nvSpPr>
        <p:spPr>
          <a:xfrm>
            <a:off x="1133856" y="2926080"/>
            <a:ext cx="6400800" cy="777240"/>
          </a:xfrm>
          <a:prstGeom prst="rect">
            <a:avLst/>
          </a:prstGeom>
          <a:noFill/>
          <a:ln/>
        </p:spPr>
        <p:txBody>
          <a:bodyPr wrap="square" lIns="0" tIns="0" rIns="0" bIns="0" rtlCol="0" anchor="ctr"/>
          <a:lstStyle/>
          <a:p>
            <a:pPr marL="0" indent="0">
              <a:lnSpc>
                <a:spcPts val="1500"/>
              </a:lnSpc>
              <a:buNone/>
            </a:pPr>
            <a:r>
              <a:rPr lang="en-US" sz="1150" dirty="0">
                <a:solidFill>
                  <a:srgbClr val="5F6B64"/>
                </a:solidFill>
                <a:latin typeface="Calibri" pitchFamily="34" charset="0"/>
                <a:ea typeface="Calibri" pitchFamily="34" charset="-122"/>
                <a:cs typeface="Calibri" pitchFamily="34" charset="-120"/>
              </a:rPr>
              <a:t>OneHotEncoder on the five categoricals with handle_unknown='ignore'; StandardScaler on the numerics. All four models share one ColumnTransformer, so the comparison is genuinely like-for-like.</a:t>
            </a:r>
            <a:endParaRPr lang="en-US" sz="1150" dirty="0"/>
          </a:p>
        </p:txBody>
      </p:sp>
      <p:sp>
        <p:nvSpPr>
          <p:cNvPr id="12" name="Shape 10"/>
          <p:cNvSpPr/>
          <p:nvPr/>
        </p:nvSpPr>
        <p:spPr>
          <a:xfrm>
            <a:off x="566928" y="3822192"/>
            <a:ext cx="384048" cy="384048"/>
          </a:xfrm>
          <a:prstGeom prst="ellipse">
            <a:avLst/>
          </a:prstGeom>
          <a:solidFill>
            <a:srgbClr val="3E6B55"/>
          </a:solidFill>
          <a:ln w="12700">
            <a:solidFill>
              <a:srgbClr val="3E6B55"/>
            </a:solidFill>
            <a:prstDash val="solid"/>
          </a:ln>
        </p:spPr>
        <p:txBody>
          <a:bodyPr/>
          <a:lstStyle/>
          <a:p>
            <a:endParaRPr lang="en-LK"/>
          </a:p>
        </p:txBody>
      </p:sp>
      <p:sp>
        <p:nvSpPr>
          <p:cNvPr id="13" name="Text 11"/>
          <p:cNvSpPr/>
          <p:nvPr/>
        </p:nvSpPr>
        <p:spPr>
          <a:xfrm>
            <a:off x="566928" y="38221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33856" y="3785616"/>
            <a:ext cx="6400800" cy="274320"/>
          </a:xfrm>
          <a:prstGeom prst="rect">
            <a:avLst/>
          </a:prstGeom>
          <a:noFill/>
          <a:ln/>
        </p:spPr>
        <p:txBody>
          <a:bodyPr wrap="square" lIns="0" tIns="0" rIns="0" bIns="0" rtlCol="0" anchor="ctr"/>
          <a:lstStyle/>
          <a:p>
            <a:pPr marL="0" indent="0">
              <a:buNone/>
            </a:pPr>
            <a:r>
              <a:rPr lang="en-US" sz="1350" b="1" dirty="0">
                <a:solidFill>
                  <a:srgbClr val="16261E"/>
                </a:solidFill>
                <a:latin typeface="Calibri" pitchFamily="34" charset="0"/>
                <a:ea typeface="Calibri" pitchFamily="34" charset="-122"/>
                <a:cs typeface="Calibri" pitchFamily="34" charset="-120"/>
              </a:rPr>
              <a:t>Grouped splitting</a:t>
            </a:r>
            <a:endParaRPr lang="en-US" sz="1350" dirty="0"/>
          </a:p>
        </p:txBody>
      </p:sp>
      <p:sp>
        <p:nvSpPr>
          <p:cNvPr id="15" name="Text 13"/>
          <p:cNvSpPr/>
          <p:nvPr/>
        </p:nvSpPr>
        <p:spPr>
          <a:xfrm>
            <a:off x="1133856" y="4059936"/>
            <a:ext cx="6400800" cy="777240"/>
          </a:xfrm>
          <a:prstGeom prst="rect">
            <a:avLst/>
          </a:prstGeom>
          <a:noFill/>
          <a:ln/>
        </p:spPr>
        <p:txBody>
          <a:bodyPr wrap="square" lIns="0" tIns="0" rIns="0" bIns="0" rtlCol="0" anchor="ctr"/>
          <a:lstStyle/>
          <a:p>
            <a:pPr marL="0" indent="0">
              <a:lnSpc>
                <a:spcPts val="1500"/>
              </a:lnSpc>
              <a:buNone/>
            </a:pPr>
            <a:r>
              <a:rPr lang="en-US" sz="1150" dirty="0">
                <a:solidFill>
                  <a:srgbClr val="5F6B64"/>
                </a:solidFill>
                <a:latin typeface="Calibri" pitchFamily="34" charset="0"/>
                <a:ea typeface="Calibri" pitchFamily="34" charset="-122"/>
                <a:cs typeface="Calibri" pitchFamily="34" charset="-120"/>
              </a:rPr>
              <a:t>GROUP = (cloud, region, dataset_size_mb, workload_type, machine_type, nodes). GroupShuffleSplit for the holdout and GroupKFold for CV keep every run of a configuration on one side of the boundary.</a:t>
            </a:r>
            <a:endParaRPr lang="en-US" sz="1150" dirty="0"/>
          </a:p>
        </p:txBody>
      </p:sp>
      <p:sp>
        <p:nvSpPr>
          <p:cNvPr id="16" name="Shape 14"/>
          <p:cNvSpPr/>
          <p:nvPr/>
        </p:nvSpPr>
        <p:spPr>
          <a:xfrm>
            <a:off x="566928" y="4956048"/>
            <a:ext cx="384048" cy="384048"/>
          </a:xfrm>
          <a:prstGeom prst="ellipse">
            <a:avLst/>
          </a:prstGeom>
          <a:solidFill>
            <a:srgbClr val="3E6B55"/>
          </a:solidFill>
          <a:ln w="12700">
            <a:solidFill>
              <a:srgbClr val="3E6B55"/>
            </a:solidFill>
            <a:prstDash val="solid"/>
          </a:ln>
        </p:spPr>
        <p:txBody>
          <a:bodyPr/>
          <a:lstStyle/>
          <a:p>
            <a:endParaRPr lang="en-LK"/>
          </a:p>
        </p:txBody>
      </p:sp>
      <p:sp>
        <p:nvSpPr>
          <p:cNvPr id="17" name="Text 15"/>
          <p:cNvSpPr/>
          <p:nvPr/>
        </p:nvSpPr>
        <p:spPr>
          <a:xfrm>
            <a:off x="566928" y="49560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133856" y="4919472"/>
            <a:ext cx="6400800" cy="274320"/>
          </a:xfrm>
          <a:prstGeom prst="rect">
            <a:avLst/>
          </a:prstGeom>
          <a:noFill/>
          <a:ln/>
        </p:spPr>
        <p:txBody>
          <a:bodyPr wrap="square" lIns="0" tIns="0" rIns="0" bIns="0" rtlCol="0" anchor="ctr"/>
          <a:lstStyle/>
          <a:p>
            <a:pPr marL="0" indent="0">
              <a:buNone/>
            </a:pPr>
            <a:r>
              <a:rPr lang="en-US" sz="1350" b="1" dirty="0">
                <a:solidFill>
                  <a:srgbClr val="16261E"/>
                </a:solidFill>
                <a:latin typeface="Calibri" pitchFamily="34" charset="0"/>
                <a:ea typeface="Calibri" pitchFamily="34" charset="-122"/>
                <a:cs typeface="Calibri" pitchFamily="34" charset="-120"/>
              </a:rPr>
              <a:t>Selection on CV, not on one split</a:t>
            </a:r>
            <a:endParaRPr lang="en-US" sz="1350" dirty="0"/>
          </a:p>
        </p:txBody>
      </p:sp>
      <p:sp>
        <p:nvSpPr>
          <p:cNvPr id="19" name="Text 17"/>
          <p:cNvSpPr/>
          <p:nvPr/>
        </p:nvSpPr>
        <p:spPr>
          <a:xfrm>
            <a:off x="1133856" y="5193792"/>
            <a:ext cx="6400800" cy="777240"/>
          </a:xfrm>
          <a:prstGeom prst="rect">
            <a:avLst/>
          </a:prstGeom>
          <a:noFill/>
          <a:ln/>
        </p:spPr>
        <p:txBody>
          <a:bodyPr wrap="square" lIns="0" tIns="0" rIns="0" bIns="0" rtlCol="0" anchor="ctr"/>
          <a:lstStyle/>
          <a:p>
            <a:pPr marL="0" indent="0">
              <a:lnSpc>
                <a:spcPts val="1500"/>
              </a:lnSpc>
              <a:buNone/>
            </a:pPr>
            <a:r>
              <a:rPr lang="en-US" sz="1150" dirty="0">
                <a:solidFill>
                  <a:srgbClr val="5F6B64"/>
                </a:solidFill>
                <a:latin typeface="Calibri" pitchFamily="34" charset="0"/>
                <a:ea typeface="Calibri" pitchFamily="34" charset="-122"/>
                <a:cs typeface="Calibri" pitchFamily="34" charset="-120"/>
              </a:rPr>
              <a:t>select_best_model() returns the argmax of cross-validated average R², with cross-validated RMSE as tie-break. The holdout ranking is only a fallback.</a:t>
            </a:r>
            <a:endParaRPr lang="en-US" sz="1150" dirty="0"/>
          </a:p>
        </p:txBody>
      </p:sp>
      <p:sp>
        <p:nvSpPr>
          <p:cNvPr id="20" name="Shape 18"/>
          <p:cNvSpPr/>
          <p:nvPr/>
        </p:nvSpPr>
        <p:spPr>
          <a:xfrm>
            <a:off x="7680960" y="1481328"/>
            <a:ext cx="3941064" cy="4480560"/>
          </a:xfrm>
          <a:prstGeom prst="roundRect">
            <a:avLst>
              <a:gd name="adj" fmla="val 2088"/>
            </a:avLst>
          </a:prstGeom>
          <a:solidFill>
            <a:srgbClr val="16261E"/>
          </a:solidFill>
          <a:ln w="12700">
            <a:solidFill>
              <a:srgbClr val="16261E"/>
            </a:solidFill>
            <a:prstDash val="solid"/>
          </a:ln>
          <a:effectLst>
            <a:outerShdw blurRad="127000" dist="25400" dir="5400000" algn="bl" rotWithShape="0">
              <a:srgbClr val="12201A">
                <a:alpha val="13000"/>
              </a:srgbClr>
            </a:outerShdw>
          </a:effectLst>
        </p:spPr>
        <p:txBody>
          <a:bodyPr/>
          <a:lstStyle/>
          <a:p>
            <a:endParaRPr lang="en-LK"/>
          </a:p>
        </p:txBody>
      </p:sp>
      <p:sp>
        <p:nvSpPr>
          <p:cNvPr id="21" name="Text 19"/>
          <p:cNvSpPr/>
          <p:nvPr/>
        </p:nvSpPr>
        <p:spPr>
          <a:xfrm>
            <a:off x="7973568" y="1682496"/>
            <a:ext cx="3383280" cy="512064"/>
          </a:xfrm>
          <a:prstGeom prst="rect">
            <a:avLst/>
          </a:prstGeom>
          <a:noFill/>
          <a:ln/>
        </p:spPr>
        <p:txBody>
          <a:bodyPr wrap="square" lIns="0" tIns="0" rIns="0" bIns="0" rtlCol="0" anchor="ctr"/>
          <a:lstStyle/>
          <a:p>
            <a:pPr marL="0" indent="0">
              <a:lnSpc>
                <a:spcPts val="1400"/>
              </a:lnSpc>
              <a:buNone/>
            </a:pPr>
            <a:r>
              <a:rPr lang="en-US" sz="1050" b="1" kern="0" spc="110" dirty="0">
                <a:solidFill>
                  <a:srgbClr val="9DC48A"/>
                </a:solidFill>
                <a:latin typeface="Calibri" pitchFamily="34" charset="0"/>
                <a:ea typeface="Calibri" pitchFamily="34" charset="-122"/>
                <a:cs typeface="Calibri" pitchFamily="34" charset="-120"/>
              </a:rPr>
              <a:t>WHY GROUPING IS THE</a:t>
            </a:r>
            <a:endParaRPr lang="en-US" sz="1050" dirty="0"/>
          </a:p>
          <a:p>
            <a:pPr marL="0" indent="0">
              <a:lnSpc>
                <a:spcPts val="1400"/>
              </a:lnSpc>
              <a:buNone/>
            </a:pPr>
            <a:r>
              <a:rPr lang="en-US" sz="1050" b="1" kern="0" spc="110" dirty="0">
                <a:solidFill>
                  <a:srgbClr val="9DC48A"/>
                </a:solidFill>
                <a:latin typeface="Calibri" pitchFamily="34" charset="0"/>
                <a:ea typeface="Calibri" pitchFamily="34" charset="-122"/>
                <a:cs typeface="Calibri" pitchFamily="34" charset="-120"/>
              </a:rPr>
              <a:t>MOST IMPORTANT LINE OF CODE</a:t>
            </a:r>
            <a:endParaRPr lang="en-US" sz="1050" dirty="0"/>
          </a:p>
        </p:txBody>
      </p:sp>
      <p:sp>
        <p:nvSpPr>
          <p:cNvPr id="22" name="Text 20"/>
          <p:cNvSpPr/>
          <p:nvPr/>
        </p:nvSpPr>
        <p:spPr>
          <a:xfrm>
            <a:off x="7973568" y="2286000"/>
            <a:ext cx="3383280" cy="566928"/>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439</a:t>
            </a:r>
            <a:endParaRPr lang="en-US" sz="4000" dirty="0"/>
          </a:p>
        </p:txBody>
      </p:sp>
      <p:sp>
        <p:nvSpPr>
          <p:cNvPr id="23" name="Text 21"/>
          <p:cNvSpPr/>
          <p:nvPr/>
        </p:nvSpPr>
        <p:spPr>
          <a:xfrm>
            <a:off x="7973568" y="2871216"/>
            <a:ext cx="3383280" cy="566928"/>
          </a:xfrm>
          <a:prstGeom prst="rect">
            <a:avLst/>
          </a:prstGeom>
          <a:noFill/>
          <a:ln/>
        </p:spPr>
        <p:txBody>
          <a:bodyPr wrap="square" lIns="0" tIns="0" rIns="0" bIns="0" rtlCol="0" anchor="ctr"/>
          <a:lstStyle/>
          <a:p>
            <a:pPr marL="0" indent="0">
              <a:lnSpc>
                <a:spcPts val="1500"/>
              </a:lnSpc>
              <a:buNone/>
            </a:pPr>
            <a:r>
              <a:rPr lang="en-US" sz="1150" dirty="0">
                <a:solidFill>
                  <a:srgbClr val="AEBFB4"/>
                </a:solidFill>
                <a:latin typeface="Calibri" pitchFamily="34" charset="0"/>
                <a:ea typeface="Calibri" pitchFamily="34" charset="-122"/>
                <a:cs typeface="Calibri" pitchFamily="34" charset="-120"/>
              </a:rPr>
              <a:t>configurations in the corpus were deliberately run more than once, to capture runtime variance.</a:t>
            </a:r>
            <a:endParaRPr lang="en-US" sz="1150" dirty="0"/>
          </a:p>
        </p:txBody>
      </p:sp>
      <p:sp>
        <p:nvSpPr>
          <p:cNvPr id="24" name="Text 22"/>
          <p:cNvSpPr/>
          <p:nvPr/>
        </p:nvSpPr>
        <p:spPr>
          <a:xfrm>
            <a:off x="7973568" y="3529584"/>
            <a:ext cx="3383280" cy="1225296"/>
          </a:xfrm>
          <a:prstGeom prst="rect">
            <a:avLst/>
          </a:prstGeom>
          <a:noFill/>
          <a:ln/>
        </p:spPr>
        <p:txBody>
          <a:bodyPr wrap="square" lIns="0" tIns="0" rIns="0" bIns="0" rtlCol="0" anchor="ctr"/>
          <a:lstStyle/>
          <a:p>
            <a:pPr marL="0" indent="0">
              <a:lnSpc>
                <a:spcPts val="1600"/>
              </a:lnSpc>
              <a:buNone/>
            </a:pPr>
            <a:r>
              <a:rPr lang="en-US" sz="1150" dirty="0">
                <a:solidFill>
                  <a:srgbClr val="AEBFB4"/>
                </a:solidFill>
                <a:latin typeface="Calibri" pitchFamily="34" charset="0"/>
                <a:ea typeface="Calibri" pitchFamily="34" charset="-122"/>
                <a:cs typeface="Calibri" pitchFamily="34" charset="-120"/>
              </a:rPr>
              <a:t>Without grouping, a configuration run three times could put two runs in training and one in test. The model would then be scored on a value it has effectively memorised — interpolation over repeats, dressed up as generalisation.</a:t>
            </a:r>
            <a:endParaRPr lang="en-US" sz="1150" dirty="0"/>
          </a:p>
        </p:txBody>
      </p:sp>
      <p:sp>
        <p:nvSpPr>
          <p:cNvPr id="25" name="Shape 23"/>
          <p:cNvSpPr/>
          <p:nvPr/>
        </p:nvSpPr>
        <p:spPr>
          <a:xfrm>
            <a:off x="7973568" y="4846320"/>
            <a:ext cx="1371600" cy="0"/>
          </a:xfrm>
          <a:prstGeom prst="line">
            <a:avLst/>
          </a:prstGeom>
          <a:noFill/>
          <a:ln w="25400">
            <a:solidFill>
              <a:srgbClr val="9DC48A"/>
            </a:solidFill>
            <a:prstDash val="solid"/>
          </a:ln>
        </p:spPr>
        <p:txBody>
          <a:bodyPr/>
          <a:lstStyle/>
          <a:p>
            <a:endParaRPr lang="en-LK"/>
          </a:p>
        </p:txBody>
      </p:sp>
      <p:sp>
        <p:nvSpPr>
          <p:cNvPr id="26" name="Text 24"/>
          <p:cNvSpPr/>
          <p:nvPr/>
        </p:nvSpPr>
        <p:spPr>
          <a:xfrm>
            <a:off x="7973568" y="4974336"/>
            <a:ext cx="3383280" cy="777240"/>
          </a:xfrm>
          <a:prstGeom prst="rect">
            <a:avLst/>
          </a:prstGeom>
          <a:noFill/>
          <a:ln/>
        </p:spPr>
        <p:txBody>
          <a:bodyPr wrap="square" lIns="0" tIns="0" rIns="0" bIns="0" rtlCol="0" anchor="ctr"/>
          <a:lstStyle/>
          <a:p>
            <a:pPr marL="0" indent="0">
              <a:lnSpc>
                <a:spcPts val="1600"/>
              </a:lnSpc>
              <a:buNone/>
            </a:pPr>
            <a:r>
              <a:rPr lang="en-US" sz="1150" b="1" dirty="0">
                <a:solidFill>
                  <a:srgbClr val="FFFFFF"/>
                </a:solidFill>
                <a:latin typeface="Calibri" pitchFamily="34" charset="0"/>
                <a:ea typeface="Calibri" pitchFamily="34" charset="-122"/>
                <a:cs typeface="Calibri" pitchFamily="34" charset="-120"/>
              </a:rPr>
              <a:t>So the reported R² ≈ 0.89 is generalisation to configurations never seen in any form.</a:t>
            </a:r>
            <a:endParaRPr lang="en-US" sz="1150" dirty="0"/>
          </a:p>
        </p:txBody>
      </p:sp>
      <p:sp>
        <p:nvSpPr>
          <p:cNvPr id="28" name="Text 26"/>
          <p:cNvSpPr/>
          <p:nvPr/>
        </p:nvSpPr>
        <p:spPr>
          <a:xfrm>
            <a:off x="10984687" y="6382512"/>
            <a:ext cx="640080" cy="256032"/>
          </a:xfrm>
          <a:prstGeom prst="rect">
            <a:avLst/>
          </a:prstGeom>
          <a:noFill/>
          <a:ln/>
        </p:spPr>
        <p:txBody>
          <a:bodyPr wrap="square" lIns="0" tIns="0" rIns="0" bIns="0" rtlCol="0" anchor="ctr"/>
          <a:lstStyle/>
          <a:p>
            <a:pPr marL="0" indent="0" algn="r">
              <a:buNone/>
            </a:pPr>
            <a:r>
              <a:rPr lang="en-US" sz="1050" dirty="0">
                <a:solidFill>
                  <a:srgbClr val="96A29B"/>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0515600" cy="237744"/>
          </a:xfrm>
          <a:prstGeom prst="rect">
            <a:avLst/>
          </a:prstGeom>
          <a:noFill/>
          <a:ln/>
        </p:spPr>
        <p:txBody>
          <a:bodyPr wrap="square" lIns="0" tIns="0" rIns="0" bIns="0" rtlCol="0" anchor="ctr"/>
          <a:lstStyle/>
          <a:p>
            <a:pPr marL="0" indent="0">
              <a:buNone/>
            </a:pPr>
            <a:r>
              <a:rPr lang="en-US" sz="1150" b="1" kern="0" spc="160" dirty="0">
                <a:solidFill>
                  <a:srgbClr val="3E6B55"/>
                </a:solidFill>
                <a:latin typeface="Calibri" pitchFamily="34" charset="0"/>
                <a:ea typeface="Calibri" pitchFamily="34" charset="-122"/>
                <a:cs typeface="Calibri" pitchFamily="34" charset="-120"/>
              </a:rPr>
              <a:t>HOW I BUILT IT · 4 OF 4</a:t>
            </a:r>
            <a:endParaRPr lang="en-US" sz="1150" dirty="0"/>
          </a:p>
        </p:txBody>
      </p:sp>
      <p:sp>
        <p:nvSpPr>
          <p:cNvPr id="3" name="Text 1"/>
          <p:cNvSpPr/>
          <p:nvPr/>
        </p:nvSpPr>
        <p:spPr>
          <a:xfrm>
            <a:off x="566928" y="576072"/>
            <a:ext cx="11064240" cy="603504"/>
          </a:xfrm>
          <a:prstGeom prst="rect">
            <a:avLst/>
          </a:prstGeom>
          <a:noFill/>
          <a:ln/>
        </p:spPr>
        <p:txBody>
          <a:bodyPr wrap="square" lIns="0" tIns="0" rIns="0" bIns="0" rtlCol="0" anchor="ctr"/>
          <a:lstStyle/>
          <a:p>
            <a:pPr marL="0" indent="0">
              <a:buNone/>
            </a:pPr>
            <a:r>
              <a:rPr lang="en-US" sz="3100" b="1" dirty="0">
                <a:solidFill>
                  <a:srgbClr val="16261E"/>
                </a:solidFill>
                <a:latin typeface="Cambria" pitchFamily="34" charset="0"/>
                <a:ea typeface="Cambria" pitchFamily="34" charset="-122"/>
                <a:cs typeface="Cambria" pitchFamily="34" charset="-120"/>
              </a:rPr>
              <a:t>The recommendation engine — candidates in, Top-N out</a:t>
            </a:r>
            <a:endParaRPr lang="en-US" sz="3100" dirty="0"/>
          </a:p>
        </p:txBody>
      </p:sp>
      <p:sp>
        <p:nvSpPr>
          <p:cNvPr id="4" name="Shape 2"/>
          <p:cNvSpPr/>
          <p:nvPr/>
        </p:nvSpPr>
        <p:spPr>
          <a:xfrm>
            <a:off x="566928" y="1536192"/>
            <a:ext cx="384048" cy="384048"/>
          </a:xfrm>
          <a:prstGeom prst="ellipse">
            <a:avLst/>
          </a:prstGeom>
          <a:solidFill>
            <a:srgbClr val="3E6B55"/>
          </a:solidFill>
          <a:ln w="12700">
            <a:solidFill>
              <a:srgbClr val="3E6B55"/>
            </a:solidFill>
            <a:prstDash val="solid"/>
          </a:ln>
        </p:spPr>
        <p:txBody>
          <a:bodyPr/>
          <a:lstStyle/>
          <a:p>
            <a:endParaRPr lang="en-LK"/>
          </a:p>
        </p:txBody>
      </p:sp>
      <p:sp>
        <p:nvSpPr>
          <p:cNvPr id="5" name="Text 3"/>
          <p:cNvSpPr/>
          <p:nvPr/>
        </p:nvSpPr>
        <p:spPr>
          <a:xfrm>
            <a:off x="566928" y="15361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33856" y="1517904"/>
            <a:ext cx="6035040" cy="256032"/>
          </a:xfrm>
          <a:prstGeom prst="rect">
            <a:avLst/>
          </a:prstGeom>
          <a:noFill/>
          <a:ln/>
        </p:spPr>
        <p:txBody>
          <a:bodyPr wrap="square" lIns="0" tIns="0" rIns="0" bIns="0" rtlCol="0" anchor="ctr"/>
          <a:lstStyle/>
          <a:p>
            <a:pPr marL="0" indent="0">
              <a:buNone/>
            </a:pPr>
            <a:r>
              <a:rPr lang="en-US" sz="1350" b="1" dirty="0">
                <a:solidFill>
                  <a:srgbClr val="16261E"/>
                </a:solidFill>
                <a:latin typeface="Calibri" pitchFamily="34" charset="0"/>
                <a:ea typeface="Calibri" pitchFamily="34" charset="-122"/>
                <a:cs typeface="Calibri" pitchFamily="34" charset="-120"/>
              </a:rPr>
              <a:t>Build candidates</a:t>
            </a:r>
            <a:endParaRPr lang="en-US" sz="1350" dirty="0"/>
          </a:p>
        </p:txBody>
      </p:sp>
      <p:sp>
        <p:nvSpPr>
          <p:cNvPr id="7" name="Text 5"/>
          <p:cNvSpPr/>
          <p:nvPr/>
        </p:nvSpPr>
        <p:spPr>
          <a:xfrm>
            <a:off x="1133856" y="1773936"/>
            <a:ext cx="6035040" cy="566928"/>
          </a:xfrm>
          <a:prstGeom prst="rect">
            <a:avLst/>
          </a:prstGeom>
          <a:noFill/>
          <a:ln/>
        </p:spPr>
        <p:txBody>
          <a:bodyPr wrap="square" lIns="0" tIns="0" rIns="0" bIns="0" rtlCol="0" anchor="ctr"/>
          <a:lstStyle/>
          <a:p>
            <a:pPr marL="0" indent="0">
              <a:lnSpc>
                <a:spcPts val="1500"/>
              </a:lnSpc>
              <a:buNone/>
            </a:pPr>
            <a:r>
              <a:rPr lang="en-US" sz="1150" dirty="0">
                <a:solidFill>
                  <a:srgbClr val="5F6B64"/>
                </a:solidFill>
                <a:latin typeface="Calibri" pitchFamily="34" charset="0"/>
                <a:ea typeface="Calibri" pitchFamily="34" charset="-122"/>
                <a:cs typeface="Calibri" pitchFamily="34" charset="-120"/>
              </a:rPr>
              <a:t>Distinct (cloud, region, machine type, nodes) tuples observed for that workload — a mean of 32.8, maximum 36, per scenario.</a:t>
            </a:r>
            <a:endParaRPr lang="en-US" sz="1150" dirty="0"/>
          </a:p>
        </p:txBody>
      </p:sp>
      <p:sp>
        <p:nvSpPr>
          <p:cNvPr id="8" name="Shape 6"/>
          <p:cNvSpPr/>
          <p:nvPr/>
        </p:nvSpPr>
        <p:spPr>
          <a:xfrm>
            <a:off x="566928" y="2432304"/>
            <a:ext cx="384048" cy="384048"/>
          </a:xfrm>
          <a:prstGeom prst="ellipse">
            <a:avLst/>
          </a:prstGeom>
          <a:solidFill>
            <a:srgbClr val="3E6B55"/>
          </a:solidFill>
          <a:ln w="12700">
            <a:solidFill>
              <a:srgbClr val="3E6B55"/>
            </a:solidFill>
            <a:prstDash val="solid"/>
          </a:ln>
        </p:spPr>
        <p:txBody>
          <a:bodyPr/>
          <a:lstStyle/>
          <a:p>
            <a:endParaRPr lang="en-LK"/>
          </a:p>
        </p:txBody>
      </p:sp>
      <p:sp>
        <p:nvSpPr>
          <p:cNvPr id="9" name="Text 7"/>
          <p:cNvSpPr/>
          <p:nvPr/>
        </p:nvSpPr>
        <p:spPr>
          <a:xfrm>
            <a:off x="566928" y="24323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33856" y="2414016"/>
            <a:ext cx="6035040" cy="256032"/>
          </a:xfrm>
          <a:prstGeom prst="rect">
            <a:avLst/>
          </a:prstGeom>
          <a:noFill/>
          <a:ln/>
        </p:spPr>
        <p:txBody>
          <a:bodyPr wrap="square" lIns="0" tIns="0" rIns="0" bIns="0" rtlCol="0" anchor="ctr"/>
          <a:lstStyle/>
          <a:p>
            <a:pPr marL="0" indent="0">
              <a:buNone/>
            </a:pPr>
            <a:r>
              <a:rPr lang="en-US" sz="1350" b="1" dirty="0">
                <a:solidFill>
                  <a:srgbClr val="16261E"/>
                </a:solidFill>
                <a:latin typeface="Calibri" pitchFamily="34" charset="0"/>
                <a:ea typeface="Calibri" pitchFamily="34" charset="-122"/>
                <a:cs typeface="Calibri" pitchFamily="34" charset="-120"/>
              </a:rPr>
              <a:t>Predict</a:t>
            </a:r>
            <a:endParaRPr lang="en-US" sz="1350" dirty="0"/>
          </a:p>
        </p:txBody>
      </p:sp>
      <p:sp>
        <p:nvSpPr>
          <p:cNvPr id="11" name="Text 9"/>
          <p:cNvSpPr/>
          <p:nvPr/>
        </p:nvSpPr>
        <p:spPr>
          <a:xfrm>
            <a:off x="1133856" y="2670048"/>
            <a:ext cx="6035040" cy="566928"/>
          </a:xfrm>
          <a:prstGeom prst="rect">
            <a:avLst/>
          </a:prstGeom>
          <a:noFill/>
          <a:ln/>
        </p:spPr>
        <p:txBody>
          <a:bodyPr wrap="square" lIns="0" tIns="0" rIns="0" bIns="0" rtlCol="0" anchor="ctr"/>
          <a:lstStyle/>
          <a:p>
            <a:pPr marL="0" indent="0">
              <a:lnSpc>
                <a:spcPts val="1500"/>
              </a:lnSpc>
              <a:buNone/>
            </a:pPr>
            <a:r>
              <a:rPr lang="en-US" sz="1150" dirty="0">
                <a:solidFill>
                  <a:srgbClr val="5F6B64"/>
                </a:solidFill>
                <a:latin typeface="Calibri" pitchFamily="34" charset="0"/>
                <a:ea typeface="Calibri" pitchFamily="34" charset="-122"/>
                <a:cs typeface="Calibri" pitchFamily="34" charset="-120"/>
              </a:rPr>
              <a:t>Runtime and cost for every candidate, with a physical-plausibility floor applied before anything reaches the SLA filter.</a:t>
            </a:r>
            <a:endParaRPr lang="en-US" sz="1150" dirty="0"/>
          </a:p>
        </p:txBody>
      </p:sp>
      <p:sp>
        <p:nvSpPr>
          <p:cNvPr id="12" name="Shape 10"/>
          <p:cNvSpPr/>
          <p:nvPr/>
        </p:nvSpPr>
        <p:spPr>
          <a:xfrm>
            <a:off x="566928" y="3328416"/>
            <a:ext cx="384048" cy="384048"/>
          </a:xfrm>
          <a:prstGeom prst="ellipse">
            <a:avLst/>
          </a:prstGeom>
          <a:solidFill>
            <a:srgbClr val="3E6B55"/>
          </a:solidFill>
          <a:ln w="12700">
            <a:solidFill>
              <a:srgbClr val="3E6B55"/>
            </a:solidFill>
            <a:prstDash val="solid"/>
          </a:ln>
        </p:spPr>
        <p:txBody>
          <a:bodyPr/>
          <a:lstStyle/>
          <a:p>
            <a:endParaRPr lang="en-LK"/>
          </a:p>
        </p:txBody>
      </p:sp>
      <p:sp>
        <p:nvSpPr>
          <p:cNvPr id="13" name="Text 11"/>
          <p:cNvSpPr/>
          <p:nvPr/>
        </p:nvSpPr>
        <p:spPr>
          <a:xfrm>
            <a:off x="566928" y="332841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33856" y="3310128"/>
            <a:ext cx="6035040" cy="256032"/>
          </a:xfrm>
          <a:prstGeom prst="rect">
            <a:avLst/>
          </a:prstGeom>
          <a:noFill/>
          <a:ln/>
        </p:spPr>
        <p:txBody>
          <a:bodyPr wrap="square" lIns="0" tIns="0" rIns="0" bIns="0" rtlCol="0" anchor="ctr"/>
          <a:lstStyle/>
          <a:p>
            <a:pPr marL="0" indent="0">
              <a:buNone/>
            </a:pPr>
            <a:r>
              <a:rPr lang="en-US" sz="1350" b="1" dirty="0">
                <a:solidFill>
                  <a:srgbClr val="16261E"/>
                </a:solidFill>
                <a:latin typeface="Calibri" pitchFamily="34" charset="0"/>
                <a:ea typeface="Calibri" pitchFamily="34" charset="-122"/>
                <a:cs typeface="Calibri" pitchFamily="34" charset="-120"/>
              </a:rPr>
              <a:t>Compute emissions</a:t>
            </a:r>
            <a:endParaRPr lang="en-US" sz="1350" dirty="0"/>
          </a:p>
        </p:txBody>
      </p:sp>
      <p:sp>
        <p:nvSpPr>
          <p:cNvPr id="15" name="Text 13"/>
          <p:cNvSpPr/>
          <p:nvPr/>
        </p:nvSpPr>
        <p:spPr>
          <a:xfrm>
            <a:off x="1133856" y="3566160"/>
            <a:ext cx="6035040" cy="566928"/>
          </a:xfrm>
          <a:prstGeom prst="rect">
            <a:avLst/>
          </a:prstGeom>
          <a:noFill/>
          <a:ln/>
        </p:spPr>
        <p:txBody>
          <a:bodyPr wrap="square" lIns="0" tIns="0" rIns="0" bIns="0" rtlCol="0" anchor="ctr"/>
          <a:lstStyle/>
          <a:p>
            <a:pPr marL="0" indent="0">
              <a:lnSpc>
                <a:spcPts val="1500"/>
              </a:lnSpc>
              <a:buNone/>
            </a:pPr>
            <a:r>
              <a:rPr lang="en-US" sz="1150" dirty="0">
                <a:solidFill>
                  <a:srgbClr val="5F6B64"/>
                </a:solidFill>
                <a:latin typeface="Calibri" pitchFamily="34" charset="0"/>
                <a:ea typeface="Calibri" pitchFamily="34" charset="-122"/>
                <a:cs typeface="Calibri" pitchFamily="34" charset="-120"/>
              </a:rPr>
              <a:t>Per candidate, from the predicted runtime — carbon enters the decision, not the prediction.</a:t>
            </a:r>
            <a:endParaRPr lang="en-US" sz="1150" dirty="0"/>
          </a:p>
        </p:txBody>
      </p:sp>
      <p:sp>
        <p:nvSpPr>
          <p:cNvPr id="16" name="Shape 14"/>
          <p:cNvSpPr/>
          <p:nvPr/>
        </p:nvSpPr>
        <p:spPr>
          <a:xfrm>
            <a:off x="566928" y="4224528"/>
            <a:ext cx="384048" cy="384048"/>
          </a:xfrm>
          <a:prstGeom prst="ellipse">
            <a:avLst/>
          </a:prstGeom>
          <a:solidFill>
            <a:srgbClr val="3E6B55"/>
          </a:solidFill>
          <a:ln w="12700">
            <a:solidFill>
              <a:srgbClr val="3E6B55"/>
            </a:solidFill>
            <a:prstDash val="solid"/>
          </a:ln>
        </p:spPr>
        <p:txBody>
          <a:bodyPr/>
          <a:lstStyle/>
          <a:p>
            <a:endParaRPr lang="en-LK"/>
          </a:p>
        </p:txBody>
      </p:sp>
      <p:sp>
        <p:nvSpPr>
          <p:cNvPr id="17" name="Text 15"/>
          <p:cNvSpPr/>
          <p:nvPr/>
        </p:nvSpPr>
        <p:spPr>
          <a:xfrm>
            <a:off x="566928" y="42245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133856" y="4206240"/>
            <a:ext cx="6035040" cy="256032"/>
          </a:xfrm>
          <a:prstGeom prst="rect">
            <a:avLst/>
          </a:prstGeom>
          <a:noFill/>
          <a:ln/>
        </p:spPr>
        <p:txBody>
          <a:bodyPr wrap="square" lIns="0" tIns="0" rIns="0" bIns="0" rtlCol="0" anchor="ctr"/>
          <a:lstStyle/>
          <a:p>
            <a:pPr marL="0" indent="0">
              <a:buNone/>
            </a:pPr>
            <a:r>
              <a:rPr lang="en-US" sz="1350" b="1" dirty="0">
                <a:solidFill>
                  <a:srgbClr val="16261E"/>
                </a:solidFill>
                <a:latin typeface="Calibri" pitchFamily="34" charset="0"/>
                <a:ea typeface="Calibri" pitchFamily="34" charset="-122"/>
                <a:cs typeface="Calibri" pitchFamily="34" charset="-120"/>
              </a:rPr>
              <a:t>Filter on SLA</a:t>
            </a:r>
            <a:endParaRPr lang="en-US" sz="1350" dirty="0"/>
          </a:p>
        </p:txBody>
      </p:sp>
      <p:sp>
        <p:nvSpPr>
          <p:cNvPr id="19" name="Text 17"/>
          <p:cNvSpPr/>
          <p:nvPr/>
        </p:nvSpPr>
        <p:spPr>
          <a:xfrm>
            <a:off x="1133856" y="4462272"/>
            <a:ext cx="6035040" cy="566928"/>
          </a:xfrm>
          <a:prstGeom prst="rect">
            <a:avLst/>
          </a:prstGeom>
          <a:noFill/>
          <a:ln/>
        </p:spPr>
        <p:txBody>
          <a:bodyPr wrap="square" lIns="0" tIns="0" rIns="0" bIns="0" rtlCol="0" anchor="ctr"/>
          <a:lstStyle/>
          <a:p>
            <a:pPr marL="0" indent="0">
              <a:lnSpc>
                <a:spcPts val="1500"/>
              </a:lnSpc>
              <a:buNone/>
            </a:pPr>
            <a:r>
              <a:rPr lang="en-US" sz="1150" dirty="0">
                <a:solidFill>
                  <a:srgbClr val="5F6B64"/>
                </a:solidFill>
                <a:latin typeface="Calibri" pitchFamily="34" charset="0"/>
                <a:ea typeface="Calibri" pitchFamily="34" charset="-122"/>
                <a:cs typeface="Calibri" pitchFamily="34" charset="-120"/>
              </a:rPr>
              <a:t>Candidates whose predicted runtime exceeds the deadline are dropped. If none meets it, the engine returns the closest alternatives and says so explicitly, rather than an empty result.</a:t>
            </a:r>
            <a:endParaRPr lang="en-US" sz="1150" dirty="0"/>
          </a:p>
        </p:txBody>
      </p:sp>
      <p:sp>
        <p:nvSpPr>
          <p:cNvPr id="20" name="Shape 18"/>
          <p:cNvSpPr/>
          <p:nvPr/>
        </p:nvSpPr>
        <p:spPr>
          <a:xfrm>
            <a:off x="566928" y="5120640"/>
            <a:ext cx="384048" cy="384048"/>
          </a:xfrm>
          <a:prstGeom prst="ellipse">
            <a:avLst/>
          </a:prstGeom>
          <a:solidFill>
            <a:srgbClr val="9DC48A"/>
          </a:solidFill>
          <a:ln w="12700">
            <a:solidFill>
              <a:srgbClr val="9DC48A"/>
            </a:solidFill>
            <a:prstDash val="solid"/>
          </a:ln>
        </p:spPr>
        <p:txBody>
          <a:bodyPr/>
          <a:lstStyle/>
          <a:p>
            <a:endParaRPr lang="en-LK"/>
          </a:p>
        </p:txBody>
      </p:sp>
      <p:sp>
        <p:nvSpPr>
          <p:cNvPr id="21" name="Text 19"/>
          <p:cNvSpPr/>
          <p:nvPr/>
        </p:nvSpPr>
        <p:spPr>
          <a:xfrm>
            <a:off x="566928" y="5120640"/>
            <a:ext cx="384048" cy="384048"/>
          </a:xfrm>
          <a:prstGeom prst="rect">
            <a:avLst/>
          </a:prstGeom>
          <a:noFill/>
          <a:ln/>
        </p:spPr>
        <p:txBody>
          <a:bodyPr wrap="square" lIns="0" tIns="0" rIns="0" bIns="0" rtlCol="0" anchor="ctr"/>
          <a:lstStyle/>
          <a:p>
            <a:pPr marL="0" indent="0" algn="ctr">
              <a:buNone/>
            </a:pPr>
            <a:r>
              <a:rPr lang="en-US" sz="1300" b="1" dirty="0">
                <a:solidFill>
                  <a:srgbClr val="16261E"/>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133856" y="5102352"/>
            <a:ext cx="6035040" cy="256032"/>
          </a:xfrm>
          <a:prstGeom prst="rect">
            <a:avLst/>
          </a:prstGeom>
          <a:noFill/>
          <a:ln/>
        </p:spPr>
        <p:txBody>
          <a:bodyPr wrap="square" lIns="0" tIns="0" rIns="0" bIns="0" rtlCol="0" anchor="ctr"/>
          <a:lstStyle/>
          <a:p>
            <a:pPr marL="0" indent="0">
              <a:buNone/>
            </a:pPr>
            <a:r>
              <a:rPr lang="en-US" sz="1350" b="1" dirty="0">
                <a:solidFill>
                  <a:srgbClr val="16261E"/>
                </a:solidFill>
                <a:latin typeface="Calibri" pitchFamily="34" charset="0"/>
                <a:ea typeface="Calibri" pitchFamily="34" charset="-122"/>
                <a:cs typeface="Calibri" pitchFamily="34" charset="-120"/>
              </a:rPr>
              <a:t>Score and rank</a:t>
            </a:r>
            <a:endParaRPr lang="en-US" sz="1350" dirty="0"/>
          </a:p>
        </p:txBody>
      </p:sp>
      <p:sp>
        <p:nvSpPr>
          <p:cNvPr id="23" name="Text 21"/>
          <p:cNvSpPr/>
          <p:nvPr/>
        </p:nvSpPr>
        <p:spPr>
          <a:xfrm>
            <a:off x="1133856" y="5358384"/>
            <a:ext cx="6035040" cy="566928"/>
          </a:xfrm>
          <a:prstGeom prst="rect">
            <a:avLst/>
          </a:prstGeom>
          <a:noFill/>
          <a:ln/>
        </p:spPr>
        <p:txBody>
          <a:bodyPr wrap="square" lIns="0" tIns="0" rIns="0" bIns="0" rtlCol="0" anchor="ctr"/>
          <a:lstStyle/>
          <a:p>
            <a:pPr marL="0" indent="0">
              <a:lnSpc>
                <a:spcPts val="1500"/>
              </a:lnSpc>
              <a:buNone/>
            </a:pPr>
            <a:r>
              <a:rPr lang="en-US" sz="1150" dirty="0">
                <a:solidFill>
                  <a:srgbClr val="5F6B64"/>
                </a:solidFill>
                <a:latin typeface="Calibri" pitchFamily="34" charset="0"/>
                <a:ea typeface="Calibri" pitchFamily="34" charset="-122"/>
                <a:cs typeface="Calibri" pitchFamily="34" charset="-120"/>
              </a:rPr>
              <a:t>Cost · Runtime · Carbon · Balanced. Returns Top-N with a stated reason per row.</a:t>
            </a:r>
            <a:endParaRPr lang="en-US" sz="1150" dirty="0"/>
          </a:p>
        </p:txBody>
      </p:sp>
      <p:sp>
        <p:nvSpPr>
          <p:cNvPr id="24" name="Shape 22"/>
          <p:cNvSpPr/>
          <p:nvPr/>
        </p:nvSpPr>
        <p:spPr>
          <a:xfrm>
            <a:off x="7269480" y="1481328"/>
            <a:ext cx="4352544" cy="2121408"/>
          </a:xfrm>
          <a:prstGeom prst="roundRect">
            <a:avLst>
              <a:gd name="adj" fmla="val 3879"/>
            </a:avLst>
          </a:prstGeom>
          <a:solidFill>
            <a:srgbClr val="16261E"/>
          </a:solidFill>
          <a:ln w="12700">
            <a:solidFill>
              <a:srgbClr val="16261E"/>
            </a:solidFill>
            <a:prstDash val="solid"/>
          </a:ln>
          <a:effectLst>
            <a:outerShdw blurRad="127000" dist="25400" dir="5400000" algn="bl" rotWithShape="0">
              <a:srgbClr val="12201A">
                <a:alpha val="13000"/>
              </a:srgbClr>
            </a:outerShdw>
          </a:effectLst>
        </p:spPr>
        <p:txBody>
          <a:bodyPr/>
          <a:lstStyle/>
          <a:p>
            <a:endParaRPr lang="en-LK"/>
          </a:p>
        </p:txBody>
      </p:sp>
      <p:sp>
        <p:nvSpPr>
          <p:cNvPr id="25" name="Text 23"/>
          <p:cNvSpPr/>
          <p:nvPr/>
        </p:nvSpPr>
        <p:spPr>
          <a:xfrm>
            <a:off x="7543800" y="1645920"/>
            <a:ext cx="3840480" cy="237744"/>
          </a:xfrm>
          <a:prstGeom prst="rect">
            <a:avLst/>
          </a:prstGeom>
          <a:noFill/>
          <a:ln/>
        </p:spPr>
        <p:txBody>
          <a:bodyPr wrap="square" lIns="0" tIns="0" rIns="0" bIns="0" rtlCol="0" anchor="ctr"/>
          <a:lstStyle/>
          <a:p>
            <a:pPr marL="0" indent="0">
              <a:buNone/>
            </a:pPr>
            <a:r>
              <a:rPr lang="en-US" sz="1050" b="1" kern="0" spc="120" dirty="0">
                <a:solidFill>
                  <a:srgbClr val="9DC48A"/>
                </a:solidFill>
                <a:latin typeface="Calibri" pitchFamily="34" charset="0"/>
                <a:ea typeface="Calibri" pitchFamily="34" charset="-122"/>
                <a:cs typeface="Calibri" pitchFamily="34" charset="-120"/>
              </a:rPr>
              <a:t>THE BALANCED OBJECTIVE</a:t>
            </a:r>
            <a:endParaRPr lang="en-US" sz="1050" dirty="0"/>
          </a:p>
        </p:txBody>
      </p:sp>
      <p:sp>
        <p:nvSpPr>
          <p:cNvPr id="26" name="Text 24"/>
          <p:cNvSpPr/>
          <p:nvPr/>
        </p:nvSpPr>
        <p:spPr>
          <a:xfrm>
            <a:off x="7543800" y="1938528"/>
            <a:ext cx="3840480" cy="914400"/>
          </a:xfrm>
          <a:prstGeom prst="rect">
            <a:avLst/>
          </a:prstGeom>
          <a:noFill/>
          <a:ln/>
        </p:spPr>
        <p:txBody>
          <a:bodyPr wrap="square" lIns="0" tIns="0" rIns="0" bIns="0" rtlCol="0" anchor="ctr"/>
          <a:lstStyle/>
          <a:p>
            <a:pPr marL="0" indent="0">
              <a:lnSpc>
                <a:spcPts val="1500"/>
              </a:lnSpc>
              <a:buNone/>
            </a:pPr>
            <a:r>
              <a:rPr lang="en-US" sz="1150" b="1" dirty="0">
                <a:solidFill>
                  <a:srgbClr val="FFFFFF"/>
                </a:solidFill>
                <a:latin typeface="Courier New" pitchFamily="34" charset="0"/>
                <a:ea typeface="Courier New" pitchFamily="34" charset="-122"/>
                <a:cs typeface="Courier New" pitchFamily="34" charset="-120"/>
              </a:rPr>
              <a:t>Score = √( 0.35·runtime²</a:t>
            </a:r>
            <a:endParaRPr lang="en-US" sz="1150" dirty="0"/>
          </a:p>
          <a:p>
            <a:pPr marL="0" indent="0">
              <a:lnSpc>
                <a:spcPts val="1500"/>
              </a:lnSpc>
              <a:buNone/>
            </a:pPr>
            <a:r>
              <a:rPr lang="en-US" sz="1150" b="1" dirty="0">
                <a:solidFill>
                  <a:srgbClr val="FFFFFF"/>
                </a:solidFill>
                <a:latin typeface="Courier New" pitchFamily="34" charset="0"/>
                <a:ea typeface="Courier New" pitchFamily="34" charset="-122"/>
                <a:cs typeface="Courier New" pitchFamily="34" charset="-120"/>
              </a:rPr>
              <a:t>            + 0.35·cost²</a:t>
            </a:r>
            <a:endParaRPr lang="en-US" sz="1150" dirty="0"/>
          </a:p>
          <a:p>
            <a:pPr marL="0" indent="0">
              <a:lnSpc>
                <a:spcPts val="1500"/>
              </a:lnSpc>
              <a:buNone/>
            </a:pPr>
            <a:r>
              <a:rPr lang="en-US" sz="1150" b="1" dirty="0">
                <a:solidFill>
                  <a:srgbClr val="FFFFFF"/>
                </a:solidFill>
                <a:latin typeface="Courier New" pitchFamily="34" charset="0"/>
                <a:ea typeface="Courier New" pitchFamily="34" charset="-122"/>
                <a:cs typeface="Courier New" pitchFamily="34" charset="-120"/>
              </a:rPr>
              <a:t>            + 0.20·emissions²</a:t>
            </a:r>
            <a:endParaRPr lang="en-US" sz="1150" dirty="0"/>
          </a:p>
          <a:p>
            <a:pPr marL="0" indent="0">
              <a:lnSpc>
                <a:spcPts val="1500"/>
              </a:lnSpc>
              <a:buNone/>
            </a:pPr>
            <a:r>
              <a:rPr lang="en-US" sz="1150" b="1" dirty="0">
                <a:solidFill>
                  <a:srgbClr val="FFFFFF"/>
                </a:solidFill>
                <a:latin typeface="Courier New" pitchFamily="34" charset="0"/>
                <a:ea typeface="Courier New" pitchFamily="34" charset="-122"/>
                <a:cs typeface="Courier New" pitchFamily="34" charset="-120"/>
              </a:rPr>
              <a:t>            + 0.10·renewable² )</a:t>
            </a:r>
            <a:endParaRPr lang="en-US" sz="1150" dirty="0"/>
          </a:p>
        </p:txBody>
      </p:sp>
      <p:sp>
        <p:nvSpPr>
          <p:cNvPr id="27" name="Text 25"/>
          <p:cNvSpPr/>
          <p:nvPr/>
        </p:nvSpPr>
        <p:spPr>
          <a:xfrm>
            <a:off x="7543800" y="2871216"/>
            <a:ext cx="3840480" cy="640080"/>
          </a:xfrm>
          <a:prstGeom prst="rect">
            <a:avLst/>
          </a:prstGeom>
          <a:noFill/>
          <a:ln/>
        </p:spPr>
        <p:txBody>
          <a:bodyPr wrap="square" lIns="0" tIns="0" rIns="0" bIns="0" rtlCol="0" anchor="ctr"/>
          <a:lstStyle/>
          <a:p>
            <a:pPr marL="0" indent="0">
              <a:lnSpc>
                <a:spcPts val="1400"/>
              </a:lnSpc>
              <a:buNone/>
            </a:pPr>
            <a:r>
              <a:rPr lang="en-US" sz="1080" dirty="0">
                <a:solidFill>
                  <a:srgbClr val="AEBFB4"/>
                </a:solidFill>
                <a:latin typeface="Calibri" pitchFamily="34" charset="0"/>
                <a:ea typeface="Calibri" pitchFamily="34" charset="-122"/>
                <a:cs typeface="Calibri" pitchFamily="34" charset="-120"/>
              </a:rPr>
              <a:t>Each term is a proportional deviation from the best candidate on that criterion — ratio-to-best, not min–max — combined as a weighted Euclidean distance from the ideal point.</a:t>
            </a:r>
            <a:endParaRPr lang="en-US" sz="1080" dirty="0"/>
          </a:p>
        </p:txBody>
      </p:sp>
      <p:sp>
        <p:nvSpPr>
          <p:cNvPr id="28" name="Shape 26"/>
          <p:cNvSpPr/>
          <p:nvPr/>
        </p:nvSpPr>
        <p:spPr>
          <a:xfrm>
            <a:off x="7269480" y="3712464"/>
            <a:ext cx="4352544" cy="2231136"/>
          </a:xfrm>
          <a:prstGeom prst="roundRect">
            <a:avLst>
              <a:gd name="adj" fmla="val 3689"/>
            </a:avLst>
          </a:prstGeom>
          <a:solidFill>
            <a:srgbClr val="F1F4F1"/>
          </a:solidFill>
          <a:ln w="12700">
            <a:solidFill>
              <a:srgbClr val="F1F4F1"/>
            </a:solidFill>
            <a:prstDash val="solid"/>
          </a:ln>
          <a:effectLst>
            <a:outerShdw blurRad="127000" dist="25400" dir="5400000" algn="bl" rotWithShape="0">
              <a:srgbClr val="12201A">
                <a:alpha val="13000"/>
              </a:srgbClr>
            </a:outerShdw>
          </a:effectLst>
        </p:spPr>
        <p:txBody>
          <a:bodyPr/>
          <a:lstStyle/>
          <a:p>
            <a:endParaRPr lang="en-LK"/>
          </a:p>
        </p:txBody>
      </p:sp>
      <p:sp>
        <p:nvSpPr>
          <p:cNvPr id="29" name="Text 27"/>
          <p:cNvSpPr/>
          <p:nvPr/>
        </p:nvSpPr>
        <p:spPr>
          <a:xfrm>
            <a:off x="7543800" y="3877056"/>
            <a:ext cx="3840480" cy="384048"/>
          </a:xfrm>
          <a:prstGeom prst="rect">
            <a:avLst/>
          </a:prstGeom>
          <a:noFill/>
          <a:ln/>
        </p:spPr>
        <p:txBody>
          <a:bodyPr wrap="square" lIns="0" tIns="0" rIns="0" bIns="0" rtlCol="0" anchor="ctr"/>
          <a:lstStyle/>
          <a:p>
            <a:pPr marL="0" indent="0">
              <a:lnSpc>
                <a:spcPts val="1400"/>
              </a:lnSpc>
              <a:buNone/>
            </a:pPr>
            <a:r>
              <a:rPr lang="en-US" sz="1050" b="1" kern="0" spc="110" dirty="0">
                <a:solidFill>
                  <a:srgbClr val="3E6B55"/>
                </a:solidFill>
                <a:latin typeface="Calibri" pitchFamily="34" charset="0"/>
                <a:ea typeface="Calibri" pitchFamily="34" charset="-122"/>
                <a:cs typeface="Calibri" pitchFamily="34" charset="-120"/>
              </a:rPr>
              <a:t>WHY A EUCLIDEAN DISTANCE, NOT A LINEAR SUM</a:t>
            </a:r>
            <a:endParaRPr lang="en-US" sz="1050" dirty="0"/>
          </a:p>
        </p:txBody>
      </p:sp>
      <p:sp>
        <p:nvSpPr>
          <p:cNvPr id="30" name="Text 28"/>
          <p:cNvSpPr/>
          <p:nvPr/>
        </p:nvSpPr>
        <p:spPr>
          <a:xfrm>
            <a:off x="7543800" y="4279392"/>
            <a:ext cx="3840480" cy="1572768"/>
          </a:xfrm>
          <a:prstGeom prst="rect">
            <a:avLst/>
          </a:prstGeom>
          <a:noFill/>
          <a:ln/>
        </p:spPr>
        <p:txBody>
          <a:bodyPr wrap="square" lIns="0" tIns="0" rIns="0" bIns="0" rtlCol="0" anchor="ctr"/>
          <a:lstStyle/>
          <a:p>
            <a:pPr marL="177800" indent="-177800">
              <a:lnSpc>
                <a:spcPts val="1350"/>
              </a:lnSpc>
              <a:spcAft>
                <a:spcPts val="700"/>
              </a:spcAft>
              <a:buSzPct val="100000"/>
              <a:buChar char="•"/>
            </a:pPr>
            <a:r>
              <a:rPr lang="en-US" sz="1050" dirty="0">
                <a:solidFill>
                  <a:srgbClr val="5F6B64"/>
                </a:solidFill>
                <a:latin typeface="Calibri" pitchFamily="34" charset="0"/>
                <a:ea typeface="Calibri" pitchFamily="34" charset="-122"/>
                <a:cs typeface="Calibri" pitchFamily="34" charset="-120"/>
              </a:rPr>
              <a:t>Min–max normalisation lets candidates that never compete set a criterion's effective weight — runtime can carry 5.7× the influence of cost despite both being weighted 0.35. Ratio-to-best removes that.</a:t>
            </a:r>
            <a:endParaRPr lang="en-US" sz="1050" dirty="0"/>
          </a:p>
          <a:p>
            <a:pPr marL="177800" indent="-177800">
              <a:lnSpc>
                <a:spcPts val="1350"/>
              </a:lnSpc>
              <a:spcAft>
                <a:spcPts val="700"/>
              </a:spcAft>
              <a:buSzPct val="100000"/>
              <a:buChar char="•"/>
            </a:pPr>
            <a:r>
              <a:rPr lang="en-US" sz="1050" dirty="0">
                <a:solidFill>
                  <a:srgbClr val="5F6B64"/>
                </a:solidFill>
                <a:latin typeface="Calibri" pitchFamily="34" charset="0"/>
                <a:ea typeface="Calibri" pitchFamily="34" charset="-122"/>
                <a:cs typeface="Calibri" pitchFamily="34" charset="-120"/>
              </a:rPr>
              <a:t>A linear weighted sum can only ever select a vertex of the efficient frontier, never an interior compromise.</a:t>
            </a:r>
            <a:endParaRPr lang="en-US" sz="1050" dirty="0"/>
          </a:p>
          <a:p>
            <a:pPr marL="177800" indent="-177800">
              <a:lnSpc>
                <a:spcPts val="1350"/>
              </a:lnSpc>
              <a:spcAft>
                <a:spcPts val="700"/>
              </a:spcAft>
              <a:buSzPct val="100000"/>
              <a:buChar char="•"/>
            </a:pPr>
            <a:r>
              <a:rPr lang="en-US" sz="1050" dirty="0">
                <a:solidFill>
                  <a:srgbClr val="5F6B64"/>
                </a:solidFill>
                <a:latin typeface="Calibri" pitchFamily="34" charset="0"/>
                <a:ea typeface="Calibri" pitchFamily="34" charset="-122"/>
                <a:cs typeface="Calibri" pitchFamily="34" charset="-120"/>
              </a:rPr>
              <a:t>Squaring before weighting punishes a candidate that is excellent on one axis and poor on another — which is what “balanced” should mean.</a:t>
            </a:r>
            <a:endParaRPr lang="en-US" sz="1050" dirty="0"/>
          </a:p>
        </p:txBody>
      </p:sp>
      <p:sp>
        <p:nvSpPr>
          <p:cNvPr id="32" name="Text 30"/>
          <p:cNvSpPr/>
          <p:nvPr/>
        </p:nvSpPr>
        <p:spPr>
          <a:xfrm>
            <a:off x="10984687" y="6382512"/>
            <a:ext cx="640080" cy="256032"/>
          </a:xfrm>
          <a:prstGeom prst="rect">
            <a:avLst/>
          </a:prstGeom>
          <a:noFill/>
          <a:ln/>
        </p:spPr>
        <p:txBody>
          <a:bodyPr wrap="square" lIns="0" tIns="0" rIns="0" bIns="0" rtlCol="0" anchor="ctr"/>
          <a:lstStyle/>
          <a:p>
            <a:pPr marL="0" indent="0" algn="r">
              <a:buNone/>
            </a:pPr>
            <a:r>
              <a:rPr lang="en-US" sz="1050" dirty="0">
                <a:solidFill>
                  <a:srgbClr val="96A29B"/>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0515600" cy="237744"/>
          </a:xfrm>
          <a:prstGeom prst="rect">
            <a:avLst/>
          </a:prstGeom>
          <a:noFill/>
          <a:ln/>
        </p:spPr>
        <p:txBody>
          <a:bodyPr wrap="square" lIns="0" tIns="0" rIns="0" bIns="0" rtlCol="0" anchor="ctr"/>
          <a:lstStyle/>
          <a:p>
            <a:pPr marL="0" indent="0">
              <a:buNone/>
            </a:pPr>
            <a:r>
              <a:rPr lang="en-US" sz="1150" b="1" kern="0" spc="160" dirty="0">
                <a:solidFill>
                  <a:srgbClr val="3E6B55"/>
                </a:solidFill>
                <a:latin typeface="Calibri" pitchFamily="34" charset="0"/>
                <a:ea typeface="Calibri" pitchFamily="34" charset="-122"/>
                <a:cs typeface="Calibri" pitchFamily="34" charset="-120"/>
              </a:rPr>
              <a:t>RESULTS · PREDICTION ACCURACY</a:t>
            </a:r>
            <a:endParaRPr lang="en-US" sz="1150" dirty="0"/>
          </a:p>
        </p:txBody>
      </p:sp>
      <p:sp>
        <p:nvSpPr>
          <p:cNvPr id="3" name="Text 1"/>
          <p:cNvSpPr/>
          <p:nvPr/>
        </p:nvSpPr>
        <p:spPr>
          <a:xfrm>
            <a:off x="566928" y="576072"/>
            <a:ext cx="11064240" cy="603504"/>
          </a:xfrm>
          <a:prstGeom prst="rect">
            <a:avLst/>
          </a:prstGeom>
          <a:noFill/>
          <a:ln/>
        </p:spPr>
        <p:txBody>
          <a:bodyPr wrap="square" lIns="0" tIns="0" rIns="0" bIns="0" rtlCol="0" anchor="ctr"/>
          <a:lstStyle/>
          <a:p>
            <a:pPr marL="0" indent="0">
              <a:buNone/>
            </a:pPr>
            <a:r>
              <a:rPr lang="en-US" sz="3100" b="1" dirty="0">
                <a:solidFill>
                  <a:srgbClr val="16261E"/>
                </a:solidFill>
                <a:latin typeface="Cambria" pitchFamily="34" charset="0"/>
                <a:ea typeface="Cambria" pitchFamily="34" charset="-122"/>
                <a:cs typeface="Cambria" pitchFamily="34" charset="-120"/>
              </a:rPr>
              <a:t>Can it predict? R² 0.889 ± 0.055 on unseen configurations</a:t>
            </a:r>
            <a:endParaRPr lang="en-US" sz="3100" dirty="0"/>
          </a:p>
        </p:txBody>
      </p:sp>
      <p:pic>
        <p:nvPicPr>
          <p:cNvPr id="4" name="Image 0" descr="/sessions/modest-exciting-carson/mnt/outputs/build/img/pred_vs_actual.png"/>
          <p:cNvPicPr>
            <a:picLocks noChangeAspect="1"/>
          </p:cNvPicPr>
          <p:nvPr/>
        </p:nvPicPr>
        <p:blipFill>
          <a:blip r:embed="rId3"/>
          <a:stretch>
            <a:fillRect/>
          </a:stretch>
        </p:blipFill>
        <p:spPr>
          <a:xfrm>
            <a:off x="475488" y="1536192"/>
            <a:ext cx="5029200" cy="3950208"/>
          </a:xfrm>
          <a:prstGeom prst="rect">
            <a:avLst/>
          </a:prstGeom>
        </p:spPr>
      </p:pic>
      <p:sp>
        <p:nvSpPr>
          <p:cNvPr id="5" name="Text 2"/>
          <p:cNvSpPr/>
          <p:nvPr/>
        </p:nvSpPr>
        <p:spPr>
          <a:xfrm>
            <a:off x="566928" y="5504688"/>
            <a:ext cx="4846320" cy="365760"/>
          </a:xfrm>
          <a:prstGeom prst="rect">
            <a:avLst/>
          </a:prstGeom>
          <a:noFill/>
          <a:ln/>
        </p:spPr>
        <p:txBody>
          <a:bodyPr wrap="square" lIns="0" tIns="0" rIns="0" bIns="0" rtlCol="0" anchor="ctr"/>
          <a:lstStyle/>
          <a:p>
            <a:pPr marL="0" indent="0">
              <a:lnSpc>
                <a:spcPts val="1300"/>
              </a:lnSpc>
              <a:buNone/>
            </a:pPr>
            <a:r>
              <a:rPr lang="en-US" sz="1000" i="1" dirty="0">
                <a:solidFill>
                  <a:srgbClr val="96A29B"/>
                </a:solidFill>
                <a:latin typeface="Calibri" pitchFamily="34" charset="0"/>
                <a:ea typeface="Calibri" pitchFamily="34" charset="-122"/>
                <a:cs typeface="Calibri" pitchFamily="34" charset="-120"/>
              </a:rPr>
              <a:t>Deployed Random Forest, held-out group split (n = 493 predictions). Points on the dashed line are exact.</a:t>
            </a:r>
            <a:endParaRPr lang="en-US" sz="1000" dirty="0"/>
          </a:p>
        </p:txBody>
      </p:sp>
      <p:sp>
        <p:nvSpPr>
          <p:cNvPr id="6" name="Text 3"/>
          <p:cNvSpPr/>
          <p:nvPr/>
        </p:nvSpPr>
        <p:spPr>
          <a:xfrm>
            <a:off x="5806440" y="1536192"/>
            <a:ext cx="5815584" cy="237744"/>
          </a:xfrm>
          <a:prstGeom prst="rect">
            <a:avLst/>
          </a:prstGeom>
          <a:noFill/>
          <a:ln/>
        </p:spPr>
        <p:txBody>
          <a:bodyPr wrap="square" lIns="0" tIns="0" rIns="0" bIns="0" rtlCol="0" anchor="ctr"/>
          <a:lstStyle/>
          <a:p>
            <a:pPr marL="0" indent="0">
              <a:buNone/>
            </a:pPr>
            <a:r>
              <a:rPr lang="en-US" sz="1050" b="1" kern="0" spc="110" dirty="0">
                <a:solidFill>
                  <a:srgbClr val="3E6B55"/>
                </a:solidFill>
                <a:latin typeface="Calibri" pitchFamily="34" charset="0"/>
                <a:ea typeface="Calibri" pitchFamily="34" charset="-122"/>
                <a:cs typeface="Calibri" pitchFamily="34" charset="-120"/>
              </a:rPr>
              <a:t>GROUPED 5-FOLD CROSS-VALIDATION — THE BASIS OF SELECTION</a:t>
            </a:r>
            <a:endParaRPr lang="en-US" sz="1050" dirty="0"/>
          </a:p>
        </p:txBody>
      </p:sp>
      <p:sp>
        <p:nvSpPr>
          <p:cNvPr id="7" name="Text 4"/>
          <p:cNvSpPr/>
          <p:nvPr/>
        </p:nvSpPr>
        <p:spPr>
          <a:xfrm>
            <a:off x="5806440" y="1847088"/>
            <a:ext cx="2240280" cy="274320"/>
          </a:xfrm>
          <a:prstGeom prst="rect">
            <a:avLst/>
          </a:prstGeom>
          <a:noFill/>
          <a:ln/>
        </p:spPr>
        <p:txBody>
          <a:bodyPr wrap="square" lIns="0" tIns="0" rIns="0" bIns="0" rtlCol="0" anchor="ctr"/>
          <a:lstStyle/>
          <a:p>
            <a:pPr marL="0" indent="0" algn="l">
              <a:buNone/>
            </a:pPr>
            <a:r>
              <a:rPr lang="en-US" sz="1050" b="1" dirty="0">
                <a:solidFill>
                  <a:srgbClr val="5F6B64"/>
                </a:solidFill>
                <a:latin typeface="Calibri" pitchFamily="34" charset="0"/>
                <a:ea typeface="Calibri" pitchFamily="34" charset="-122"/>
                <a:cs typeface="Calibri" pitchFamily="34" charset="-120"/>
              </a:rPr>
              <a:t>Model</a:t>
            </a:r>
            <a:endParaRPr lang="en-US" sz="1050" dirty="0"/>
          </a:p>
        </p:txBody>
      </p:sp>
      <p:sp>
        <p:nvSpPr>
          <p:cNvPr id="8" name="Text 5"/>
          <p:cNvSpPr/>
          <p:nvPr/>
        </p:nvSpPr>
        <p:spPr>
          <a:xfrm>
            <a:off x="8092440" y="1847088"/>
            <a:ext cx="1261872" cy="274320"/>
          </a:xfrm>
          <a:prstGeom prst="rect">
            <a:avLst/>
          </a:prstGeom>
          <a:noFill/>
          <a:ln/>
        </p:spPr>
        <p:txBody>
          <a:bodyPr wrap="square" lIns="0" tIns="0" rIns="0" bIns="0" rtlCol="0" anchor="ctr"/>
          <a:lstStyle/>
          <a:p>
            <a:pPr marL="0" indent="0" algn="r">
              <a:buNone/>
            </a:pPr>
            <a:r>
              <a:rPr lang="en-US" sz="1050" b="1" dirty="0">
                <a:solidFill>
                  <a:srgbClr val="5F6B64"/>
                </a:solidFill>
                <a:latin typeface="Calibri" pitchFamily="34" charset="0"/>
                <a:ea typeface="Calibri" pitchFamily="34" charset="-122"/>
                <a:cs typeface="Calibri" pitchFamily="34" charset="-120"/>
              </a:rPr>
              <a:t>Runtime R²</a:t>
            </a:r>
            <a:endParaRPr lang="en-US" sz="1050" dirty="0"/>
          </a:p>
        </p:txBody>
      </p:sp>
      <p:sp>
        <p:nvSpPr>
          <p:cNvPr id="9" name="Text 6"/>
          <p:cNvSpPr/>
          <p:nvPr/>
        </p:nvSpPr>
        <p:spPr>
          <a:xfrm>
            <a:off x="9390888" y="1847088"/>
            <a:ext cx="1078992" cy="274320"/>
          </a:xfrm>
          <a:prstGeom prst="rect">
            <a:avLst/>
          </a:prstGeom>
          <a:noFill/>
          <a:ln/>
        </p:spPr>
        <p:txBody>
          <a:bodyPr wrap="square" lIns="0" tIns="0" rIns="0" bIns="0" rtlCol="0" anchor="ctr"/>
          <a:lstStyle/>
          <a:p>
            <a:pPr marL="0" indent="0" algn="r">
              <a:buNone/>
            </a:pPr>
            <a:r>
              <a:rPr lang="en-US" sz="1050" b="1" dirty="0">
                <a:solidFill>
                  <a:srgbClr val="5F6B64"/>
                </a:solidFill>
                <a:latin typeface="Calibri" pitchFamily="34" charset="0"/>
                <a:ea typeface="Calibri" pitchFamily="34" charset="-122"/>
                <a:cs typeface="Calibri" pitchFamily="34" charset="-120"/>
              </a:rPr>
              <a:t>Cost R²</a:t>
            </a:r>
            <a:endParaRPr lang="en-US" sz="1050" dirty="0"/>
          </a:p>
        </p:txBody>
      </p:sp>
      <p:sp>
        <p:nvSpPr>
          <p:cNvPr id="10" name="Text 7"/>
          <p:cNvSpPr/>
          <p:nvPr/>
        </p:nvSpPr>
        <p:spPr>
          <a:xfrm>
            <a:off x="10506456" y="1847088"/>
            <a:ext cx="1115568" cy="274320"/>
          </a:xfrm>
          <a:prstGeom prst="rect">
            <a:avLst/>
          </a:prstGeom>
          <a:noFill/>
          <a:ln/>
        </p:spPr>
        <p:txBody>
          <a:bodyPr wrap="square" lIns="0" tIns="0" rIns="0" bIns="0" rtlCol="0" anchor="ctr"/>
          <a:lstStyle/>
          <a:p>
            <a:pPr marL="0" indent="0" algn="r">
              <a:buNone/>
            </a:pPr>
            <a:r>
              <a:rPr lang="en-US" sz="1050" b="1" dirty="0">
                <a:solidFill>
                  <a:srgbClr val="5F6B64"/>
                </a:solidFill>
                <a:latin typeface="Calibri" pitchFamily="34" charset="0"/>
                <a:ea typeface="Calibri" pitchFamily="34" charset="-122"/>
                <a:cs typeface="Calibri" pitchFamily="34" charset="-120"/>
              </a:rPr>
              <a:t>Runtime MAE</a:t>
            </a:r>
            <a:endParaRPr lang="en-US" sz="1050" dirty="0"/>
          </a:p>
        </p:txBody>
      </p:sp>
      <p:sp>
        <p:nvSpPr>
          <p:cNvPr id="11" name="Text 8"/>
          <p:cNvSpPr/>
          <p:nvPr/>
        </p:nvSpPr>
        <p:spPr>
          <a:xfrm>
            <a:off x="5806440" y="2194560"/>
            <a:ext cx="2240280" cy="384048"/>
          </a:xfrm>
          <a:prstGeom prst="rect">
            <a:avLst/>
          </a:prstGeom>
          <a:noFill/>
          <a:ln/>
        </p:spPr>
        <p:txBody>
          <a:bodyPr wrap="square" lIns="0" tIns="0" rIns="0" bIns="0" rtlCol="0" anchor="ctr"/>
          <a:lstStyle/>
          <a:p>
            <a:pPr marL="0" indent="0" algn="l">
              <a:buNone/>
            </a:pPr>
            <a:r>
              <a:rPr lang="en-US" sz="1250" dirty="0">
                <a:solidFill>
                  <a:srgbClr val="5F6B64"/>
                </a:solidFill>
                <a:latin typeface="Calibri" pitchFamily="34" charset="0"/>
                <a:ea typeface="Calibri" pitchFamily="34" charset="-122"/>
                <a:cs typeface="Calibri" pitchFamily="34" charset="-120"/>
              </a:rPr>
              <a:t>Linear Regression</a:t>
            </a:r>
            <a:endParaRPr lang="en-US" sz="1250" dirty="0"/>
          </a:p>
        </p:txBody>
      </p:sp>
      <p:sp>
        <p:nvSpPr>
          <p:cNvPr id="12" name="Text 9"/>
          <p:cNvSpPr/>
          <p:nvPr/>
        </p:nvSpPr>
        <p:spPr>
          <a:xfrm>
            <a:off x="8092440" y="2194560"/>
            <a:ext cx="1261872" cy="384048"/>
          </a:xfrm>
          <a:prstGeom prst="rect">
            <a:avLst/>
          </a:prstGeom>
          <a:noFill/>
          <a:ln/>
        </p:spPr>
        <p:txBody>
          <a:bodyPr wrap="square" lIns="0" tIns="0" rIns="0" bIns="0" rtlCol="0" anchor="ctr"/>
          <a:lstStyle/>
          <a:p>
            <a:pPr marL="0" indent="0" algn="r">
              <a:buNone/>
            </a:pPr>
            <a:r>
              <a:rPr lang="en-US" sz="1250" dirty="0">
                <a:solidFill>
                  <a:srgbClr val="5F6B64"/>
                </a:solidFill>
                <a:latin typeface="Calibri" pitchFamily="34" charset="0"/>
                <a:ea typeface="Calibri" pitchFamily="34" charset="-122"/>
                <a:cs typeface="Calibri" pitchFamily="34" charset="-120"/>
              </a:rPr>
              <a:t>0.683 ± 0.031</a:t>
            </a:r>
            <a:endParaRPr lang="en-US" sz="1250" dirty="0"/>
          </a:p>
        </p:txBody>
      </p:sp>
      <p:sp>
        <p:nvSpPr>
          <p:cNvPr id="13" name="Text 10"/>
          <p:cNvSpPr/>
          <p:nvPr/>
        </p:nvSpPr>
        <p:spPr>
          <a:xfrm>
            <a:off x="9390888" y="2194560"/>
            <a:ext cx="1078992" cy="384048"/>
          </a:xfrm>
          <a:prstGeom prst="rect">
            <a:avLst/>
          </a:prstGeom>
          <a:noFill/>
          <a:ln/>
        </p:spPr>
        <p:txBody>
          <a:bodyPr wrap="square" lIns="0" tIns="0" rIns="0" bIns="0" rtlCol="0" anchor="ctr"/>
          <a:lstStyle/>
          <a:p>
            <a:pPr marL="0" indent="0" algn="r">
              <a:buNone/>
            </a:pPr>
            <a:r>
              <a:rPr lang="en-US" sz="1250" dirty="0">
                <a:solidFill>
                  <a:srgbClr val="5F6B64"/>
                </a:solidFill>
                <a:latin typeface="Calibri" pitchFamily="34" charset="0"/>
                <a:ea typeface="Calibri" pitchFamily="34" charset="-122"/>
                <a:cs typeface="Calibri" pitchFamily="34" charset="-120"/>
              </a:rPr>
              <a:t>0.720</a:t>
            </a:r>
            <a:endParaRPr lang="en-US" sz="1250" dirty="0"/>
          </a:p>
        </p:txBody>
      </p:sp>
      <p:sp>
        <p:nvSpPr>
          <p:cNvPr id="14" name="Text 11"/>
          <p:cNvSpPr/>
          <p:nvPr/>
        </p:nvSpPr>
        <p:spPr>
          <a:xfrm>
            <a:off x="10506456" y="2194560"/>
            <a:ext cx="1115568" cy="384048"/>
          </a:xfrm>
          <a:prstGeom prst="rect">
            <a:avLst/>
          </a:prstGeom>
          <a:noFill/>
          <a:ln/>
        </p:spPr>
        <p:txBody>
          <a:bodyPr wrap="square" lIns="0" tIns="0" rIns="0" bIns="0" rtlCol="0" anchor="ctr"/>
          <a:lstStyle/>
          <a:p>
            <a:pPr marL="0" indent="0" algn="r">
              <a:buNone/>
            </a:pPr>
            <a:r>
              <a:rPr lang="en-US" sz="1250" dirty="0">
                <a:solidFill>
                  <a:srgbClr val="5F6B64"/>
                </a:solidFill>
                <a:latin typeface="Calibri" pitchFamily="34" charset="0"/>
                <a:ea typeface="Calibri" pitchFamily="34" charset="-122"/>
                <a:cs typeface="Calibri" pitchFamily="34" charset="-120"/>
              </a:rPr>
              <a:t>0.575</a:t>
            </a:r>
            <a:endParaRPr lang="en-US" sz="1250" dirty="0"/>
          </a:p>
        </p:txBody>
      </p:sp>
      <p:sp>
        <p:nvSpPr>
          <p:cNvPr id="15" name="Text 12"/>
          <p:cNvSpPr/>
          <p:nvPr/>
        </p:nvSpPr>
        <p:spPr>
          <a:xfrm>
            <a:off x="5806440" y="2651760"/>
            <a:ext cx="2240280" cy="384048"/>
          </a:xfrm>
          <a:prstGeom prst="rect">
            <a:avLst/>
          </a:prstGeom>
          <a:noFill/>
          <a:ln/>
        </p:spPr>
        <p:txBody>
          <a:bodyPr wrap="square" lIns="0" tIns="0" rIns="0" bIns="0" rtlCol="0" anchor="ctr"/>
          <a:lstStyle/>
          <a:p>
            <a:pPr marL="0" indent="0" algn="l">
              <a:buNone/>
            </a:pPr>
            <a:r>
              <a:rPr lang="en-US" sz="1250" dirty="0">
                <a:solidFill>
                  <a:srgbClr val="5F6B64"/>
                </a:solidFill>
                <a:latin typeface="Calibri" pitchFamily="34" charset="0"/>
                <a:ea typeface="Calibri" pitchFamily="34" charset="-122"/>
                <a:cs typeface="Calibri" pitchFamily="34" charset="-120"/>
              </a:rPr>
              <a:t>Decision Tree</a:t>
            </a:r>
            <a:endParaRPr lang="en-US" sz="1250" dirty="0"/>
          </a:p>
        </p:txBody>
      </p:sp>
      <p:sp>
        <p:nvSpPr>
          <p:cNvPr id="16" name="Text 13"/>
          <p:cNvSpPr/>
          <p:nvPr/>
        </p:nvSpPr>
        <p:spPr>
          <a:xfrm>
            <a:off x="8092440" y="2651760"/>
            <a:ext cx="1261872" cy="384048"/>
          </a:xfrm>
          <a:prstGeom prst="rect">
            <a:avLst/>
          </a:prstGeom>
          <a:noFill/>
          <a:ln/>
        </p:spPr>
        <p:txBody>
          <a:bodyPr wrap="square" lIns="0" tIns="0" rIns="0" bIns="0" rtlCol="0" anchor="ctr"/>
          <a:lstStyle/>
          <a:p>
            <a:pPr marL="0" indent="0" algn="r">
              <a:buNone/>
            </a:pPr>
            <a:r>
              <a:rPr lang="en-US" sz="1250" dirty="0">
                <a:solidFill>
                  <a:srgbClr val="5F6B64"/>
                </a:solidFill>
                <a:latin typeface="Calibri" pitchFamily="34" charset="0"/>
                <a:ea typeface="Calibri" pitchFamily="34" charset="-122"/>
                <a:cs typeface="Calibri" pitchFamily="34" charset="-120"/>
              </a:rPr>
              <a:t>0.834 ± 0.079</a:t>
            </a:r>
            <a:endParaRPr lang="en-US" sz="1250" dirty="0"/>
          </a:p>
        </p:txBody>
      </p:sp>
      <p:sp>
        <p:nvSpPr>
          <p:cNvPr id="17" name="Text 14"/>
          <p:cNvSpPr/>
          <p:nvPr/>
        </p:nvSpPr>
        <p:spPr>
          <a:xfrm>
            <a:off x="9390888" y="2651760"/>
            <a:ext cx="1078992" cy="384048"/>
          </a:xfrm>
          <a:prstGeom prst="rect">
            <a:avLst/>
          </a:prstGeom>
          <a:noFill/>
          <a:ln/>
        </p:spPr>
        <p:txBody>
          <a:bodyPr wrap="square" lIns="0" tIns="0" rIns="0" bIns="0" rtlCol="0" anchor="ctr"/>
          <a:lstStyle/>
          <a:p>
            <a:pPr marL="0" indent="0" algn="r">
              <a:buNone/>
            </a:pPr>
            <a:r>
              <a:rPr lang="en-US" sz="1250" dirty="0">
                <a:solidFill>
                  <a:srgbClr val="5F6B64"/>
                </a:solidFill>
                <a:latin typeface="Calibri" pitchFamily="34" charset="0"/>
                <a:ea typeface="Calibri" pitchFamily="34" charset="-122"/>
                <a:cs typeface="Calibri" pitchFamily="34" charset="-120"/>
              </a:rPr>
              <a:t>0.808</a:t>
            </a:r>
            <a:endParaRPr lang="en-US" sz="1250" dirty="0"/>
          </a:p>
        </p:txBody>
      </p:sp>
      <p:sp>
        <p:nvSpPr>
          <p:cNvPr id="18" name="Text 15"/>
          <p:cNvSpPr/>
          <p:nvPr/>
        </p:nvSpPr>
        <p:spPr>
          <a:xfrm>
            <a:off x="10506456" y="2651760"/>
            <a:ext cx="1115568" cy="384048"/>
          </a:xfrm>
          <a:prstGeom prst="rect">
            <a:avLst/>
          </a:prstGeom>
          <a:noFill/>
          <a:ln/>
        </p:spPr>
        <p:txBody>
          <a:bodyPr wrap="square" lIns="0" tIns="0" rIns="0" bIns="0" rtlCol="0" anchor="ctr"/>
          <a:lstStyle/>
          <a:p>
            <a:pPr marL="0" indent="0" algn="r">
              <a:buNone/>
            </a:pPr>
            <a:r>
              <a:rPr lang="en-US" sz="1250" dirty="0">
                <a:solidFill>
                  <a:srgbClr val="5F6B64"/>
                </a:solidFill>
                <a:latin typeface="Calibri" pitchFamily="34" charset="0"/>
                <a:ea typeface="Calibri" pitchFamily="34" charset="-122"/>
                <a:cs typeface="Calibri" pitchFamily="34" charset="-120"/>
              </a:rPr>
              <a:t>0.334</a:t>
            </a:r>
            <a:endParaRPr lang="en-US" sz="1250" dirty="0"/>
          </a:p>
        </p:txBody>
      </p:sp>
      <p:sp>
        <p:nvSpPr>
          <p:cNvPr id="19" name="Shape 16"/>
          <p:cNvSpPr/>
          <p:nvPr/>
        </p:nvSpPr>
        <p:spPr>
          <a:xfrm>
            <a:off x="5678424" y="3081528"/>
            <a:ext cx="5998464" cy="438912"/>
          </a:xfrm>
          <a:prstGeom prst="roundRect">
            <a:avLst>
              <a:gd name="adj" fmla="val 12500"/>
            </a:avLst>
          </a:prstGeom>
          <a:solidFill>
            <a:srgbClr val="E7EFE4"/>
          </a:solidFill>
          <a:ln w="12700">
            <a:solidFill>
              <a:srgbClr val="E7EFE4"/>
            </a:solidFill>
            <a:prstDash val="solid"/>
          </a:ln>
        </p:spPr>
        <p:txBody>
          <a:bodyPr/>
          <a:lstStyle/>
          <a:p>
            <a:endParaRPr lang="en-LK"/>
          </a:p>
        </p:txBody>
      </p:sp>
      <p:sp>
        <p:nvSpPr>
          <p:cNvPr id="20" name="Text 17"/>
          <p:cNvSpPr/>
          <p:nvPr/>
        </p:nvSpPr>
        <p:spPr>
          <a:xfrm>
            <a:off x="5806440" y="3108960"/>
            <a:ext cx="2240280" cy="384048"/>
          </a:xfrm>
          <a:prstGeom prst="rect">
            <a:avLst/>
          </a:prstGeom>
          <a:noFill/>
          <a:ln/>
        </p:spPr>
        <p:txBody>
          <a:bodyPr wrap="square" lIns="0" tIns="0" rIns="0" bIns="0" rtlCol="0" anchor="ctr"/>
          <a:lstStyle/>
          <a:p>
            <a:pPr marL="0" indent="0" algn="l">
              <a:buNone/>
            </a:pPr>
            <a:r>
              <a:rPr lang="en-US" sz="1250" b="1" dirty="0">
                <a:solidFill>
                  <a:srgbClr val="16261E"/>
                </a:solidFill>
                <a:latin typeface="Calibri" pitchFamily="34" charset="0"/>
                <a:ea typeface="Calibri" pitchFamily="34" charset="-122"/>
                <a:cs typeface="Calibri" pitchFamily="34" charset="-120"/>
              </a:rPr>
              <a:t>Random Forest</a:t>
            </a:r>
            <a:endParaRPr lang="en-US" sz="1250" dirty="0"/>
          </a:p>
        </p:txBody>
      </p:sp>
      <p:sp>
        <p:nvSpPr>
          <p:cNvPr id="21" name="Text 18"/>
          <p:cNvSpPr/>
          <p:nvPr/>
        </p:nvSpPr>
        <p:spPr>
          <a:xfrm>
            <a:off x="8092440" y="3108960"/>
            <a:ext cx="1261872" cy="384048"/>
          </a:xfrm>
          <a:prstGeom prst="rect">
            <a:avLst/>
          </a:prstGeom>
          <a:noFill/>
          <a:ln/>
        </p:spPr>
        <p:txBody>
          <a:bodyPr wrap="square" lIns="0" tIns="0" rIns="0" bIns="0" rtlCol="0" anchor="ctr"/>
          <a:lstStyle/>
          <a:p>
            <a:pPr marL="0" indent="0" algn="r">
              <a:buNone/>
            </a:pPr>
            <a:r>
              <a:rPr lang="en-US" sz="1250" b="1" dirty="0">
                <a:solidFill>
                  <a:srgbClr val="16261E"/>
                </a:solidFill>
                <a:latin typeface="Calibri" pitchFamily="34" charset="0"/>
                <a:ea typeface="Calibri" pitchFamily="34" charset="-122"/>
                <a:cs typeface="Calibri" pitchFamily="34" charset="-120"/>
              </a:rPr>
              <a:t>0.889 ± 0.055</a:t>
            </a:r>
            <a:endParaRPr lang="en-US" sz="1250" dirty="0"/>
          </a:p>
        </p:txBody>
      </p:sp>
      <p:sp>
        <p:nvSpPr>
          <p:cNvPr id="22" name="Text 19"/>
          <p:cNvSpPr/>
          <p:nvPr/>
        </p:nvSpPr>
        <p:spPr>
          <a:xfrm>
            <a:off x="9390888" y="3108960"/>
            <a:ext cx="1078992" cy="384048"/>
          </a:xfrm>
          <a:prstGeom prst="rect">
            <a:avLst/>
          </a:prstGeom>
          <a:noFill/>
          <a:ln/>
        </p:spPr>
        <p:txBody>
          <a:bodyPr wrap="square" lIns="0" tIns="0" rIns="0" bIns="0" rtlCol="0" anchor="ctr"/>
          <a:lstStyle/>
          <a:p>
            <a:pPr marL="0" indent="0" algn="r">
              <a:buNone/>
            </a:pPr>
            <a:r>
              <a:rPr lang="en-US" sz="1250" b="1" dirty="0">
                <a:solidFill>
                  <a:srgbClr val="16261E"/>
                </a:solidFill>
                <a:latin typeface="Calibri" pitchFamily="34" charset="0"/>
                <a:ea typeface="Calibri" pitchFamily="34" charset="-122"/>
                <a:cs typeface="Calibri" pitchFamily="34" charset="-120"/>
              </a:rPr>
              <a:t>0.890</a:t>
            </a:r>
            <a:endParaRPr lang="en-US" sz="1250" dirty="0"/>
          </a:p>
        </p:txBody>
      </p:sp>
      <p:sp>
        <p:nvSpPr>
          <p:cNvPr id="23" name="Text 20"/>
          <p:cNvSpPr/>
          <p:nvPr/>
        </p:nvSpPr>
        <p:spPr>
          <a:xfrm>
            <a:off x="10506456" y="3108960"/>
            <a:ext cx="1115568" cy="384048"/>
          </a:xfrm>
          <a:prstGeom prst="rect">
            <a:avLst/>
          </a:prstGeom>
          <a:noFill/>
          <a:ln/>
        </p:spPr>
        <p:txBody>
          <a:bodyPr wrap="square" lIns="0" tIns="0" rIns="0" bIns="0" rtlCol="0" anchor="ctr"/>
          <a:lstStyle/>
          <a:p>
            <a:pPr marL="0" indent="0" algn="r">
              <a:buNone/>
            </a:pPr>
            <a:r>
              <a:rPr lang="en-US" sz="1250" b="1" dirty="0">
                <a:solidFill>
                  <a:srgbClr val="16261E"/>
                </a:solidFill>
                <a:latin typeface="Calibri" pitchFamily="34" charset="0"/>
                <a:ea typeface="Calibri" pitchFamily="34" charset="-122"/>
                <a:cs typeface="Calibri" pitchFamily="34" charset="-120"/>
              </a:rPr>
              <a:t>0.270</a:t>
            </a:r>
            <a:endParaRPr lang="en-US" sz="1250" dirty="0"/>
          </a:p>
        </p:txBody>
      </p:sp>
      <p:sp>
        <p:nvSpPr>
          <p:cNvPr id="24" name="Text 21"/>
          <p:cNvSpPr/>
          <p:nvPr/>
        </p:nvSpPr>
        <p:spPr>
          <a:xfrm>
            <a:off x="5806440" y="3566160"/>
            <a:ext cx="2240280" cy="384048"/>
          </a:xfrm>
          <a:prstGeom prst="rect">
            <a:avLst/>
          </a:prstGeom>
          <a:noFill/>
          <a:ln/>
        </p:spPr>
        <p:txBody>
          <a:bodyPr wrap="square" lIns="0" tIns="0" rIns="0" bIns="0" rtlCol="0" anchor="ctr"/>
          <a:lstStyle/>
          <a:p>
            <a:pPr marL="0" indent="0" algn="l">
              <a:buNone/>
            </a:pPr>
            <a:r>
              <a:rPr lang="en-US" sz="1250" dirty="0">
                <a:solidFill>
                  <a:srgbClr val="5F6B64"/>
                </a:solidFill>
                <a:latin typeface="Calibri" pitchFamily="34" charset="0"/>
                <a:ea typeface="Calibri" pitchFamily="34" charset="-122"/>
                <a:cs typeface="Calibri" pitchFamily="34" charset="-120"/>
              </a:rPr>
              <a:t>Gradient Boosting</a:t>
            </a:r>
            <a:endParaRPr lang="en-US" sz="1250" dirty="0"/>
          </a:p>
        </p:txBody>
      </p:sp>
      <p:sp>
        <p:nvSpPr>
          <p:cNvPr id="25" name="Text 22"/>
          <p:cNvSpPr/>
          <p:nvPr/>
        </p:nvSpPr>
        <p:spPr>
          <a:xfrm>
            <a:off x="8092440" y="3566160"/>
            <a:ext cx="1261872" cy="384048"/>
          </a:xfrm>
          <a:prstGeom prst="rect">
            <a:avLst/>
          </a:prstGeom>
          <a:noFill/>
          <a:ln/>
        </p:spPr>
        <p:txBody>
          <a:bodyPr wrap="square" lIns="0" tIns="0" rIns="0" bIns="0" rtlCol="0" anchor="ctr"/>
          <a:lstStyle/>
          <a:p>
            <a:pPr marL="0" indent="0" algn="r">
              <a:buNone/>
            </a:pPr>
            <a:r>
              <a:rPr lang="en-US" sz="1250" dirty="0">
                <a:solidFill>
                  <a:srgbClr val="5F6B64"/>
                </a:solidFill>
                <a:latin typeface="Calibri" pitchFamily="34" charset="0"/>
                <a:ea typeface="Calibri" pitchFamily="34" charset="-122"/>
                <a:cs typeface="Calibri" pitchFamily="34" charset="-120"/>
              </a:rPr>
              <a:t>0.885 ± 0.042</a:t>
            </a:r>
            <a:endParaRPr lang="en-US" sz="1250" dirty="0"/>
          </a:p>
        </p:txBody>
      </p:sp>
      <p:sp>
        <p:nvSpPr>
          <p:cNvPr id="26" name="Text 23"/>
          <p:cNvSpPr/>
          <p:nvPr/>
        </p:nvSpPr>
        <p:spPr>
          <a:xfrm>
            <a:off x="9390888" y="3566160"/>
            <a:ext cx="1078992" cy="384048"/>
          </a:xfrm>
          <a:prstGeom prst="rect">
            <a:avLst/>
          </a:prstGeom>
          <a:noFill/>
          <a:ln/>
        </p:spPr>
        <p:txBody>
          <a:bodyPr wrap="square" lIns="0" tIns="0" rIns="0" bIns="0" rtlCol="0" anchor="ctr"/>
          <a:lstStyle/>
          <a:p>
            <a:pPr marL="0" indent="0" algn="r">
              <a:buNone/>
            </a:pPr>
            <a:r>
              <a:rPr lang="en-US" sz="1250" dirty="0">
                <a:solidFill>
                  <a:srgbClr val="5F6B64"/>
                </a:solidFill>
                <a:latin typeface="Calibri" pitchFamily="34" charset="0"/>
                <a:ea typeface="Calibri" pitchFamily="34" charset="-122"/>
                <a:cs typeface="Calibri" pitchFamily="34" charset="-120"/>
              </a:rPr>
              <a:t>0.874</a:t>
            </a:r>
            <a:endParaRPr lang="en-US" sz="1250" dirty="0"/>
          </a:p>
        </p:txBody>
      </p:sp>
      <p:sp>
        <p:nvSpPr>
          <p:cNvPr id="27" name="Text 24"/>
          <p:cNvSpPr/>
          <p:nvPr/>
        </p:nvSpPr>
        <p:spPr>
          <a:xfrm>
            <a:off x="10506456" y="3566160"/>
            <a:ext cx="1115568" cy="384048"/>
          </a:xfrm>
          <a:prstGeom prst="rect">
            <a:avLst/>
          </a:prstGeom>
          <a:noFill/>
          <a:ln/>
        </p:spPr>
        <p:txBody>
          <a:bodyPr wrap="square" lIns="0" tIns="0" rIns="0" bIns="0" rtlCol="0" anchor="ctr"/>
          <a:lstStyle/>
          <a:p>
            <a:pPr marL="0" indent="0" algn="r">
              <a:buNone/>
            </a:pPr>
            <a:r>
              <a:rPr lang="en-US" sz="1250" dirty="0">
                <a:solidFill>
                  <a:srgbClr val="5F6B64"/>
                </a:solidFill>
                <a:latin typeface="Calibri" pitchFamily="34" charset="0"/>
                <a:ea typeface="Calibri" pitchFamily="34" charset="-122"/>
                <a:cs typeface="Calibri" pitchFamily="34" charset="-120"/>
              </a:rPr>
              <a:t>0.285</a:t>
            </a:r>
            <a:endParaRPr lang="en-US" sz="1250" dirty="0"/>
          </a:p>
        </p:txBody>
      </p:sp>
      <p:sp>
        <p:nvSpPr>
          <p:cNvPr id="28" name="Text 25"/>
          <p:cNvSpPr/>
          <p:nvPr/>
        </p:nvSpPr>
        <p:spPr>
          <a:xfrm>
            <a:off x="5806440" y="4078224"/>
            <a:ext cx="5815584" cy="274320"/>
          </a:xfrm>
          <a:prstGeom prst="rect">
            <a:avLst/>
          </a:prstGeom>
          <a:noFill/>
          <a:ln/>
        </p:spPr>
        <p:txBody>
          <a:bodyPr wrap="square" lIns="0" tIns="0" rIns="0" bIns="0" rtlCol="0" anchor="ctr"/>
          <a:lstStyle/>
          <a:p>
            <a:pPr marL="0" indent="0">
              <a:buNone/>
            </a:pPr>
            <a:r>
              <a:rPr lang="en-US" sz="1150" b="1" dirty="0">
                <a:solidFill>
                  <a:srgbClr val="16261E"/>
                </a:solidFill>
                <a:latin typeface="Calibri" pitchFamily="34" charset="0"/>
                <a:ea typeface="Calibri" pitchFamily="34" charset="-122"/>
                <a:cs typeface="Calibri" pitchFamily="34" charset="-120"/>
              </a:rPr>
              <a:t>Selected: Random Forest — leads on all four cross-validated metrics.</a:t>
            </a:r>
            <a:endParaRPr lang="en-US" sz="1150" dirty="0"/>
          </a:p>
        </p:txBody>
      </p:sp>
      <p:sp>
        <p:nvSpPr>
          <p:cNvPr id="29" name="Shape 26"/>
          <p:cNvSpPr/>
          <p:nvPr/>
        </p:nvSpPr>
        <p:spPr>
          <a:xfrm>
            <a:off x="5678424" y="4462272"/>
            <a:ext cx="5998464" cy="1481328"/>
          </a:xfrm>
          <a:prstGeom prst="roundRect">
            <a:avLst>
              <a:gd name="adj" fmla="val 5556"/>
            </a:avLst>
          </a:prstGeom>
          <a:solidFill>
            <a:srgbClr val="F1F4F1"/>
          </a:solidFill>
          <a:ln w="12700">
            <a:solidFill>
              <a:srgbClr val="F1F4F1"/>
            </a:solidFill>
            <a:prstDash val="solid"/>
          </a:ln>
          <a:effectLst>
            <a:outerShdw blurRad="127000" dist="25400" dir="5400000" algn="bl" rotWithShape="0">
              <a:srgbClr val="12201A">
                <a:alpha val="13000"/>
              </a:srgbClr>
            </a:outerShdw>
          </a:effectLst>
        </p:spPr>
        <p:txBody>
          <a:bodyPr/>
          <a:lstStyle/>
          <a:p>
            <a:endParaRPr lang="en-LK"/>
          </a:p>
        </p:txBody>
      </p:sp>
      <p:sp>
        <p:nvSpPr>
          <p:cNvPr id="30" name="Text 27"/>
          <p:cNvSpPr/>
          <p:nvPr/>
        </p:nvSpPr>
        <p:spPr>
          <a:xfrm>
            <a:off x="5952744" y="4608576"/>
            <a:ext cx="5303520" cy="237744"/>
          </a:xfrm>
          <a:prstGeom prst="rect">
            <a:avLst/>
          </a:prstGeom>
          <a:noFill/>
          <a:ln/>
        </p:spPr>
        <p:txBody>
          <a:bodyPr wrap="square" lIns="0" tIns="0" rIns="0" bIns="0" rtlCol="0" anchor="ctr"/>
          <a:lstStyle/>
          <a:p>
            <a:pPr marL="0" indent="0">
              <a:buNone/>
            </a:pPr>
            <a:r>
              <a:rPr lang="en-US" sz="1050" b="1" kern="0" spc="110" dirty="0">
                <a:solidFill>
                  <a:srgbClr val="3E6B55"/>
                </a:solidFill>
                <a:latin typeface="Calibri" pitchFamily="34" charset="0"/>
                <a:ea typeface="Calibri" pitchFamily="34" charset="-122"/>
                <a:cs typeface="Calibri" pitchFamily="34" charset="-120"/>
              </a:rPr>
              <a:t>WHY RANDOM FOREST</a:t>
            </a:r>
            <a:endParaRPr lang="en-US" sz="1050" dirty="0"/>
          </a:p>
        </p:txBody>
      </p:sp>
      <p:sp>
        <p:nvSpPr>
          <p:cNvPr id="31" name="Text 28"/>
          <p:cNvSpPr/>
          <p:nvPr/>
        </p:nvSpPr>
        <p:spPr>
          <a:xfrm>
            <a:off x="5952744" y="4882896"/>
            <a:ext cx="5358384" cy="1005840"/>
          </a:xfrm>
          <a:prstGeom prst="rect">
            <a:avLst/>
          </a:prstGeom>
          <a:noFill/>
          <a:ln/>
        </p:spPr>
        <p:txBody>
          <a:bodyPr wrap="square" lIns="0" tIns="0" rIns="0" bIns="0" rtlCol="0" anchor="ctr"/>
          <a:lstStyle/>
          <a:p>
            <a:pPr marL="177800" indent="-177800">
              <a:lnSpc>
                <a:spcPts val="1300"/>
              </a:lnSpc>
              <a:spcAft>
                <a:spcPts val="700"/>
              </a:spcAft>
              <a:buSzPct val="100000"/>
              <a:buChar char="•"/>
            </a:pPr>
            <a:r>
              <a:rPr lang="en-US" sz="1050" dirty="0">
                <a:solidFill>
                  <a:srgbClr val="5F6B64"/>
                </a:solidFill>
                <a:latin typeface="Calibri" pitchFamily="34" charset="0"/>
                <a:ea typeface="Calibri" pitchFamily="34" charset="-122"/>
                <a:cs typeface="Calibri" pitchFamily="34" charset="-120"/>
              </a:rPr>
              <a:t>Selection is made on grouped cross-validation, where every configuration is tested exactly once — a far more stable estimate than any single partition.</a:t>
            </a:r>
            <a:endParaRPr lang="en-US" sz="1050" dirty="0"/>
          </a:p>
          <a:p>
            <a:pPr marL="177800" indent="-177800">
              <a:lnSpc>
                <a:spcPts val="1300"/>
              </a:lnSpc>
              <a:spcAft>
                <a:spcPts val="700"/>
              </a:spcAft>
              <a:buSzPct val="100000"/>
              <a:buChar char="•"/>
            </a:pPr>
            <a:r>
              <a:rPr lang="en-US" sz="1050" dirty="0">
                <a:solidFill>
                  <a:srgbClr val="5F6B64"/>
                </a:solidFill>
                <a:latin typeface="Calibri" pitchFamily="34" charset="0"/>
                <a:ea typeface="Calibri" pitchFamily="34" charset="-122"/>
                <a:cs typeface="Calibri" pitchFamily="34" charset="-120"/>
              </a:rPr>
              <a:t>Both ensembles separate cleanly from Decision Tree (p = 0.0016) and Linear Regression (p = 0.0001) on runtime MAE, and Random Forest leads Gradient Boosting on all four cross-validated metrics.</a:t>
            </a:r>
            <a:endParaRPr lang="en-US" sz="1050" dirty="0"/>
          </a:p>
        </p:txBody>
      </p:sp>
      <p:sp>
        <p:nvSpPr>
          <p:cNvPr id="33" name="Text 30"/>
          <p:cNvSpPr/>
          <p:nvPr/>
        </p:nvSpPr>
        <p:spPr>
          <a:xfrm>
            <a:off x="10984687" y="6382512"/>
            <a:ext cx="640080" cy="256032"/>
          </a:xfrm>
          <a:prstGeom prst="rect">
            <a:avLst/>
          </a:prstGeom>
          <a:noFill/>
          <a:ln/>
        </p:spPr>
        <p:txBody>
          <a:bodyPr wrap="square" lIns="0" tIns="0" rIns="0" bIns="0" rtlCol="0" anchor="ctr"/>
          <a:lstStyle/>
          <a:p>
            <a:pPr marL="0" indent="0" algn="r">
              <a:buNone/>
            </a:pPr>
            <a:r>
              <a:rPr lang="en-US" sz="1050" dirty="0">
                <a:solidFill>
                  <a:srgbClr val="96A29B"/>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0515600" cy="237744"/>
          </a:xfrm>
          <a:prstGeom prst="rect">
            <a:avLst/>
          </a:prstGeom>
          <a:noFill/>
          <a:ln/>
        </p:spPr>
        <p:txBody>
          <a:bodyPr wrap="square" lIns="0" tIns="0" rIns="0" bIns="0" rtlCol="0" anchor="ctr"/>
          <a:lstStyle/>
          <a:p>
            <a:pPr marL="0" indent="0">
              <a:buNone/>
            </a:pPr>
            <a:r>
              <a:rPr lang="en-US" sz="1150" b="1" kern="0" spc="160" dirty="0">
                <a:solidFill>
                  <a:srgbClr val="3E6B55"/>
                </a:solidFill>
                <a:latin typeface="Calibri" pitchFamily="34" charset="0"/>
                <a:ea typeface="Calibri" pitchFamily="34" charset="-122"/>
                <a:cs typeface="Calibri" pitchFamily="34" charset="-120"/>
              </a:rPr>
              <a:t>RESULTS · RECOMMENDATION QUALITY</a:t>
            </a:r>
            <a:endParaRPr lang="en-US" sz="1150" dirty="0"/>
          </a:p>
        </p:txBody>
      </p:sp>
      <p:sp>
        <p:nvSpPr>
          <p:cNvPr id="3" name="Text 1"/>
          <p:cNvSpPr/>
          <p:nvPr/>
        </p:nvSpPr>
        <p:spPr>
          <a:xfrm>
            <a:off x="566928" y="576072"/>
            <a:ext cx="11064240" cy="603504"/>
          </a:xfrm>
          <a:prstGeom prst="rect">
            <a:avLst/>
          </a:prstGeom>
          <a:noFill/>
          <a:ln/>
        </p:spPr>
        <p:txBody>
          <a:bodyPr wrap="square" lIns="0" tIns="0" rIns="0" bIns="0" rtlCol="0" anchor="ctr"/>
          <a:lstStyle/>
          <a:p>
            <a:pPr marL="0" indent="0">
              <a:buNone/>
            </a:pPr>
            <a:r>
              <a:rPr lang="en-US" sz="3100" b="1" dirty="0">
                <a:solidFill>
                  <a:srgbClr val="16261E"/>
                </a:solidFill>
                <a:latin typeface="Cambria" pitchFamily="34" charset="0"/>
                <a:ea typeface="Cambria" pitchFamily="34" charset="-122"/>
                <a:cs typeface="Cambria" pitchFamily="34" charset="-120"/>
              </a:rPr>
              <a:t>0.905 top-1 accuracy, and the lowest SLA violation rate</a:t>
            </a:r>
            <a:endParaRPr lang="en-US" sz="3100" dirty="0"/>
          </a:p>
        </p:txBody>
      </p:sp>
      <p:graphicFrame>
        <p:nvGraphicFramePr>
          <p:cNvPr id="4" name="Chart 0"/>
          <p:cNvGraphicFramePr/>
          <p:nvPr/>
        </p:nvGraphicFramePr>
        <p:xfrm>
          <a:off x="420624" y="1572768"/>
          <a:ext cx="6172200" cy="2999232"/>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66928" y="4681728"/>
            <a:ext cx="5943600" cy="237744"/>
          </a:xfrm>
          <a:prstGeom prst="rect">
            <a:avLst/>
          </a:prstGeom>
          <a:noFill/>
          <a:ln/>
        </p:spPr>
        <p:txBody>
          <a:bodyPr wrap="square" lIns="0" tIns="0" rIns="0" bIns="0" rtlCol="0" anchor="ctr"/>
          <a:lstStyle/>
          <a:p>
            <a:pPr marL="0" indent="0">
              <a:buNone/>
            </a:pPr>
            <a:r>
              <a:rPr lang="en-US" sz="1050" b="1" kern="0" spc="110" dirty="0">
                <a:solidFill>
                  <a:srgbClr val="3E6B55"/>
                </a:solidFill>
                <a:latin typeface="Calibri" pitchFamily="34" charset="0"/>
                <a:ea typeface="Calibri" pitchFamily="34" charset="-122"/>
                <a:cs typeface="Calibri" pitchFamily="34" charset="-120"/>
              </a:rPr>
              <a:t>SLA TIGHTNESS SWEEP — RANDOM FOREST</a:t>
            </a:r>
            <a:endParaRPr lang="en-US" sz="1050" dirty="0"/>
          </a:p>
        </p:txBody>
      </p:sp>
      <p:sp>
        <p:nvSpPr>
          <p:cNvPr id="6" name="Text 3"/>
          <p:cNvSpPr/>
          <p:nvPr/>
        </p:nvSpPr>
        <p:spPr>
          <a:xfrm>
            <a:off x="566928" y="4974336"/>
            <a:ext cx="1554480" cy="237744"/>
          </a:xfrm>
          <a:prstGeom prst="rect">
            <a:avLst/>
          </a:prstGeom>
          <a:noFill/>
          <a:ln/>
        </p:spPr>
        <p:txBody>
          <a:bodyPr wrap="square" lIns="0" tIns="0" rIns="0" bIns="0" rtlCol="0" anchor="ctr"/>
          <a:lstStyle/>
          <a:p>
            <a:pPr marL="0" indent="0" algn="l">
              <a:buNone/>
            </a:pPr>
            <a:r>
              <a:rPr lang="en-US" sz="1000" b="1" dirty="0">
                <a:solidFill>
                  <a:srgbClr val="5F6B64"/>
                </a:solidFill>
                <a:latin typeface="Calibri" pitchFamily="34" charset="0"/>
                <a:ea typeface="Calibri" pitchFamily="34" charset="-122"/>
                <a:cs typeface="Calibri" pitchFamily="34" charset="-120"/>
              </a:rPr>
              <a:t>SLA level</a:t>
            </a:r>
            <a:endParaRPr lang="en-US" sz="1000" dirty="0"/>
          </a:p>
        </p:txBody>
      </p:sp>
      <p:sp>
        <p:nvSpPr>
          <p:cNvPr id="7" name="Text 4"/>
          <p:cNvSpPr/>
          <p:nvPr/>
        </p:nvSpPr>
        <p:spPr>
          <a:xfrm>
            <a:off x="2167128" y="4974336"/>
            <a:ext cx="1143000" cy="237744"/>
          </a:xfrm>
          <a:prstGeom prst="rect">
            <a:avLst/>
          </a:prstGeom>
          <a:noFill/>
          <a:ln/>
        </p:spPr>
        <p:txBody>
          <a:bodyPr wrap="square" lIns="0" tIns="0" rIns="0" bIns="0" rtlCol="0" anchor="ctr"/>
          <a:lstStyle/>
          <a:p>
            <a:pPr marL="0" indent="0" algn="r">
              <a:buNone/>
            </a:pPr>
            <a:r>
              <a:rPr lang="en-US" sz="1000" b="1" dirty="0">
                <a:solidFill>
                  <a:srgbClr val="5F6B64"/>
                </a:solidFill>
                <a:latin typeface="Calibri" pitchFamily="34" charset="0"/>
                <a:ea typeface="Calibri" pitchFamily="34" charset="-122"/>
                <a:cs typeface="Calibri" pitchFamily="34" charset="-120"/>
              </a:rPr>
              <a:t>Top-1</a:t>
            </a:r>
            <a:endParaRPr lang="en-US" sz="1000" dirty="0"/>
          </a:p>
        </p:txBody>
      </p:sp>
      <p:sp>
        <p:nvSpPr>
          <p:cNvPr id="8" name="Text 5"/>
          <p:cNvSpPr/>
          <p:nvPr/>
        </p:nvSpPr>
        <p:spPr>
          <a:xfrm>
            <a:off x="3401568" y="4974336"/>
            <a:ext cx="1417320" cy="237744"/>
          </a:xfrm>
          <a:prstGeom prst="rect">
            <a:avLst/>
          </a:prstGeom>
          <a:noFill/>
          <a:ln/>
        </p:spPr>
        <p:txBody>
          <a:bodyPr wrap="square" lIns="0" tIns="0" rIns="0" bIns="0" rtlCol="0" anchor="ctr"/>
          <a:lstStyle/>
          <a:p>
            <a:pPr marL="0" indent="0" algn="r">
              <a:buNone/>
            </a:pPr>
            <a:r>
              <a:rPr lang="en-US" sz="1000" b="1" dirty="0">
                <a:solidFill>
                  <a:srgbClr val="5F6B64"/>
                </a:solidFill>
                <a:latin typeface="Calibri" pitchFamily="34" charset="0"/>
                <a:ea typeface="Calibri" pitchFamily="34" charset="-122"/>
                <a:cs typeface="Calibri" pitchFamily="34" charset="-120"/>
              </a:rPr>
              <a:t>SLA violation</a:t>
            </a:r>
            <a:endParaRPr lang="en-US" sz="1000" dirty="0"/>
          </a:p>
        </p:txBody>
      </p:sp>
      <p:sp>
        <p:nvSpPr>
          <p:cNvPr id="9" name="Text 6"/>
          <p:cNvSpPr/>
          <p:nvPr/>
        </p:nvSpPr>
        <p:spPr>
          <a:xfrm>
            <a:off x="4910328" y="4974336"/>
            <a:ext cx="1691640" cy="237744"/>
          </a:xfrm>
          <a:prstGeom prst="rect">
            <a:avLst/>
          </a:prstGeom>
          <a:noFill/>
          <a:ln/>
        </p:spPr>
        <p:txBody>
          <a:bodyPr wrap="square" lIns="0" tIns="0" rIns="0" bIns="0" rtlCol="0" anchor="ctr"/>
          <a:lstStyle/>
          <a:p>
            <a:pPr marL="0" indent="0" algn="r">
              <a:buNone/>
            </a:pPr>
            <a:r>
              <a:rPr lang="en-US" sz="1000" b="1" dirty="0">
                <a:solidFill>
                  <a:srgbClr val="5F6B64"/>
                </a:solidFill>
                <a:latin typeface="Calibri" pitchFamily="34" charset="0"/>
                <a:ea typeface="Calibri" pitchFamily="34" charset="-122"/>
                <a:cs typeface="Calibri" pitchFamily="34" charset="-120"/>
              </a:rPr>
              <a:t>Mean cost regret</a:t>
            </a:r>
            <a:endParaRPr lang="en-US" sz="1000" dirty="0"/>
          </a:p>
        </p:txBody>
      </p:sp>
      <p:sp>
        <p:nvSpPr>
          <p:cNvPr id="10" name="Text 7"/>
          <p:cNvSpPr/>
          <p:nvPr/>
        </p:nvSpPr>
        <p:spPr>
          <a:xfrm>
            <a:off x="566928" y="5266944"/>
            <a:ext cx="1554480" cy="292608"/>
          </a:xfrm>
          <a:prstGeom prst="rect">
            <a:avLst/>
          </a:prstGeom>
          <a:noFill/>
          <a:ln/>
        </p:spPr>
        <p:txBody>
          <a:bodyPr wrap="square" lIns="0" tIns="0" rIns="0" bIns="0" rtlCol="0" anchor="ctr"/>
          <a:lstStyle/>
          <a:p>
            <a:pPr marL="0" indent="0" algn="l">
              <a:buNone/>
            </a:pPr>
            <a:r>
              <a:rPr lang="en-US" sz="1150" dirty="0">
                <a:solidFill>
                  <a:srgbClr val="16261E"/>
                </a:solidFill>
                <a:latin typeface="Calibri" pitchFamily="34" charset="0"/>
                <a:ea typeface="Calibri" pitchFamily="34" charset="-122"/>
                <a:cs typeface="Calibri" pitchFamily="34" charset="-120"/>
              </a:rPr>
              <a:t>Tight (25th pct)</a:t>
            </a:r>
            <a:endParaRPr lang="en-US" sz="1150" dirty="0"/>
          </a:p>
        </p:txBody>
      </p:sp>
      <p:sp>
        <p:nvSpPr>
          <p:cNvPr id="11" name="Text 8"/>
          <p:cNvSpPr/>
          <p:nvPr/>
        </p:nvSpPr>
        <p:spPr>
          <a:xfrm>
            <a:off x="2167128" y="5266944"/>
            <a:ext cx="1143000" cy="292608"/>
          </a:xfrm>
          <a:prstGeom prst="rect">
            <a:avLst/>
          </a:prstGeom>
          <a:noFill/>
          <a:ln/>
        </p:spPr>
        <p:txBody>
          <a:bodyPr wrap="square" lIns="0" tIns="0" rIns="0" bIns="0" rtlCol="0" anchor="ctr"/>
          <a:lstStyle/>
          <a:p>
            <a:pPr marL="0" indent="0" algn="r">
              <a:buNone/>
            </a:pPr>
            <a:r>
              <a:rPr lang="en-US" sz="1150" dirty="0">
                <a:solidFill>
                  <a:srgbClr val="16261E"/>
                </a:solidFill>
                <a:latin typeface="Calibri" pitchFamily="34" charset="0"/>
                <a:ea typeface="Calibri" pitchFamily="34" charset="-122"/>
                <a:cs typeface="Calibri" pitchFamily="34" charset="-120"/>
              </a:rPr>
              <a:t>0.810</a:t>
            </a:r>
            <a:endParaRPr lang="en-US" sz="1150" dirty="0"/>
          </a:p>
        </p:txBody>
      </p:sp>
      <p:sp>
        <p:nvSpPr>
          <p:cNvPr id="12" name="Text 9"/>
          <p:cNvSpPr/>
          <p:nvPr/>
        </p:nvSpPr>
        <p:spPr>
          <a:xfrm>
            <a:off x="3401568" y="5266944"/>
            <a:ext cx="1417320" cy="292608"/>
          </a:xfrm>
          <a:prstGeom prst="rect">
            <a:avLst/>
          </a:prstGeom>
          <a:noFill/>
          <a:ln/>
        </p:spPr>
        <p:txBody>
          <a:bodyPr wrap="square" lIns="0" tIns="0" rIns="0" bIns="0" rtlCol="0" anchor="ctr"/>
          <a:lstStyle/>
          <a:p>
            <a:pPr marL="0" indent="0" algn="r">
              <a:buNone/>
            </a:pPr>
            <a:r>
              <a:rPr lang="en-US" sz="1150" dirty="0">
                <a:solidFill>
                  <a:srgbClr val="16261E"/>
                </a:solidFill>
                <a:latin typeface="Calibri" pitchFamily="34" charset="0"/>
                <a:ea typeface="Calibri" pitchFamily="34" charset="-122"/>
                <a:cs typeface="Calibri" pitchFamily="34" charset="-120"/>
              </a:rPr>
              <a:t>0.143</a:t>
            </a:r>
            <a:endParaRPr lang="en-US" sz="1150" dirty="0"/>
          </a:p>
        </p:txBody>
      </p:sp>
      <p:sp>
        <p:nvSpPr>
          <p:cNvPr id="13" name="Text 10"/>
          <p:cNvSpPr/>
          <p:nvPr/>
        </p:nvSpPr>
        <p:spPr>
          <a:xfrm>
            <a:off x="4910328" y="5266944"/>
            <a:ext cx="1691640" cy="292608"/>
          </a:xfrm>
          <a:prstGeom prst="rect">
            <a:avLst/>
          </a:prstGeom>
          <a:noFill/>
          <a:ln/>
        </p:spPr>
        <p:txBody>
          <a:bodyPr wrap="square" lIns="0" tIns="0" rIns="0" bIns="0" rtlCol="0" anchor="ctr"/>
          <a:lstStyle/>
          <a:p>
            <a:pPr marL="0" indent="0" algn="r">
              <a:buNone/>
            </a:pPr>
            <a:r>
              <a:rPr lang="en-US" sz="1150" dirty="0">
                <a:solidFill>
                  <a:srgbClr val="16261E"/>
                </a:solidFill>
                <a:latin typeface="Calibri" pitchFamily="34" charset="0"/>
                <a:ea typeface="Calibri" pitchFamily="34" charset="-122"/>
                <a:cs typeface="Calibri" pitchFamily="34" charset="-120"/>
              </a:rPr>
              <a:t>+16.56%</a:t>
            </a:r>
            <a:endParaRPr lang="en-US" sz="1150" dirty="0"/>
          </a:p>
        </p:txBody>
      </p:sp>
      <p:sp>
        <p:nvSpPr>
          <p:cNvPr id="14" name="Text 11"/>
          <p:cNvSpPr/>
          <p:nvPr/>
        </p:nvSpPr>
        <p:spPr>
          <a:xfrm>
            <a:off x="566928" y="5614416"/>
            <a:ext cx="1554480" cy="292608"/>
          </a:xfrm>
          <a:prstGeom prst="rect">
            <a:avLst/>
          </a:prstGeom>
          <a:noFill/>
          <a:ln/>
        </p:spPr>
        <p:txBody>
          <a:bodyPr wrap="square" lIns="0" tIns="0" rIns="0" bIns="0" rtlCol="0" anchor="ctr"/>
          <a:lstStyle/>
          <a:p>
            <a:pPr marL="0" indent="0" algn="l">
              <a:buNone/>
            </a:pPr>
            <a:r>
              <a:rPr lang="en-US" sz="1150" dirty="0">
                <a:solidFill>
                  <a:srgbClr val="16261E"/>
                </a:solidFill>
                <a:latin typeface="Calibri" pitchFamily="34" charset="0"/>
                <a:ea typeface="Calibri" pitchFamily="34" charset="-122"/>
                <a:cs typeface="Calibri" pitchFamily="34" charset="-120"/>
              </a:rPr>
              <a:t>Medium (50th pct)</a:t>
            </a:r>
            <a:endParaRPr lang="en-US" sz="1150" dirty="0"/>
          </a:p>
        </p:txBody>
      </p:sp>
      <p:sp>
        <p:nvSpPr>
          <p:cNvPr id="15" name="Text 12"/>
          <p:cNvSpPr/>
          <p:nvPr/>
        </p:nvSpPr>
        <p:spPr>
          <a:xfrm>
            <a:off x="2167128" y="5614416"/>
            <a:ext cx="1143000" cy="292608"/>
          </a:xfrm>
          <a:prstGeom prst="rect">
            <a:avLst/>
          </a:prstGeom>
          <a:noFill/>
          <a:ln/>
        </p:spPr>
        <p:txBody>
          <a:bodyPr wrap="square" lIns="0" tIns="0" rIns="0" bIns="0" rtlCol="0" anchor="ctr"/>
          <a:lstStyle/>
          <a:p>
            <a:pPr marL="0" indent="0" algn="r">
              <a:buNone/>
            </a:pPr>
            <a:r>
              <a:rPr lang="en-US" sz="1150" dirty="0">
                <a:solidFill>
                  <a:srgbClr val="16261E"/>
                </a:solidFill>
                <a:latin typeface="Calibri" pitchFamily="34" charset="0"/>
                <a:ea typeface="Calibri" pitchFamily="34" charset="-122"/>
                <a:cs typeface="Calibri" pitchFamily="34" charset="-120"/>
              </a:rPr>
              <a:t>0.905</a:t>
            </a:r>
            <a:endParaRPr lang="en-US" sz="1150" dirty="0"/>
          </a:p>
        </p:txBody>
      </p:sp>
      <p:sp>
        <p:nvSpPr>
          <p:cNvPr id="16" name="Text 13"/>
          <p:cNvSpPr/>
          <p:nvPr/>
        </p:nvSpPr>
        <p:spPr>
          <a:xfrm>
            <a:off x="3401568" y="5614416"/>
            <a:ext cx="1417320" cy="292608"/>
          </a:xfrm>
          <a:prstGeom prst="rect">
            <a:avLst/>
          </a:prstGeom>
          <a:noFill/>
          <a:ln/>
        </p:spPr>
        <p:txBody>
          <a:bodyPr wrap="square" lIns="0" tIns="0" rIns="0" bIns="0" rtlCol="0" anchor="ctr"/>
          <a:lstStyle/>
          <a:p>
            <a:pPr marL="0" indent="0" algn="r">
              <a:buNone/>
            </a:pPr>
            <a:r>
              <a:rPr lang="en-US" sz="1150" dirty="0">
                <a:solidFill>
                  <a:srgbClr val="16261E"/>
                </a:solidFill>
                <a:latin typeface="Calibri" pitchFamily="34" charset="0"/>
                <a:ea typeface="Calibri" pitchFamily="34" charset="-122"/>
                <a:cs typeface="Calibri" pitchFamily="34" charset="-120"/>
              </a:rPr>
              <a:t>0.095</a:t>
            </a:r>
            <a:endParaRPr lang="en-US" sz="1150" dirty="0"/>
          </a:p>
        </p:txBody>
      </p:sp>
      <p:sp>
        <p:nvSpPr>
          <p:cNvPr id="17" name="Text 14"/>
          <p:cNvSpPr/>
          <p:nvPr/>
        </p:nvSpPr>
        <p:spPr>
          <a:xfrm>
            <a:off x="4910328" y="5614416"/>
            <a:ext cx="1691640" cy="292608"/>
          </a:xfrm>
          <a:prstGeom prst="rect">
            <a:avLst/>
          </a:prstGeom>
          <a:noFill/>
          <a:ln/>
        </p:spPr>
        <p:txBody>
          <a:bodyPr wrap="square" lIns="0" tIns="0" rIns="0" bIns="0" rtlCol="0" anchor="ctr"/>
          <a:lstStyle/>
          <a:p>
            <a:pPr marL="0" indent="0" algn="r">
              <a:buNone/>
            </a:pPr>
            <a:r>
              <a:rPr lang="en-US" sz="1150" dirty="0">
                <a:solidFill>
                  <a:srgbClr val="16261E"/>
                </a:solidFill>
                <a:latin typeface="Calibri" pitchFamily="34" charset="0"/>
                <a:ea typeface="Calibri" pitchFamily="34" charset="-122"/>
                <a:cs typeface="Calibri" pitchFamily="34" charset="-120"/>
              </a:rPr>
              <a:t>−0.37%</a:t>
            </a:r>
            <a:endParaRPr lang="en-US" sz="1150" dirty="0"/>
          </a:p>
        </p:txBody>
      </p:sp>
      <p:sp>
        <p:nvSpPr>
          <p:cNvPr id="18" name="Text 15"/>
          <p:cNvSpPr/>
          <p:nvPr/>
        </p:nvSpPr>
        <p:spPr>
          <a:xfrm>
            <a:off x="566928" y="5961888"/>
            <a:ext cx="1554480" cy="292608"/>
          </a:xfrm>
          <a:prstGeom prst="rect">
            <a:avLst/>
          </a:prstGeom>
          <a:noFill/>
          <a:ln/>
        </p:spPr>
        <p:txBody>
          <a:bodyPr wrap="square" lIns="0" tIns="0" rIns="0" bIns="0" rtlCol="0" anchor="ctr"/>
          <a:lstStyle/>
          <a:p>
            <a:pPr marL="0" indent="0" algn="l">
              <a:buNone/>
            </a:pPr>
            <a:r>
              <a:rPr lang="en-US" sz="1150" b="1" dirty="0">
                <a:solidFill>
                  <a:srgbClr val="16261E"/>
                </a:solidFill>
                <a:latin typeface="Calibri" pitchFamily="34" charset="0"/>
                <a:ea typeface="Calibri" pitchFamily="34" charset="-122"/>
                <a:cs typeface="Calibri" pitchFamily="34" charset="-120"/>
              </a:rPr>
              <a:t>Loose (75th pct)</a:t>
            </a:r>
            <a:endParaRPr lang="en-US" sz="1150" dirty="0"/>
          </a:p>
        </p:txBody>
      </p:sp>
      <p:sp>
        <p:nvSpPr>
          <p:cNvPr id="19" name="Text 16"/>
          <p:cNvSpPr/>
          <p:nvPr/>
        </p:nvSpPr>
        <p:spPr>
          <a:xfrm>
            <a:off x="2167128" y="5961888"/>
            <a:ext cx="1143000" cy="292608"/>
          </a:xfrm>
          <a:prstGeom prst="rect">
            <a:avLst/>
          </a:prstGeom>
          <a:noFill/>
          <a:ln/>
        </p:spPr>
        <p:txBody>
          <a:bodyPr wrap="square" lIns="0" tIns="0" rIns="0" bIns="0" rtlCol="0" anchor="ctr"/>
          <a:lstStyle/>
          <a:p>
            <a:pPr marL="0" indent="0" algn="r">
              <a:buNone/>
            </a:pPr>
            <a:r>
              <a:rPr lang="en-US" sz="1150" b="1" dirty="0">
                <a:solidFill>
                  <a:srgbClr val="16261E"/>
                </a:solidFill>
                <a:latin typeface="Calibri" pitchFamily="34" charset="0"/>
                <a:ea typeface="Calibri" pitchFamily="34" charset="-122"/>
                <a:cs typeface="Calibri" pitchFamily="34" charset="-120"/>
              </a:rPr>
              <a:t>0.952</a:t>
            </a:r>
            <a:endParaRPr lang="en-US" sz="1150" dirty="0"/>
          </a:p>
        </p:txBody>
      </p:sp>
      <p:sp>
        <p:nvSpPr>
          <p:cNvPr id="20" name="Text 17"/>
          <p:cNvSpPr/>
          <p:nvPr/>
        </p:nvSpPr>
        <p:spPr>
          <a:xfrm>
            <a:off x="3401568" y="5961888"/>
            <a:ext cx="1417320" cy="292608"/>
          </a:xfrm>
          <a:prstGeom prst="rect">
            <a:avLst/>
          </a:prstGeom>
          <a:noFill/>
          <a:ln/>
        </p:spPr>
        <p:txBody>
          <a:bodyPr wrap="square" lIns="0" tIns="0" rIns="0" bIns="0" rtlCol="0" anchor="ctr"/>
          <a:lstStyle/>
          <a:p>
            <a:pPr marL="0" indent="0" algn="r">
              <a:buNone/>
            </a:pPr>
            <a:r>
              <a:rPr lang="en-US" sz="1150" b="1" dirty="0">
                <a:solidFill>
                  <a:srgbClr val="16261E"/>
                </a:solidFill>
                <a:latin typeface="Calibri" pitchFamily="34" charset="0"/>
                <a:ea typeface="Calibri" pitchFamily="34" charset="-122"/>
                <a:cs typeface="Calibri" pitchFamily="34" charset="-120"/>
              </a:rPr>
              <a:t>0.000</a:t>
            </a:r>
            <a:endParaRPr lang="en-US" sz="1150" dirty="0"/>
          </a:p>
        </p:txBody>
      </p:sp>
      <p:sp>
        <p:nvSpPr>
          <p:cNvPr id="21" name="Text 18"/>
          <p:cNvSpPr/>
          <p:nvPr/>
        </p:nvSpPr>
        <p:spPr>
          <a:xfrm>
            <a:off x="4910328" y="5961888"/>
            <a:ext cx="1691640" cy="292608"/>
          </a:xfrm>
          <a:prstGeom prst="rect">
            <a:avLst/>
          </a:prstGeom>
          <a:noFill/>
          <a:ln/>
        </p:spPr>
        <p:txBody>
          <a:bodyPr wrap="square" lIns="0" tIns="0" rIns="0" bIns="0" rtlCol="0" anchor="ctr"/>
          <a:lstStyle/>
          <a:p>
            <a:pPr marL="0" indent="0" algn="r">
              <a:buNone/>
            </a:pPr>
            <a:r>
              <a:rPr lang="en-US" sz="1150" b="1" dirty="0">
                <a:solidFill>
                  <a:srgbClr val="16261E"/>
                </a:solidFill>
                <a:latin typeface="Calibri" pitchFamily="34" charset="0"/>
                <a:ea typeface="Calibri" pitchFamily="34" charset="-122"/>
                <a:cs typeface="Calibri" pitchFamily="34" charset="-120"/>
              </a:rPr>
              <a:t>+1.07%</a:t>
            </a:r>
            <a:endParaRPr lang="en-US" sz="1150" dirty="0"/>
          </a:p>
        </p:txBody>
      </p:sp>
      <p:sp>
        <p:nvSpPr>
          <p:cNvPr id="22" name="Shape 19"/>
          <p:cNvSpPr/>
          <p:nvPr/>
        </p:nvSpPr>
        <p:spPr>
          <a:xfrm>
            <a:off x="6858000" y="1572768"/>
            <a:ext cx="4764024" cy="2286000"/>
          </a:xfrm>
          <a:prstGeom prst="roundRect">
            <a:avLst>
              <a:gd name="adj" fmla="val 3600"/>
            </a:avLst>
          </a:prstGeom>
          <a:solidFill>
            <a:srgbClr val="F1F4F1"/>
          </a:solidFill>
          <a:ln w="12700">
            <a:solidFill>
              <a:srgbClr val="F1F4F1"/>
            </a:solidFill>
            <a:prstDash val="solid"/>
          </a:ln>
          <a:effectLst>
            <a:outerShdw blurRad="127000" dist="25400" dir="5400000" algn="bl" rotWithShape="0">
              <a:srgbClr val="12201A">
                <a:alpha val="13000"/>
              </a:srgbClr>
            </a:outerShdw>
          </a:effectLst>
        </p:spPr>
        <p:txBody>
          <a:bodyPr/>
          <a:lstStyle/>
          <a:p>
            <a:endParaRPr lang="en-LK"/>
          </a:p>
        </p:txBody>
      </p:sp>
      <p:sp>
        <p:nvSpPr>
          <p:cNvPr id="23" name="Text 20"/>
          <p:cNvSpPr/>
          <p:nvPr/>
        </p:nvSpPr>
        <p:spPr>
          <a:xfrm>
            <a:off x="7132320" y="1737360"/>
            <a:ext cx="4206240" cy="237744"/>
          </a:xfrm>
          <a:prstGeom prst="rect">
            <a:avLst/>
          </a:prstGeom>
          <a:noFill/>
          <a:ln/>
        </p:spPr>
        <p:txBody>
          <a:bodyPr wrap="square" lIns="0" tIns="0" rIns="0" bIns="0" rtlCol="0" anchor="ctr"/>
          <a:lstStyle/>
          <a:p>
            <a:pPr marL="0" indent="0">
              <a:buNone/>
            </a:pPr>
            <a:r>
              <a:rPr lang="en-US" sz="1050" b="1" kern="0" spc="110" dirty="0">
                <a:solidFill>
                  <a:srgbClr val="3E6B55"/>
                </a:solidFill>
                <a:latin typeface="Calibri" pitchFamily="34" charset="0"/>
                <a:ea typeface="Calibri" pitchFamily="34" charset="-122"/>
                <a:cs typeface="Calibri" pitchFamily="34" charset="-120"/>
              </a:rPr>
              <a:t>HOW IT WAS EVALUATED</a:t>
            </a:r>
            <a:endParaRPr lang="en-US" sz="1050" dirty="0"/>
          </a:p>
        </p:txBody>
      </p:sp>
      <p:sp>
        <p:nvSpPr>
          <p:cNvPr id="24" name="Text 21"/>
          <p:cNvSpPr/>
          <p:nvPr/>
        </p:nvSpPr>
        <p:spPr>
          <a:xfrm>
            <a:off x="7132320" y="2011680"/>
            <a:ext cx="4206240" cy="512064"/>
          </a:xfrm>
          <a:prstGeom prst="rect">
            <a:avLst/>
          </a:prstGeom>
          <a:noFill/>
          <a:ln/>
        </p:spPr>
        <p:txBody>
          <a:bodyPr wrap="square" lIns="0" tIns="0" rIns="0" bIns="0" rtlCol="0" anchor="ctr"/>
          <a:lstStyle/>
          <a:p>
            <a:pPr marL="0" indent="0">
              <a:lnSpc>
                <a:spcPts val="1600"/>
              </a:lnSpc>
              <a:buNone/>
            </a:pPr>
            <a:r>
              <a:rPr lang="en-US" sz="1200" b="1" dirty="0">
                <a:solidFill>
                  <a:srgbClr val="16261E"/>
                </a:solidFill>
                <a:latin typeface="Calibri" pitchFamily="34" charset="0"/>
                <a:ea typeface="Calibri" pitchFamily="34" charset="-122"/>
                <a:cs typeface="Calibri" pitchFamily="34" charset="-120"/>
              </a:rPr>
              <a:t>Leave-one-scenario-out across all 21 workload × dataset-size scenarios, against four competing baselines.</a:t>
            </a:r>
            <a:endParaRPr lang="en-US" sz="1200" dirty="0"/>
          </a:p>
        </p:txBody>
      </p:sp>
      <p:sp>
        <p:nvSpPr>
          <p:cNvPr id="25" name="Text 22"/>
          <p:cNvSpPr/>
          <p:nvPr/>
        </p:nvSpPr>
        <p:spPr>
          <a:xfrm>
            <a:off x="7132320" y="2542032"/>
            <a:ext cx="4206240" cy="1207008"/>
          </a:xfrm>
          <a:prstGeom prst="rect">
            <a:avLst/>
          </a:prstGeom>
          <a:noFill/>
          <a:ln/>
        </p:spPr>
        <p:txBody>
          <a:bodyPr wrap="square" lIns="0" tIns="0" rIns="0" bIns="0" rtlCol="0" anchor="ctr"/>
          <a:lstStyle/>
          <a:p>
            <a:pPr marL="0" indent="0">
              <a:lnSpc>
                <a:spcPts val="1350"/>
              </a:lnSpc>
              <a:buNone/>
            </a:pPr>
            <a:r>
              <a:rPr lang="en-US" sz="1050" dirty="0">
                <a:solidFill>
                  <a:srgbClr val="5F6B64"/>
                </a:solidFill>
                <a:latin typeface="Calibri" pitchFamily="34" charset="0"/>
                <a:ea typeface="Calibri" pitchFamily="34" charset="-122"/>
                <a:cs typeface="Calibri" pitchFamily="34" charset="-120"/>
              </a:rPr>
              <a:t>For each held-out scenario the model is trained on the remaining twenty, then must rank roughly thirty-three candidate configurations it has never seen at that size — and is scored against ground truth built from the measured runs. Every method faces the same SLA deadline, so the comparison isolates the selection rule itself.</a:t>
            </a:r>
            <a:endParaRPr lang="en-US" sz="1050" dirty="0"/>
          </a:p>
        </p:txBody>
      </p:sp>
      <p:sp>
        <p:nvSpPr>
          <p:cNvPr id="26" name="Shape 23"/>
          <p:cNvSpPr/>
          <p:nvPr/>
        </p:nvSpPr>
        <p:spPr>
          <a:xfrm>
            <a:off x="6858000" y="4041648"/>
            <a:ext cx="4764024" cy="1737360"/>
          </a:xfrm>
          <a:prstGeom prst="roundRect">
            <a:avLst>
              <a:gd name="adj" fmla="val 4737"/>
            </a:avLst>
          </a:prstGeom>
          <a:solidFill>
            <a:srgbClr val="16261E"/>
          </a:solidFill>
          <a:ln w="12700">
            <a:solidFill>
              <a:srgbClr val="16261E"/>
            </a:solidFill>
            <a:prstDash val="solid"/>
          </a:ln>
          <a:effectLst>
            <a:outerShdw blurRad="127000" dist="25400" dir="5400000" algn="bl" rotWithShape="0">
              <a:srgbClr val="12201A">
                <a:alpha val="13000"/>
              </a:srgbClr>
            </a:outerShdw>
          </a:effectLst>
        </p:spPr>
        <p:txBody>
          <a:bodyPr/>
          <a:lstStyle/>
          <a:p>
            <a:endParaRPr lang="en-LK"/>
          </a:p>
        </p:txBody>
      </p:sp>
      <p:sp>
        <p:nvSpPr>
          <p:cNvPr id="27" name="Text 24"/>
          <p:cNvSpPr/>
          <p:nvPr/>
        </p:nvSpPr>
        <p:spPr>
          <a:xfrm>
            <a:off x="7132320" y="4206240"/>
            <a:ext cx="4206240" cy="237744"/>
          </a:xfrm>
          <a:prstGeom prst="rect">
            <a:avLst/>
          </a:prstGeom>
          <a:noFill/>
          <a:ln/>
        </p:spPr>
        <p:txBody>
          <a:bodyPr wrap="square" lIns="0" tIns="0" rIns="0" bIns="0" rtlCol="0" anchor="ctr"/>
          <a:lstStyle/>
          <a:p>
            <a:pPr marL="0" indent="0">
              <a:buNone/>
            </a:pPr>
            <a:r>
              <a:rPr lang="en-US" sz="1050" b="1" kern="0" spc="110" dirty="0">
                <a:solidFill>
                  <a:srgbClr val="9DC48A"/>
                </a:solidFill>
                <a:latin typeface="Calibri" pitchFamily="34" charset="0"/>
                <a:ea typeface="Calibri" pitchFamily="34" charset="-122"/>
                <a:cs typeface="Calibri" pitchFamily="34" charset="-120"/>
              </a:rPr>
              <a:t>THE RESULT</a:t>
            </a:r>
            <a:endParaRPr lang="en-US" sz="1050" dirty="0"/>
          </a:p>
        </p:txBody>
      </p:sp>
      <p:sp>
        <p:nvSpPr>
          <p:cNvPr id="28" name="Text 25"/>
          <p:cNvSpPr/>
          <p:nvPr/>
        </p:nvSpPr>
        <p:spPr>
          <a:xfrm>
            <a:off x="7132320" y="4480560"/>
            <a:ext cx="4206240" cy="1170432"/>
          </a:xfrm>
          <a:prstGeom prst="rect">
            <a:avLst/>
          </a:prstGeom>
          <a:noFill/>
          <a:ln/>
        </p:spPr>
        <p:txBody>
          <a:bodyPr wrap="square" lIns="0" tIns="0" rIns="0" bIns="0" rtlCol="0" anchor="ctr"/>
          <a:lstStyle/>
          <a:p>
            <a:pPr marL="0" indent="0">
              <a:lnSpc>
                <a:spcPts val="1600"/>
              </a:lnSpc>
              <a:buNone/>
            </a:pPr>
            <a:r>
              <a:rPr lang="en-US" sz="1150" dirty="0">
                <a:solidFill>
                  <a:srgbClr val="AEBFB4"/>
                </a:solidFill>
                <a:latin typeface="Calibri" pitchFamily="34" charset="0"/>
                <a:ea typeface="Calibri" pitchFamily="34" charset="-122"/>
                <a:cs typeface="Calibri" pitchFamily="34" charset="-120"/>
              </a:rPr>
              <a:t>The model leads every baseline at every SLA level, reaching </a:t>
            </a:r>
            <a:r>
              <a:rPr lang="en-US" sz="1150" b="1" dirty="0">
                <a:solidFill>
                  <a:srgbClr val="FFFFFF"/>
                </a:solidFill>
                <a:latin typeface="Calibri" pitchFamily="34" charset="0"/>
                <a:ea typeface="Calibri" pitchFamily="34" charset="-122"/>
                <a:cs typeface="Calibri" pitchFamily="34" charset="-120"/>
              </a:rPr>
              <a:t>0.952 top-1 accuracy with zero SLA violations</a:t>
            </a:r>
            <a:r>
              <a:rPr lang="en-US" sz="1150" dirty="0">
                <a:solidFill>
                  <a:srgbClr val="AEBFB4"/>
                </a:solidFill>
                <a:latin typeface="Calibri" pitchFamily="34" charset="0"/>
                <a:ea typeface="Calibri" pitchFamily="34" charset="-122"/>
                <a:cs typeface="Calibri" pitchFamily="34" charset="-120"/>
              </a:rPr>
              <a:t> under a loose deadline. Against the strongest baseline it cuts the SLA violation rate by a third — </a:t>
            </a:r>
            <a:r>
              <a:rPr lang="en-US" sz="1150" b="1" dirty="0">
                <a:solidFill>
                  <a:srgbClr val="FFFFFF"/>
                </a:solidFill>
                <a:latin typeface="Calibri" pitchFamily="34" charset="0"/>
                <a:ea typeface="Calibri" pitchFamily="34" charset="-122"/>
                <a:cs typeface="Calibri" pitchFamily="34" charset="-120"/>
              </a:rPr>
              <a:t>0.095 against 0.143</a:t>
            </a:r>
            <a:r>
              <a:rPr lang="en-US" sz="1150" dirty="0">
                <a:solidFill>
                  <a:srgbClr val="AEBFB4"/>
                </a:solidFill>
                <a:latin typeface="Calibri" pitchFamily="34" charset="0"/>
                <a:ea typeface="Calibri" pitchFamily="34" charset="-122"/>
                <a:cs typeface="Calibri" pitchFamily="34" charset="-120"/>
              </a:rPr>
              <a:t>.</a:t>
            </a:r>
            <a:endParaRPr lang="en-US" sz="1150" dirty="0"/>
          </a:p>
        </p:txBody>
      </p:sp>
      <p:sp>
        <p:nvSpPr>
          <p:cNvPr id="30" name="Text 27"/>
          <p:cNvSpPr/>
          <p:nvPr/>
        </p:nvSpPr>
        <p:spPr>
          <a:xfrm>
            <a:off x="10984687" y="6382512"/>
            <a:ext cx="640080" cy="256032"/>
          </a:xfrm>
          <a:prstGeom prst="rect">
            <a:avLst/>
          </a:prstGeom>
          <a:noFill/>
          <a:ln/>
        </p:spPr>
        <p:txBody>
          <a:bodyPr wrap="square" lIns="0" tIns="0" rIns="0" bIns="0" rtlCol="0" anchor="ctr"/>
          <a:lstStyle/>
          <a:p>
            <a:pPr marL="0" indent="0" algn="r">
              <a:buNone/>
            </a:pPr>
            <a:r>
              <a:rPr lang="en-US" sz="1050" dirty="0">
                <a:solidFill>
                  <a:srgbClr val="96A29B"/>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61E"/>
        </a:solidFill>
        <a:effectLst/>
      </p:bgPr>
    </p:bg>
    <p:spTree>
      <p:nvGrpSpPr>
        <p:cNvPr id="1" name=""/>
        <p:cNvGrpSpPr/>
        <p:nvPr/>
      </p:nvGrpSpPr>
      <p:grpSpPr>
        <a:xfrm>
          <a:off x="0" y="0"/>
          <a:ext cx="0" cy="0"/>
          <a:chOff x="0" y="0"/>
          <a:chExt cx="0" cy="0"/>
        </a:xfrm>
      </p:grpSpPr>
      <p:sp>
        <p:nvSpPr>
          <p:cNvPr id="2" name="Text 0"/>
          <p:cNvSpPr/>
          <p:nvPr/>
        </p:nvSpPr>
        <p:spPr>
          <a:xfrm>
            <a:off x="566928" y="329184"/>
            <a:ext cx="10515600" cy="237744"/>
          </a:xfrm>
          <a:prstGeom prst="rect">
            <a:avLst/>
          </a:prstGeom>
          <a:noFill/>
          <a:ln/>
        </p:spPr>
        <p:txBody>
          <a:bodyPr wrap="square" lIns="0" tIns="0" rIns="0" bIns="0" rtlCol="0" anchor="ctr"/>
          <a:lstStyle/>
          <a:p>
            <a:pPr marL="0" indent="0">
              <a:buNone/>
            </a:pPr>
            <a:r>
              <a:rPr lang="en-US" sz="1150" b="1" kern="0" spc="160" dirty="0">
                <a:solidFill>
                  <a:srgbClr val="9DC48A"/>
                </a:solidFill>
                <a:latin typeface="Calibri" pitchFamily="34" charset="0"/>
                <a:ea typeface="Calibri" pitchFamily="34" charset="-122"/>
                <a:cs typeface="Calibri" pitchFamily="34" charset="-120"/>
              </a:rPr>
              <a:t>THE HEADLINE FINDING</a:t>
            </a:r>
            <a:endParaRPr lang="en-US" sz="1150" dirty="0"/>
          </a:p>
        </p:txBody>
      </p:sp>
      <p:sp>
        <p:nvSpPr>
          <p:cNvPr id="3" name="Text 1"/>
          <p:cNvSpPr/>
          <p:nvPr/>
        </p:nvSpPr>
        <p:spPr>
          <a:xfrm>
            <a:off x="566928" y="576072"/>
            <a:ext cx="11064240" cy="603504"/>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Ranking regions by grid intensity gives the wrong answer</a:t>
            </a:r>
            <a:endParaRPr lang="en-US" sz="3100" dirty="0"/>
          </a:p>
        </p:txBody>
      </p:sp>
      <p:pic>
        <p:nvPicPr>
          <p:cNvPr id="4" name="Image 0" descr="/sessions/modest-exciting-carson/mnt/outputs/build/img/carbon_reversal_dark.png"/>
          <p:cNvPicPr>
            <a:picLocks noChangeAspect="1"/>
          </p:cNvPicPr>
          <p:nvPr/>
        </p:nvPicPr>
        <p:blipFill>
          <a:blip r:embed="rId3"/>
          <a:stretch>
            <a:fillRect/>
          </a:stretch>
        </p:blipFill>
        <p:spPr>
          <a:xfrm>
            <a:off x="256032" y="1481328"/>
            <a:ext cx="6583680" cy="3721608"/>
          </a:xfrm>
          <a:prstGeom prst="rect">
            <a:avLst/>
          </a:prstGeom>
        </p:spPr>
      </p:pic>
      <p:sp>
        <p:nvSpPr>
          <p:cNvPr id="5" name="Text 2"/>
          <p:cNvSpPr/>
          <p:nvPr/>
        </p:nvSpPr>
        <p:spPr>
          <a:xfrm>
            <a:off x="658368" y="5321808"/>
            <a:ext cx="5943600" cy="512064"/>
          </a:xfrm>
          <a:prstGeom prst="rect">
            <a:avLst/>
          </a:prstGeom>
          <a:noFill/>
          <a:ln/>
        </p:spPr>
        <p:txBody>
          <a:bodyPr wrap="square" lIns="0" tIns="0" rIns="0" bIns="0" rtlCol="0" anchor="ctr"/>
          <a:lstStyle/>
          <a:p>
            <a:pPr marL="0" indent="0">
              <a:lnSpc>
                <a:spcPts val="1400"/>
              </a:lnSpc>
              <a:buNone/>
            </a:pPr>
            <a:r>
              <a:rPr lang="en-US" sz="1050" i="1" dirty="0">
                <a:solidFill>
                  <a:srgbClr val="9FB0A5"/>
                </a:solidFill>
                <a:latin typeface="Calibri" pitchFamily="34" charset="0"/>
                <a:ea typeface="Calibri" pitchFamily="34" charset="-122"/>
                <a:cs typeface="Calibri" pitchFamily="34" charset="-120"/>
              </a:rPr>
              <a:t>Mean per-run emissions, 1,811 executions. Grid intensity would select Singapore in 21 of 21 scenarios; per-run accounting selects Azure Central India.</a:t>
            </a:r>
            <a:endParaRPr lang="en-US" sz="1050" dirty="0"/>
          </a:p>
        </p:txBody>
      </p:sp>
      <p:sp>
        <p:nvSpPr>
          <p:cNvPr id="6" name="Shape 3"/>
          <p:cNvSpPr/>
          <p:nvPr/>
        </p:nvSpPr>
        <p:spPr>
          <a:xfrm>
            <a:off x="6967728" y="1517904"/>
            <a:ext cx="4654296" cy="1371600"/>
          </a:xfrm>
          <a:prstGeom prst="roundRect">
            <a:avLst>
              <a:gd name="adj" fmla="val 6000"/>
            </a:avLst>
          </a:prstGeom>
          <a:solidFill>
            <a:srgbClr val="24382D"/>
          </a:solidFill>
          <a:ln w="12700">
            <a:solidFill>
              <a:srgbClr val="3A5647"/>
            </a:solidFill>
            <a:prstDash val="solid"/>
          </a:ln>
        </p:spPr>
        <p:txBody>
          <a:bodyPr/>
          <a:lstStyle/>
          <a:p>
            <a:endParaRPr lang="en-LK"/>
          </a:p>
        </p:txBody>
      </p:sp>
      <p:sp>
        <p:nvSpPr>
          <p:cNvPr id="7" name="Shape 4"/>
          <p:cNvSpPr/>
          <p:nvPr/>
        </p:nvSpPr>
        <p:spPr>
          <a:xfrm>
            <a:off x="7223760" y="1719072"/>
            <a:ext cx="137160" cy="137160"/>
          </a:xfrm>
          <a:prstGeom prst="ellipse">
            <a:avLst/>
          </a:prstGeom>
          <a:solidFill>
            <a:srgbClr val="9DC48A"/>
          </a:solidFill>
          <a:ln w="12700">
            <a:solidFill>
              <a:srgbClr val="9DC48A"/>
            </a:solidFill>
            <a:prstDash val="solid"/>
          </a:ln>
        </p:spPr>
        <p:txBody>
          <a:bodyPr/>
          <a:lstStyle/>
          <a:p>
            <a:endParaRPr lang="en-LK"/>
          </a:p>
        </p:txBody>
      </p:sp>
      <p:sp>
        <p:nvSpPr>
          <p:cNvPr id="8" name="Text 5"/>
          <p:cNvSpPr/>
          <p:nvPr/>
        </p:nvSpPr>
        <p:spPr>
          <a:xfrm>
            <a:off x="7452360" y="1673352"/>
            <a:ext cx="3931920" cy="237744"/>
          </a:xfrm>
          <a:prstGeom prst="rect">
            <a:avLst/>
          </a:prstGeom>
          <a:noFill/>
          <a:ln/>
        </p:spPr>
        <p:txBody>
          <a:bodyPr wrap="square" lIns="0" tIns="0" rIns="0" bIns="0" rtlCol="0" anchor="ctr"/>
          <a:lstStyle/>
          <a:p>
            <a:pPr marL="0" indent="0">
              <a:buNone/>
            </a:pPr>
            <a:r>
              <a:rPr lang="en-US" sz="1050" b="1" kern="0" spc="110" dirty="0">
                <a:solidFill>
                  <a:srgbClr val="9DC48A"/>
                </a:solidFill>
                <a:latin typeface="Calibri" pitchFamily="34" charset="0"/>
                <a:ea typeface="Calibri" pitchFamily="34" charset="-122"/>
                <a:cs typeface="Calibri" pitchFamily="34" charset="-120"/>
              </a:rPr>
              <a:t>WHAT IT SHOWS</a:t>
            </a:r>
            <a:endParaRPr lang="en-US" sz="1050" dirty="0"/>
          </a:p>
        </p:txBody>
      </p:sp>
      <p:sp>
        <p:nvSpPr>
          <p:cNvPr id="9" name="Text 6"/>
          <p:cNvSpPr/>
          <p:nvPr/>
        </p:nvSpPr>
        <p:spPr>
          <a:xfrm>
            <a:off x="7223760" y="1938528"/>
            <a:ext cx="4160520" cy="877824"/>
          </a:xfrm>
          <a:prstGeom prst="rect">
            <a:avLst/>
          </a:prstGeom>
          <a:noFill/>
          <a:ln/>
        </p:spPr>
        <p:txBody>
          <a:bodyPr wrap="square" lIns="0" tIns="0" rIns="0" bIns="0" rtlCol="0" anchor="ctr"/>
          <a:lstStyle/>
          <a:p>
            <a:pPr marL="0" indent="0">
              <a:lnSpc>
                <a:spcPts val="1300"/>
              </a:lnSpc>
              <a:buNone/>
            </a:pPr>
            <a:r>
              <a:rPr lang="en-US" sz="1020" dirty="0">
                <a:solidFill>
                  <a:srgbClr val="AEBFB4"/>
                </a:solidFill>
                <a:latin typeface="Calibri" pitchFamily="34" charset="0"/>
                <a:ea typeface="Calibri" pitchFamily="34" charset="-122"/>
                <a:cs typeface="Calibri" pitchFamily="34" charset="-120"/>
              </a:rPr>
              <a:t>Ranking regions by grid carbon intensity would select Singapore in all 21 scenarios. Computing emissions per run — power × nodes × runtime × intensity × PUE — selects Azure Central India, at 0.346 against 0.448 gCO₂eq. Grid intensity is not a safe proxy for what a deployment actually emits.</a:t>
            </a:r>
            <a:endParaRPr lang="en-US" sz="1020" dirty="0"/>
          </a:p>
        </p:txBody>
      </p:sp>
      <p:sp>
        <p:nvSpPr>
          <p:cNvPr id="10" name="Shape 7"/>
          <p:cNvSpPr/>
          <p:nvPr/>
        </p:nvSpPr>
        <p:spPr>
          <a:xfrm>
            <a:off x="6967728" y="3035808"/>
            <a:ext cx="4654296" cy="1371600"/>
          </a:xfrm>
          <a:prstGeom prst="roundRect">
            <a:avLst>
              <a:gd name="adj" fmla="val 6000"/>
            </a:avLst>
          </a:prstGeom>
          <a:solidFill>
            <a:srgbClr val="24382D"/>
          </a:solidFill>
          <a:ln w="12700">
            <a:solidFill>
              <a:srgbClr val="3A5647"/>
            </a:solidFill>
            <a:prstDash val="solid"/>
          </a:ln>
        </p:spPr>
        <p:txBody>
          <a:bodyPr/>
          <a:lstStyle/>
          <a:p>
            <a:endParaRPr lang="en-LK"/>
          </a:p>
        </p:txBody>
      </p:sp>
      <p:sp>
        <p:nvSpPr>
          <p:cNvPr id="11" name="Shape 8"/>
          <p:cNvSpPr/>
          <p:nvPr/>
        </p:nvSpPr>
        <p:spPr>
          <a:xfrm>
            <a:off x="7223760" y="3236976"/>
            <a:ext cx="137160" cy="137160"/>
          </a:xfrm>
          <a:prstGeom prst="ellipse">
            <a:avLst/>
          </a:prstGeom>
          <a:solidFill>
            <a:srgbClr val="9DC48A"/>
          </a:solidFill>
          <a:ln w="12700">
            <a:solidFill>
              <a:srgbClr val="9DC48A"/>
            </a:solidFill>
            <a:prstDash val="solid"/>
          </a:ln>
        </p:spPr>
        <p:txBody>
          <a:bodyPr/>
          <a:lstStyle/>
          <a:p>
            <a:endParaRPr lang="en-LK"/>
          </a:p>
        </p:txBody>
      </p:sp>
      <p:sp>
        <p:nvSpPr>
          <p:cNvPr id="12" name="Text 9"/>
          <p:cNvSpPr/>
          <p:nvPr/>
        </p:nvSpPr>
        <p:spPr>
          <a:xfrm>
            <a:off x="7452360" y="3191256"/>
            <a:ext cx="3931920" cy="237744"/>
          </a:xfrm>
          <a:prstGeom prst="rect">
            <a:avLst/>
          </a:prstGeom>
          <a:noFill/>
          <a:ln/>
        </p:spPr>
        <p:txBody>
          <a:bodyPr wrap="square" lIns="0" tIns="0" rIns="0" bIns="0" rtlCol="0" anchor="ctr"/>
          <a:lstStyle/>
          <a:p>
            <a:pPr marL="0" indent="0">
              <a:buNone/>
            </a:pPr>
            <a:r>
              <a:rPr lang="en-US" sz="1050" b="1" kern="0" spc="110" dirty="0">
                <a:solidFill>
                  <a:srgbClr val="9DC48A"/>
                </a:solidFill>
                <a:latin typeface="Calibri" pitchFamily="34" charset="0"/>
                <a:ea typeface="Calibri" pitchFamily="34" charset="-122"/>
                <a:cs typeface="Calibri" pitchFamily="34" charset="-120"/>
              </a:rPr>
              <a:t>WHY IT MATTERS</a:t>
            </a:r>
            <a:endParaRPr lang="en-US" sz="1050" dirty="0"/>
          </a:p>
        </p:txBody>
      </p:sp>
      <p:sp>
        <p:nvSpPr>
          <p:cNvPr id="13" name="Text 10"/>
          <p:cNvSpPr/>
          <p:nvPr/>
        </p:nvSpPr>
        <p:spPr>
          <a:xfrm>
            <a:off x="7223760" y="3456432"/>
            <a:ext cx="4160520" cy="877824"/>
          </a:xfrm>
          <a:prstGeom prst="rect">
            <a:avLst/>
          </a:prstGeom>
          <a:noFill/>
          <a:ln/>
        </p:spPr>
        <p:txBody>
          <a:bodyPr wrap="square" lIns="0" tIns="0" rIns="0" bIns="0" rtlCol="0" anchor="ctr"/>
          <a:lstStyle/>
          <a:p>
            <a:pPr marL="0" indent="0">
              <a:lnSpc>
                <a:spcPts val="1300"/>
              </a:lnSpc>
              <a:buNone/>
            </a:pPr>
            <a:r>
              <a:rPr lang="en-US" sz="1020" dirty="0">
                <a:solidFill>
                  <a:srgbClr val="AEBFB4"/>
                </a:solidFill>
                <a:latin typeface="Calibri" pitchFamily="34" charset="0"/>
                <a:ea typeface="Calibri" pitchFamily="34" charset="-122"/>
                <a:cs typeface="Calibri" pitchFamily="34" charset="-120"/>
              </a:rPr>
              <a:t>Emissions can only be computed from a predicted runtime, so the carbon question and the performance question have to be answered together — which is precisely the case for one integrated framework. And on this corpus the cheapest configuration was also the greenest in 21 of 21 scenarios: optimising for cost did not cost sustainability.</a:t>
            </a:r>
            <a:endParaRPr lang="en-US" sz="1020" dirty="0"/>
          </a:p>
        </p:txBody>
      </p:sp>
      <p:sp>
        <p:nvSpPr>
          <p:cNvPr id="14" name="Shape 11"/>
          <p:cNvSpPr/>
          <p:nvPr/>
        </p:nvSpPr>
        <p:spPr>
          <a:xfrm>
            <a:off x="6967728" y="4553712"/>
            <a:ext cx="4654296" cy="1371600"/>
          </a:xfrm>
          <a:prstGeom prst="roundRect">
            <a:avLst>
              <a:gd name="adj" fmla="val 6000"/>
            </a:avLst>
          </a:prstGeom>
          <a:solidFill>
            <a:srgbClr val="24382D"/>
          </a:solidFill>
          <a:ln w="12700">
            <a:solidFill>
              <a:srgbClr val="3A5647"/>
            </a:solidFill>
            <a:prstDash val="solid"/>
          </a:ln>
        </p:spPr>
        <p:txBody>
          <a:bodyPr/>
          <a:lstStyle/>
          <a:p>
            <a:endParaRPr lang="en-LK"/>
          </a:p>
        </p:txBody>
      </p:sp>
      <p:sp>
        <p:nvSpPr>
          <p:cNvPr id="15" name="Shape 12"/>
          <p:cNvSpPr/>
          <p:nvPr/>
        </p:nvSpPr>
        <p:spPr>
          <a:xfrm>
            <a:off x="7223760" y="4754880"/>
            <a:ext cx="137160" cy="137160"/>
          </a:xfrm>
          <a:prstGeom prst="ellipse">
            <a:avLst/>
          </a:prstGeom>
          <a:solidFill>
            <a:srgbClr val="9DC48A"/>
          </a:solidFill>
          <a:ln w="12700">
            <a:solidFill>
              <a:srgbClr val="9DC48A"/>
            </a:solidFill>
            <a:prstDash val="solid"/>
          </a:ln>
        </p:spPr>
        <p:txBody>
          <a:bodyPr/>
          <a:lstStyle/>
          <a:p>
            <a:endParaRPr lang="en-LK"/>
          </a:p>
        </p:txBody>
      </p:sp>
      <p:sp>
        <p:nvSpPr>
          <p:cNvPr id="16" name="Text 13"/>
          <p:cNvSpPr/>
          <p:nvPr/>
        </p:nvSpPr>
        <p:spPr>
          <a:xfrm>
            <a:off x="7452360" y="4709160"/>
            <a:ext cx="3931920" cy="237744"/>
          </a:xfrm>
          <a:prstGeom prst="rect">
            <a:avLst/>
          </a:prstGeom>
          <a:noFill/>
          <a:ln/>
        </p:spPr>
        <p:txBody>
          <a:bodyPr wrap="square" lIns="0" tIns="0" rIns="0" bIns="0" rtlCol="0" anchor="ctr"/>
          <a:lstStyle/>
          <a:p>
            <a:pPr marL="0" indent="0">
              <a:buNone/>
            </a:pPr>
            <a:r>
              <a:rPr lang="en-US" sz="1050" b="1" kern="0" spc="110" dirty="0">
                <a:solidFill>
                  <a:srgbClr val="9DC48A"/>
                </a:solidFill>
                <a:latin typeface="Calibri" pitchFamily="34" charset="0"/>
                <a:ea typeface="Calibri" pitchFamily="34" charset="-122"/>
                <a:cs typeface="Calibri" pitchFamily="34" charset="-120"/>
              </a:rPr>
              <a:t>WHAT COMES NEXT</a:t>
            </a:r>
            <a:endParaRPr lang="en-US" sz="1050" dirty="0"/>
          </a:p>
        </p:txBody>
      </p:sp>
      <p:sp>
        <p:nvSpPr>
          <p:cNvPr id="17" name="Text 14"/>
          <p:cNvSpPr/>
          <p:nvPr/>
        </p:nvSpPr>
        <p:spPr>
          <a:xfrm>
            <a:off x="7223760" y="4974336"/>
            <a:ext cx="4160520" cy="877824"/>
          </a:xfrm>
          <a:prstGeom prst="rect">
            <a:avLst/>
          </a:prstGeom>
          <a:noFill/>
          <a:ln/>
        </p:spPr>
        <p:txBody>
          <a:bodyPr wrap="square" lIns="0" tIns="0" rIns="0" bIns="0" rtlCol="0" anchor="ctr"/>
          <a:lstStyle/>
          <a:p>
            <a:pPr marL="0" indent="0">
              <a:lnSpc>
                <a:spcPts val="1300"/>
              </a:lnSpc>
              <a:buNone/>
            </a:pPr>
            <a:r>
              <a:rPr lang="en-US" sz="1020" dirty="0">
                <a:solidFill>
                  <a:srgbClr val="AEBFB4"/>
                </a:solidFill>
                <a:latin typeface="Calibri" pitchFamily="34" charset="0"/>
                <a:ea typeface="Calibri" pitchFamily="34" charset="-122"/>
                <a:cs typeface="Calibri" pitchFamily="34" charset="-120"/>
              </a:rPr>
              <a:t>Workload fingerprinting from Spark event-log metrics, so the system characterises a job automatically instead of asking the user to classify it. Then uncertainty-aware SLA filtering — quantile or conformal prediction intervals — which opens the door to spot pricing under a hard deadline.</a:t>
            </a:r>
            <a:endParaRPr lang="en-US" sz="1020" dirty="0"/>
          </a:p>
        </p:txBody>
      </p:sp>
      <p:sp>
        <p:nvSpPr>
          <p:cNvPr id="19" name="Text 16"/>
          <p:cNvSpPr/>
          <p:nvPr/>
        </p:nvSpPr>
        <p:spPr>
          <a:xfrm>
            <a:off x="10984687" y="6382512"/>
            <a:ext cx="640080" cy="256032"/>
          </a:xfrm>
          <a:prstGeom prst="rect">
            <a:avLst/>
          </a:prstGeom>
          <a:noFill/>
          <a:ln/>
        </p:spPr>
        <p:txBody>
          <a:bodyPr wrap="square" lIns="0" tIns="0" rIns="0" bIns="0" rtlCol="0" anchor="ctr"/>
          <a:lstStyle/>
          <a:p>
            <a:pPr marL="0" indent="0" algn="r">
              <a:buNone/>
            </a:pPr>
            <a:r>
              <a:rPr lang="en-US" sz="1050" dirty="0">
                <a:solidFill>
                  <a:srgbClr val="96A29B"/>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1690</TotalTime>
  <Words>5324</Words>
  <Application>Microsoft Macintosh PowerPoint</Application>
  <PresentationFormat>Widescreen</PresentationFormat>
  <Paragraphs>456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Cost-Aware and Carbon-Aware Infrastructure Optimization</dc:title>
  <dc:subject>PptxGenJS Presentation</dc:subject>
  <dc:creator>Manoj Karthik Anbalagan</dc:creator>
  <cp:lastModifiedBy>Manoj 20241821</cp:lastModifiedBy>
  <cp:revision>15</cp:revision>
  <dcterms:created xsi:type="dcterms:W3CDTF">2026-08-12T15:55:56Z</dcterms:created>
  <dcterms:modified xsi:type="dcterms:W3CDTF">2026-08-13T20:30:38Z</dcterms:modified>
</cp:coreProperties>
</file>